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2.xml" ContentType="application/vnd.openxmlformats-officedocument.them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1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3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4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5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6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7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8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9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10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11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2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13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14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5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6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7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327" r:id="rId3"/>
    <p:sldId id="323" r:id="rId4"/>
    <p:sldId id="316" r:id="rId5"/>
    <p:sldId id="304" r:id="rId6"/>
    <p:sldId id="328" r:id="rId7"/>
    <p:sldId id="329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20" r:id="rId18"/>
    <p:sldId id="288" r:id="rId19"/>
  </p:sldIdLst>
  <p:sldSz cx="9144000" cy="6858000" type="screen4x3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1" autoAdjust="0"/>
    <p:restoredTop sz="97081" autoAdjust="0"/>
  </p:normalViewPr>
  <p:slideViewPr>
    <p:cSldViewPr>
      <p:cViewPr>
        <p:scale>
          <a:sx n="100" d="100"/>
          <a:sy n="100" d="100"/>
        </p:scale>
        <p:origin x="-312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38D7027-012C-49A3-AFEE-52BCD7AD8858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6CC6DB3-BB65-4FE7-8FFA-818A175E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k-UA" smtClean="0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856545C-9863-4EB8-B6FD-6705300F9F17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uk-U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CCFB233-7DBA-4238-A48F-35B61910D9D3}" type="slidenum">
              <a:rPr lang="uk-UA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uk-UA">
              <a:cs typeface="Arial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5663" y="744538"/>
            <a:ext cx="4960937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k-U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2.jpeg"/><Relationship Id="rId4" Type="http://schemas.openxmlformats.org/officeDocument/2006/relationships/tags" Target="../tags/tag12.xml"/><Relationship Id="rId9" Type="http://schemas.openxmlformats.org/officeDocument/2006/relationships/image" Target="../media/image1.gi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10" Type="http://schemas.openxmlformats.org/officeDocument/2006/relationships/image" Target="../media/image3.jpeg"/><Relationship Id="rId4" Type="http://schemas.openxmlformats.org/officeDocument/2006/relationships/tags" Target="../tags/tag19.xml"/><Relationship Id="rId9" Type="http://schemas.openxmlformats.org/officeDocument/2006/relationships/image" Target="../media/image1.gi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10" Type="http://schemas.openxmlformats.org/officeDocument/2006/relationships/image" Target="../media/image4.jpeg"/><Relationship Id="rId4" Type="http://schemas.openxmlformats.org/officeDocument/2006/relationships/tags" Target="../tags/tag26.xml"/><Relationship Id="rId9" Type="http://schemas.openxmlformats.org/officeDocument/2006/relationships/image" Target="../media/image1.gi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5.jpeg"/><Relationship Id="rId4" Type="http://schemas.openxmlformats.org/officeDocument/2006/relationships/tags" Target="../tags/tag33.xml"/><Relationship Id="rId9" Type="http://schemas.openxmlformats.org/officeDocument/2006/relationships/image" Target="../media/image1.gi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10" Type="http://schemas.openxmlformats.org/officeDocument/2006/relationships/image" Target="../media/image6.jpeg"/><Relationship Id="rId4" Type="http://schemas.openxmlformats.org/officeDocument/2006/relationships/tags" Target="../tags/tag40.xml"/><Relationship Id="rId9" Type="http://schemas.openxmlformats.org/officeDocument/2006/relationships/image" Target="../media/image1.gi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10" Type="http://schemas.openxmlformats.org/officeDocument/2006/relationships/image" Target="../media/image7.jpeg"/><Relationship Id="rId4" Type="http://schemas.openxmlformats.org/officeDocument/2006/relationships/tags" Target="../tags/tag47.xml"/><Relationship Id="rId9" Type="http://schemas.openxmlformats.org/officeDocument/2006/relationships/image" Target="../media/image1.gi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8.jpeg"/><Relationship Id="rId4" Type="http://schemas.openxmlformats.org/officeDocument/2006/relationships/tags" Target="../tags/tag54.xml"/><Relationship Id="rId9" Type="http://schemas.openxmlformats.org/officeDocument/2006/relationships/image" Target="../media/image1.gi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10" Type="http://schemas.openxmlformats.org/officeDocument/2006/relationships/image" Target="../media/image9.jpeg"/><Relationship Id="rId4" Type="http://schemas.openxmlformats.org/officeDocument/2006/relationships/tags" Target="../tags/tag61.xml"/><Relationship Id="rId9" Type="http://schemas.openxmlformats.org/officeDocument/2006/relationships/image" Target="../media/image1.gi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0.gif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10.gif"/><Relationship Id="rId4" Type="http://schemas.openxmlformats.org/officeDocument/2006/relationships/tags" Target="../tags/tag72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10.gif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GettyImages_98064892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3684588"/>
            <a:ext cx="2058988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B27662A3-0522-42D7-9025-4C7DC37FFAD3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BEC6A679-44A9-4F8F-8547-701333848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9" descr="GettyImages_95469335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3695700"/>
            <a:ext cx="2036763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E45E4507-AE78-4CC5-9D3C-165EDB6BE861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6938D5D6-8A55-438F-ACAD-DE4DC6328C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4" descr="GettyImages_97541937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3694113"/>
            <a:ext cx="198120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3B017906-4C60-4156-8C1B-59B397202608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7B1E3A35-C511-4E08-B50D-D1931A5686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 descr="UP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/>
          <a:srcRect l="1221" t="2138" r="1300" b="1973"/>
          <a:stretch>
            <a:fillRect/>
          </a:stretch>
        </p:blipFill>
        <p:spPr bwMode="auto">
          <a:xfrm>
            <a:off x="0" y="3695700"/>
            <a:ext cx="2133600" cy="119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50FEB1E6-34C7-4104-9358-E57D65A76020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48DC0087-CE82-4E92-963C-346F05BB88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Documents and Settings\rmash\Desktop\GettyImages_stk80021cor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3694113"/>
            <a:ext cx="1981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080253B2-BA53-4278-B66E-38B59EA7C7C9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BF3923E8-CD0E-49EE-9C71-9225316208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Documents and Settings\rmash\Desktop\GettyImages_80281950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3694113"/>
            <a:ext cx="2133600" cy="142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4280F170-C357-4CF4-9458-0070C939ED23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B577B736-A29C-46BB-9860-140EF30B3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Documents and Settings\rmash\Desktop\GettyImages_102756315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-1588" y="3694113"/>
            <a:ext cx="2160588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3CCDA362-74AD-49AA-A192-7C5AE2CD1FE9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DDE25768-074B-42F3-A48C-4D53BDE9D1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pic>
        <p:nvPicPr>
          <p:cNvPr id="5" name="Picture 16" descr="softserve-logo-white-for-blue.gif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685800" y="838200"/>
            <a:ext cx="326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Documents and Settings\rmash\Desktop\GettyImages_96502260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0" y="3700463"/>
            <a:ext cx="2133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9"/>
          <p:cNvGrpSpPr>
            <a:grpSpLocks/>
          </p:cNvGrpSpPr>
          <p:nvPr userDrawn="1">
            <p:custDataLst>
              <p:tags r:id="rId4"/>
            </p:custDataLst>
          </p:nvPr>
        </p:nvGrpSpPr>
        <p:grpSpPr bwMode="auto"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8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12"/>
            <p:cNvSpPr/>
            <p:nvPr/>
          </p:nvSpPr>
          <p:spPr>
            <a:xfrm rot="5400000">
              <a:off x="4381500" y="-876300"/>
              <a:ext cx="381000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99CDAAE6-D061-45CA-8C76-BCC41FB2032F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EC33DA5F-896A-4F86-B44D-9979C43136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oftserve logo.gif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7315200" y="6324600"/>
            <a:ext cx="1428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54BD3-1060-44A2-93A5-EFF3EF1159EA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23EB8-68D1-40A0-9C02-2882642F7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 userDrawn="1">
            <p:custDataLst>
              <p:tags r:id="rId1"/>
            </p:custDataLst>
          </p:nvPr>
        </p:nvSpPr>
        <p:spPr>
          <a:xfrm>
            <a:off x="0" y="0"/>
            <a:ext cx="9144000" cy="3694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5" name="Rectangle 9"/>
          <p:cNvSpPr/>
          <p:nvPr userDrawn="1">
            <p:custDataLst>
              <p:tags r:id="rId2"/>
            </p:custDataLst>
          </p:nvPr>
        </p:nvSpPr>
        <p:spPr>
          <a:xfrm>
            <a:off x="0" y="228600"/>
            <a:ext cx="152400" cy="632460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 userDrawn="1">
            <p:custDataLst>
              <p:tags r:id="rId3"/>
            </p:custDataLst>
          </p:nvPr>
        </p:nvSpPr>
        <p:spPr>
          <a:xfrm>
            <a:off x="76200" y="152400"/>
            <a:ext cx="533400" cy="65532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2"/>
          <p:cNvSpPr/>
          <p:nvPr userDrawn="1">
            <p:custDataLst>
              <p:tags r:id="rId4"/>
            </p:custDataLst>
          </p:nvPr>
        </p:nvSpPr>
        <p:spPr>
          <a:xfrm rot="5400000">
            <a:off x="4381500" y="-876300"/>
            <a:ext cx="381000" cy="91440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3" descr="softserve logo.gif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7315200" y="6324600"/>
            <a:ext cx="1428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962400"/>
            <a:ext cx="7772400" cy="4445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smtClean="0">
                <a:latin typeface="Verdana" pitchFamily="34" charset="0"/>
              </a:defRPr>
            </a:lvl1pPr>
          </a:lstStyle>
          <a:p>
            <a:pPr>
              <a:defRPr/>
            </a:pPr>
            <a:fld id="{77566567-C4E3-4376-A027-B13AEFEC2371}" type="datetimeFigureOut">
              <a:rPr lang="en-US"/>
              <a:pPr>
                <a:defRPr/>
              </a:pPr>
              <a:t>8/29/2011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dirty="0">
                <a:latin typeface="Verdan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6BBE4-03C7-4A5B-ADA1-0F2476A6D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softserve logo.gif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7315200" y="6324600"/>
            <a:ext cx="1428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31160-38A0-4BE1-A19C-C84361AEC32F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F8CF5-A6D1-4F9C-9234-C32CDE81F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3F54F-1C78-43FB-9755-5956B139A86B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E769F-BAAD-4B70-A14D-BD8247D821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EA22F-19C4-49A1-9005-1080921CF863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AB244-B1BA-449B-AD53-E08692BFA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C030A-C0D6-4197-8446-C0F31D49B2B2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D6984-2DBF-44BE-9119-3D6480CFF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51D30-31D7-4E7E-82B8-08F8D584581F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25DF7-B495-4EA9-A3A7-8A8382778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45145-38F8-4046-8DC8-64165A572188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3E5E3-590B-436C-BD16-487CCAFBC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24172-84F8-48B2-96CD-C6299932EC2F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BEE36-7621-48FD-A032-C3D6AC715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26" Type="http://schemas.openxmlformats.org/officeDocument/2006/relationships/tags" Target="../tags/tag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375700-B366-49E8-AD63-23CDFC7238E1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202A9E-63BB-4738-9F64-565E11B3BB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 userDrawn="1">
            <p:custDataLst>
              <p:tags r:id="rId25"/>
            </p:custDataLst>
          </p:nvPr>
        </p:nvSpPr>
        <p:spPr>
          <a:xfrm rot="16200000">
            <a:off x="-2781300" y="3771900"/>
            <a:ext cx="5867400" cy="304800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>
            <p:custDataLst>
              <p:tags r:id="rId26"/>
            </p:custDataLst>
          </p:nvPr>
        </p:nvSpPr>
        <p:spPr>
          <a:xfrm>
            <a:off x="152400" y="1600200"/>
            <a:ext cx="228600" cy="4953000"/>
          </a:xfrm>
          <a:prstGeom prst="rect">
            <a:avLst/>
          </a:prstGeom>
          <a:solidFill>
            <a:schemeClr val="accent1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65" r:id="rId12"/>
    <p:sldLayoutId id="2147483664" r:id="rId13"/>
    <p:sldLayoutId id="2147483663" r:id="rId14"/>
    <p:sldLayoutId id="2147483662" r:id="rId15"/>
    <p:sldLayoutId id="2147483661" r:id="rId16"/>
    <p:sldLayoutId id="2147483660" r:id="rId17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1.gif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2.jp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1.gif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3.org/TR/1999/REC-html401-19991224/index/attributes.html" TargetMode="External"/><Relationship Id="rId3" Type="http://schemas.openxmlformats.org/officeDocument/2006/relationships/tags" Target="../tags/tag141.xml"/><Relationship Id="rId7" Type="http://schemas.openxmlformats.org/officeDocument/2006/relationships/hyperlink" Target="http://www.w3.org/TR/#tr_HTTP" TargetMode="Externa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hyperlink" Target="http://www.w3.org/" TargetMode="External"/><Relationship Id="rId11" Type="http://schemas.openxmlformats.org/officeDocument/2006/relationships/hyperlink" Target="http://www.w3schools.com/" TargetMode="External"/><Relationship Id="rId5" Type="http://schemas.openxmlformats.org/officeDocument/2006/relationships/notesSlide" Target="../notesSlides/notesSlide15.xml"/><Relationship Id="rId10" Type="http://schemas.openxmlformats.org/officeDocument/2006/relationships/hyperlink" Target="http://www.academictutorials.com/" TargetMode="External"/><Relationship Id="rId4" Type="http://schemas.openxmlformats.org/officeDocument/2006/relationships/slideLayout" Target="../slideLayouts/slideLayout9.xml"/><Relationship Id="rId9" Type="http://schemas.openxmlformats.org/officeDocument/2006/relationships/hyperlink" Target="http://www.w3.org/TR/#tr_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7" Type="http://schemas.openxmlformats.org/officeDocument/2006/relationships/image" Target="../media/image13.png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hyperlink" Target="http://www.google.com.ua/search?hl=uk&amp;q=w3c&amp;oq=w3c" TargetMode="Externa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14.jpe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150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9" Type="http://schemas.openxmlformats.org/officeDocument/2006/relationships/hyperlink" Target="mailto:iporod@softserveinc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209800" y="3962400"/>
            <a:ext cx="6477000" cy="838200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2800" dirty="0"/>
              <a:t>HTML. W3C. HTTP.</a:t>
            </a:r>
            <a:endParaRPr lang="en-US" sz="3100" dirty="0" smtClean="0">
              <a:solidFill>
                <a:srgbClr val="40404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 smtClean="0"/>
              <a:t>Agenda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95288" y="1989138"/>
            <a:ext cx="8229600" cy="4032150"/>
          </a:xfrm>
        </p:spPr>
        <p:txBody>
          <a:bodyPr numCol="2">
            <a:normAutofit fontScale="92500" lnSpcReduction="20000"/>
          </a:bodyPr>
          <a:lstStyle/>
          <a:p>
            <a:r>
              <a:rPr lang="en-US" dirty="0" smtClean="0">
                <a:solidFill>
                  <a:srgbClr val="404040"/>
                </a:solidFill>
              </a:rPr>
              <a:t>W3C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About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Mission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Standards</a:t>
            </a:r>
          </a:p>
          <a:p>
            <a:r>
              <a:rPr lang="en-US" dirty="0" smtClean="0">
                <a:solidFill>
                  <a:srgbClr val="404040"/>
                </a:solidFill>
              </a:rPr>
              <a:t>HTTP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About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GET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POST</a:t>
            </a:r>
          </a:p>
          <a:p>
            <a:pPr lvl="1"/>
            <a:endParaRPr lang="en-US" dirty="0">
              <a:solidFill>
                <a:srgbClr val="404040"/>
              </a:solidFill>
            </a:endParaRPr>
          </a:p>
          <a:p>
            <a:pPr lvl="1"/>
            <a:endParaRPr lang="en-US" dirty="0" smtClean="0">
              <a:solidFill>
                <a:srgbClr val="404040"/>
              </a:solidFill>
            </a:endParaRPr>
          </a:p>
          <a:p>
            <a:pPr lvl="1"/>
            <a:endParaRPr lang="en-US" dirty="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dirty="0" smtClean="0">
              <a:solidFill>
                <a:srgbClr val="404040"/>
              </a:solidFill>
            </a:endParaRPr>
          </a:p>
          <a:p>
            <a:r>
              <a:rPr lang="en-US" dirty="0" smtClean="0">
                <a:solidFill>
                  <a:srgbClr val="404040"/>
                </a:solidFill>
              </a:rPr>
              <a:t>HTML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About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Example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Element attributes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Character references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Elements</a:t>
            </a:r>
          </a:p>
          <a:p>
            <a:pPr lvl="1"/>
            <a:r>
              <a:rPr lang="en-US" dirty="0" smtClean="0">
                <a:solidFill>
                  <a:srgbClr val="404040"/>
                </a:solidFill>
              </a:rPr>
              <a:t>Common errors</a:t>
            </a:r>
          </a:p>
          <a:p>
            <a:pPr marL="342900" lvl="1" indent="-3429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404040"/>
                </a:solidFill>
              </a:rPr>
              <a:t>Useful links</a:t>
            </a:r>
          </a:p>
          <a:p>
            <a:pPr marL="342900" lvl="1" indent="-3429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404040"/>
                </a:solidFill>
              </a:rPr>
              <a:t>Practical task</a:t>
            </a:r>
          </a:p>
          <a:p>
            <a:pPr lvl="1"/>
            <a:endParaRPr lang="en-US" dirty="0" smtClean="0">
              <a:solidFill>
                <a:srgbClr val="404040"/>
              </a:solidFill>
            </a:endParaRPr>
          </a:p>
          <a:p>
            <a:pPr lvl="1"/>
            <a:endParaRPr lang="en-US" dirty="0" smtClean="0">
              <a:solidFill>
                <a:srgbClr val="404040"/>
              </a:solidFill>
            </a:endParaRPr>
          </a:p>
          <a:p>
            <a:pPr lvl="1"/>
            <a:endParaRPr lang="en-US" dirty="0" smtClean="0">
              <a:solidFill>
                <a:srgbClr val="404040"/>
              </a:solidFill>
            </a:endParaRPr>
          </a:p>
          <a:p>
            <a:pPr lvl="1"/>
            <a:endParaRPr lang="en-US" dirty="0" smtClean="0">
              <a:solidFill>
                <a:srgbClr val="40404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FFFFFF"/>
                </a:solidFill>
                <a:latin typeface="Calibri" pitchFamily="34" charset="0"/>
              </a:rPr>
              <a:t>W3C - About</a:t>
            </a:r>
          </a:p>
        </p:txBody>
      </p:sp>
      <p:sp>
        <p:nvSpPr>
          <p:cNvPr id="27650" name="Text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49300" y="1447800"/>
            <a:ext cx="7620000" cy="3924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742950" lvl="1" indent="-285750"/>
            <a:r>
              <a:rPr lang="en-US" dirty="0" smtClean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  <a:p>
            <a:pPr>
              <a:lnSpc>
                <a:spcPct val="25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World Wide Web Consortium (W3C) is an international community that develops open </a:t>
            </a:r>
            <a:r>
              <a:rPr lang="en-US" dirty="0"/>
              <a:t>standards</a:t>
            </a:r>
            <a:r>
              <a:rPr lang="en-US" sz="2000" dirty="0"/>
              <a:t> to ensure the long-term growth of the Web. Read about the W3C mission.</a:t>
            </a:r>
            <a:endParaRPr lang="en-US" sz="2000" dirty="0">
              <a:latin typeface="Calibri" pitchFamily="34" charset="0"/>
            </a:endParaRPr>
          </a:p>
          <a:p>
            <a:pPr>
              <a:buFontTx/>
              <a:buChar char="-"/>
            </a:pPr>
            <a:endParaRPr lang="en-US" dirty="0">
              <a:latin typeface="Calibri" pitchFamily="34" charset="0"/>
            </a:endParaRPr>
          </a:p>
          <a:p>
            <a:pPr>
              <a:buFontTx/>
              <a:buChar char="-"/>
            </a:pPr>
            <a:endParaRPr lang="en-US" dirty="0"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Verdana" pitchFamily="34" charset="0"/>
            </a:endParaRPr>
          </a:p>
          <a:p>
            <a:pPr>
              <a:buFontTx/>
              <a:buChar char="-"/>
            </a:pPr>
            <a:endParaRPr lang="en-US" dirty="0">
              <a:latin typeface="Verdan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4869160"/>
            <a:ext cx="2371725" cy="10191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Заголовок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3400" y="228600"/>
            <a:ext cx="8229600" cy="1143000"/>
          </a:xfrm>
        </p:spPr>
        <p:txBody>
          <a:bodyPr/>
          <a:lstStyle/>
          <a:p>
            <a:r>
              <a:rPr lang="en-US" dirty="0" smtClean="0"/>
              <a:t>W3C - Mission</a:t>
            </a:r>
            <a:endParaRPr lang="ru-RU" dirty="0" smtClean="0"/>
          </a:p>
        </p:txBody>
      </p:sp>
      <p:sp>
        <p:nvSpPr>
          <p:cNvPr id="5" name="Text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1560" y="1556792"/>
            <a:ext cx="3678684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numCol="1">
            <a:spAutoFit/>
          </a:bodyPr>
          <a:lstStyle/>
          <a:p>
            <a:pPr marL="742950" lvl="1" indent="-285750"/>
            <a:r>
              <a:rPr lang="en-US" dirty="0" smtClean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sz="2000" b="1" dirty="0" smtClean="0"/>
              <a:t>Principles</a:t>
            </a:r>
          </a:p>
          <a:p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Web for </a:t>
            </a:r>
            <a:r>
              <a:rPr lang="en-US" sz="2000" dirty="0" smtClean="0"/>
              <a:t>All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Web Accessibility </a:t>
            </a:r>
            <a:r>
              <a:rPr lang="en-US" sz="1600" dirty="0" smtClean="0"/>
              <a:t>Initiative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 smtClean="0"/>
              <a:t>Internationalization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Mobile Web for Social Development</a:t>
            </a:r>
            <a:endParaRPr lang="en-US" sz="16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Web on </a:t>
            </a:r>
            <a:r>
              <a:rPr lang="en-US" sz="2000" dirty="0" smtClean="0"/>
              <a:t>Everything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Web of </a:t>
            </a:r>
            <a:r>
              <a:rPr lang="en-US" sz="1600" dirty="0" smtClean="0"/>
              <a:t>Devices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Mobile Web </a:t>
            </a:r>
            <a:r>
              <a:rPr lang="en-US" sz="1600" dirty="0" smtClean="0"/>
              <a:t>Initiative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Browsers and Other Agents</a:t>
            </a:r>
            <a:endParaRPr lang="en-US" sz="1600" dirty="0" smtClean="0"/>
          </a:p>
          <a:p>
            <a:pPr>
              <a:buFontTx/>
              <a:buChar char="-"/>
            </a:pPr>
            <a:endParaRPr lang="en-US" dirty="0">
              <a:latin typeface="Verdana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60032" y="1844824"/>
            <a:ext cx="3816424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Vision</a:t>
            </a:r>
          </a:p>
          <a:p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Web for Rich Interaction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Web Design and Applications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Web Architecture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Web of Data and Services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Essential XML Technologies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Semantic Web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Web of Services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Web of Trust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Semantic Web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XML Security, Web of Services Security</a:t>
            </a:r>
          </a:p>
          <a:p>
            <a:pPr marL="800100" lvl="1" indent="-342900">
              <a:buFont typeface="Arial" pitchFamily="34" charset="0"/>
              <a:buChar char="-"/>
            </a:pPr>
            <a:r>
              <a:rPr lang="en-US" sz="1600" dirty="0"/>
              <a:t>Privacy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29" y="4961400"/>
            <a:ext cx="2591519" cy="17276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W3C - Standards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r>
              <a:rPr lang="en-US" dirty="0" smtClean="0"/>
              <a:t>Most usable on Web UI:</a:t>
            </a:r>
          </a:p>
          <a:p>
            <a:pPr lvl="1"/>
            <a:r>
              <a:rPr lang="en-US" dirty="0" smtClean="0"/>
              <a:t>HTML </a:t>
            </a:r>
          </a:p>
          <a:p>
            <a:pPr lvl="1"/>
            <a:r>
              <a:rPr lang="en-US" dirty="0" smtClean="0"/>
              <a:t>XHTML</a:t>
            </a:r>
          </a:p>
          <a:p>
            <a:pPr lvl="1"/>
            <a:r>
              <a:rPr lang="en-US" dirty="0" smtClean="0"/>
              <a:t>CSS</a:t>
            </a:r>
          </a:p>
          <a:p>
            <a:pPr lvl="1"/>
            <a:r>
              <a:rPr lang="en-US" dirty="0" err="1" smtClean="0"/>
              <a:t>Javascript</a:t>
            </a:r>
            <a:r>
              <a:rPr lang="en-US" dirty="0" smtClean="0"/>
              <a:t> APIs</a:t>
            </a:r>
            <a:endParaRPr lang="en-US" dirty="0"/>
          </a:p>
          <a:p>
            <a:pPr lvl="1"/>
            <a:endParaRPr lang="en-US" dirty="0"/>
          </a:p>
          <a:p>
            <a:pPr marL="400050" lvl="1" indent="-342900">
              <a:buFont typeface="Wingdings" pitchFamily="2" charset="2"/>
              <a:buChar char="§"/>
            </a:pPr>
            <a:r>
              <a:rPr lang="en-US" dirty="0" smtClean="0"/>
              <a:t>All standards on August 2011 is 104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4869160"/>
            <a:ext cx="2371725" cy="10191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HTTP - About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algn="just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   HTTP (Hyper Text Transfer Protocol) – is a networking protocol for distributed, collaborative, hypermedia information systems.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algn="just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   HTTP is the foundation of data communication for World Wide Web.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algn="just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   </a:t>
            </a:r>
            <a:r>
              <a:rPr lang="en-US" dirty="0"/>
              <a:t>Request message</a:t>
            </a:r>
          </a:p>
          <a:p>
            <a:pPr marL="457200" lvl="1" indent="0">
              <a:buNone/>
            </a:pPr>
            <a:r>
              <a:rPr lang="en-US" sz="1400" dirty="0"/>
              <a:t>The request message consists of the following:</a:t>
            </a:r>
          </a:p>
          <a:p>
            <a:pPr lvl="1"/>
            <a:r>
              <a:rPr lang="en-US" sz="1100" dirty="0"/>
              <a:t>Request line, such as GET /images/logo.png HTTP/1.1, which requests a resource called /images/logo.png from server</a:t>
            </a:r>
          </a:p>
          <a:p>
            <a:pPr lvl="1"/>
            <a:r>
              <a:rPr lang="en-US" sz="1100" dirty="0"/>
              <a:t>Headers, such as Accept-Language: en</a:t>
            </a:r>
          </a:p>
          <a:p>
            <a:pPr lvl="1"/>
            <a:r>
              <a:rPr lang="en-US" sz="1100" dirty="0"/>
              <a:t>An empty line</a:t>
            </a:r>
          </a:p>
          <a:p>
            <a:pPr lvl="1"/>
            <a:r>
              <a:rPr lang="en-US" sz="1100" dirty="0"/>
              <a:t>An optional message body</a:t>
            </a:r>
          </a:p>
          <a:p>
            <a:pPr marL="0" indent="0" algn="just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algn="just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Most usable HTTP request methods in Web UI: GET and POST</a:t>
            </a: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175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HTTP - GET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b="1" dirty="0" smtClean="0"/>
              <a:t>Example: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http://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www.google.com.ua/search?hl=uk&amp;q=HTTP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URL:  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http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://www.google.com.ua/search</a:t>
            </a: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URL &amp; Parameters delimiter: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?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Parameter: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hl</a:t>
            </a: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Value: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uk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 smtClean="0"/>
              <a:t> Parameters delimiter: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&amp;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 smtClean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542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HTTP - POST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For </a:t>
            </a:r>
            <a:r>
              <a:rPr lang="en-US" sz="2000" b="1" dirty="0"/>
              <a:t>example, the key-value pairs</a:t>
            </a:r>
          </a:p>
          <a:p>
            <a:pPr marL="80010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 Jonathan Doe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marL="80010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Age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: 23 Formula: a + b == 13%!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are </a:t>
            </a:r>
            <a:r>
              <a:rPr lang="en-US" sz="1800" dirty="0"/>
              <a:t>encoded </a:t>
            </a:r>
            <a:r>
              <a:rPr lang="en-US" sz="1800" dirty="0" smtClean="0"/>
              <a:t>as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 Name=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Jonathan+Doe&amp;Age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=23&amp;Formula=a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+%2B+b+%3D%3D+13%25%21</a:t>
            </a:r>
            <a:endParaRPr lang="en-US" sz="18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</a:t>
            </a:r>
            <a:r>
              <a:rPr lang="en-US" sz="1800" b="1" dirty="0" smtClean="0"/>
              <a:t>Tips: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Parameters of POST method never don`t appear in URL link.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smtClean="0"/>
              <a:t>  </a:t>
            </a:r>
            <a:r>
              <a:rPr lang="en-US" sz="1600" dirty="0" smtClean="0"/>
              <a:t>Through HTTP methods GET and POST you can send or request only textual data.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396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HTML - About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lang="en-US" sz="2000" b="1" dirty="0"/>
              <a:t>    Hyper Text Markup Language (HTML) </a:t>
            </a:r>
            <a:r>
              <a:rPr lang="en-US" sz="1800" dirty="0"/>
              <a:t> is the predominant markup language for web pages. HTML elements are the basic building-blocks of webpages.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b="1" dirty="0"/>
          </a:p>
          <a:p>
            <a:pPr marL="0" indent="0" algn="just">
              <a:buNone/>
            </a:pPr>
            <a:endParaRPr lang="en-US" sz="1800" b="1" dirty="0"/>
          </a:p>
          <a:p>
            <a:pPr marL="0" indent="0" algn="just">
              <a:buNone/>
            </a:pPr>
            <a:r>
              <a:rPr lang="en-US" sz="1800" b="1" dirty="0" smtClean="0"/>
              <a:t>Syntax:</a:t>
            </a:r>
            <a:endParaRPr lang="en-US" sz="1800" b="1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Document type: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&lt;! DOCTYPE … &gt;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/>
              <a:t>Tags:               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&lt;tag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… content …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&lt;/tag&gt;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/>
              <a:t>Comments:      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&lt;!-- Comment </a:t>
            </a:r>
            <a:r>
              <a:rPr lang="en-US" sz="16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--&gt;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/>
              <a:t>Attributes:       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&lt;tag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name=“value”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&gt; &lt;/tag&gt;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000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HTML - Example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>
              <a:buNone/>
            </a:pP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&lt;!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DOCTYPE html PUBLIC "-//W3C//DTD XHTML 1.0 Transitional//EN" "http://www.w3.org/TR/xhtml1/DTD/xhtml1-transitional.dtd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 marL="0" indent="0">
              <a:buNone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&lt;head&gt;</a:t>
            </a: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&lt;title&gt;Web page title.&lt;/title&gt;</a:t>
            </a: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&lt;/head&gt;</a:t>
            </a:r>
          </a:p>
          <a:p>
            <a:pPr marL="0" indent="0" algn="just">
              <a:buNone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&lt;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body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bgcolor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=red&gt;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&lt;!-- Web page body --&gt;</a:t>
            </a: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&lt;/body&gt;</a:t>
            </a:r>
          </a:p>
          <a:p>
            <a:pPr marL="0" indent="0" algn="just">
              <a:buNone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&lt;/html&gt;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marL="0" indent="0" algn="just">
              <a:buNone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74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HTML – Element attributes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Empty attribute syntax:</a:t>
            </a:r>
          </a:p>
          <a:p>
            <a:pPr marL="0" indent="0" algn="just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disabled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 algn="just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disabled</a:t>
            </a:r>
            <a:r>
              <a:rPr lang="en-US" sz="1800" i="1" dirty="0" smtClean="0">
                <a:latin typeface="Courier New" pitchFamily="49" charset="0"/>
                <a:cs typeface="Courier New" pitchFamily="49" charset="0"/>
              </a:rPr>
              <a:t>=""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Unquoted attribute-value syntax:</a:t>
            </a:r>
          </a:p>
          <a:p>
            <a:pPr marL="0" indent="0" algn="just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value=yes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Single-quoted attribute-value syntax:</a:t>
            </a:r>
          </a:p>
          <a:p>
            <a:pPr marL="0" indent="0" algn="just">
              <a:buNone/>
            </a:pPr>
            <a:r>
              <a:rPr lang="en-US" sz="1800" dirty="0" smtClean="0"/>
              <a:t>	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input 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type='checkbox</a:t>
            </a:r>
            <a:r>
              <a:rPr lang="en-US" sz="1800" i="1" dirty="0" smtClean="0">
                <a:latin typeface="Courier New" pitchFamily="49" charset="0"/>
                <a:cs typeface="Courier New" pitchFamily="49" charset="0"/>
              </a:rPr>
              <a:t>'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Double-quoted attribute-value syntax:</a:t>
            </a:r>
          </a:p>
          <a:p>
            <a:pPr marL="0" indent="0" algn="just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&lt;code title="U+003C LESS-THAN SIGN"&gt;&amp;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lt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;&lt;/code&gt;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005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HTML – Character references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Named character reference:</a:t>
            </a:r>
          </a:p>
          <a:p>
            <a:pPr marL="0" indent="0" algn="just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&amp;dagger;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 </a:t>
            </a:r>
            <a:r>
              <a:rPr lang="uk-UA" sz="1800" dirty="0"/>
              <a:t>†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Decimal  numeric character reference:</a:t>
            </a:r>
          </a:p>
          <a:p>
            <a:pPr marL="0" indent="0" algn="just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&amp;#8224;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 </a:t>
            </a:r>
            <a:r>
              <a:rPr lang="uk-UA" sz="1800" dirty="0"/>
              <a:t>†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Hexadecimal numeric character reference:</a:t>
            </a:r>
          </a:p>
          <a:p>
            <a:pPr marL="0" indent="0" algn="just">
              <a:buNone/>
            </a:pPr>
            <a:r>
              <a:rPr lang="en-US" sz="1800" dirty="0" smtClean="0"/>
              <a:t>	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&amp;#x2020;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 </a:t>
            </a:r>
            <a:r>
              <a:rPr lang="uk-UA" sz="1800" dirty="0" smtClean="0"/>
              <a:t>†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82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HTML – Elements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The root element: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&lt;html&gt; … &lt;/html&gt;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Document metadata: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&lt;head&gt;…&lt;/head&gt;, &lt;title&gt;…&lt;/title&gt;, &lt;base /&gt;,</a:t>
            </a:r>
          </a:p>
          <a:p>
            <a:pPr marL="0" indent="0" algn="just">
              <a:buNone/>
            </a:pP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&lt;link /&gt;, &lt;meta /&gt;, &lt;style /&gt;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Scripting:</a:t>
            </a:r>
            <a:r>
              <a:rPr lang="en-US" sz="16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&lt;script&gt;…&lt;/script&gt;, &lt;noscript&gt;…&lt;/noscript&gt;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Sections:</a:t>
            </a:r>
            <a:r>
              <a:rPr lang="en-US" sz="16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&lt;body&gt;…&lt;/body&gt;, &lt;section&gt;…&lt;/section&gt;,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nav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&gt;…&lt;/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nav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&gt;, &lt;h[1-6]&gt;…&lt;/h[1-6]&gt;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Grouping:</a:t>
            </a:r>
            <a:r>
              <a:rPr lang="en-US" sz="16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&lt;p&gt;…&lt;/p&gt;,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br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/&gt;,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ul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&gt;…&lt;/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ul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ol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&gt;…&lt;/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ol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&gt;, &lt;li&gt;…&lt;/li&gt;, &lt;div&gt;…&lt;/div&gt;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Text-level semantics:</a:t>
            </a:r>
            <a:r>
              <a:rPr lang="en-US" sz="16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&lt;a&gt;…&lt;/a&gt;, &lt;span&gt;…&lt;/span&gt;,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em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&gt;…&lt;/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em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&gt;, &lt;strong&gt;…&lt;/strong&gt;, &lt;small&gt;…&lt;/small&gt;, &lt;q&gt;…&lt;/q&gt;, &lt;i&gt;…&lt;/i&gt;, &lt;b&gt;…&lt;/b&gt;, &lt;u&gt;…&lt;/u&gt;, &lt;sab&gt;…&lt;/sab&gt;, &lt;sup&gt;…&lt;/sup&gt;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Embedded content:</a:t>
            </a:r>
            <a:r>
              <a:rPr lang="en-US" sz="18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img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/&gt;,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iframe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&gt;…&lt;/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iframe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Tables:</a:t>
            </a:r>
            <a:r>
              <a:rPr lang="en-US" sz="18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&lt;table&gt;…&lt;/table&gt;, &lt;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tr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&gt;…&lt;/</a:t>
            </a:r>
            <a:r>
              <a:rPr lang="en-US" sz="1400" dirty="0" err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tr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&gt;, &lt;td&gt;…&lt;/td&gt;</a:t>
            </a:r>
          </a:p>
          <a:p>
            <a:pPr marL="0" indent="0" algn="just">
              <a:buNone/>
            </a:pPr>
            <a:endParaRPr lang="en-US" sz="1400" dirty="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Forms: </a:t>
            </a:r>
            <a:r>
              <a:rPr lang="en-US" sz="1400" dirty="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&lt;form&gt;…&lt;/form&gt;, &lt;input&gt;…&lt;/input&gt;, &lt;select&gt;…&lt;/select&gt;, &lt;option&gt;…&lt;/option&gt;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142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HTML – Common errors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No closing tag.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Wrong tag name.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Wrong attribute name or value.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Use of invalid characters.</a:t>
            </a: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Bad document structure.</a:t>
            </a: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56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Useful links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/>
        <p:txBody>
          <a:bodyPr numCol="1" rtlCol="0">
            <a:normAutofit/>
          </a:bodyPr>
          <a:lstStyle/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W3C:</a:t>
            </a:r>
          </a:p>
          <a:p>
            <a:pPr marL="0" indent="0" algn="just">
              <a:buNone/>
            </a:pPr>
            <a:r>
              <a:rPr lang="en-US" sz="1400" dirty="0">
                <a:hlinkClick r:id="rId6"/>
              </a:rPr>
              <a:t>http://www.w3.org/</a:t>
            </a:r>
            <a:endParaRPr lang="en-US" sz="14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HTTP:</a:t>
            </a:r>
          </a:p>
          <a:p>
            <a:pPr marL="0" indent="0" algn="just">
              <a:buNone/>
            </a:pPr>
            <a:r>
              <a:rPr lang="en-US" sz="1400" dirty="0">
                <a:hlinkClick r:id="rId7"/>
              </a:rPr>
              <a:t>http://www.w3.org/TR/#</a:t>
            </a:r>
            <a:r>
              <a:rPr lang="en-US" sz="1400" dirty="0" smtClean="0">
                <a:hlinkClick r:id="rId7"/>
              </a:rPr>
              <a:t>tr_HTTP</a:t>
            </a:r>
            <a:endParaRPr lang="en-US" sz="1400" dirty="0" smtClean="0"/>
          </a:p>
          <a:p>
            <a:pPr marL="0" indent="0" algn="just">
              <a:buNone/>
            </a:pPr>
            <a:r>
              <a:rPr lang="en-US" sz="1400" dirty="0">
                <a:hlinkClick r:id="rId8"/>
              </a:rPr>
              <a:t>http://www.w3.org/TR/1999/REC-html401-19991224/index/attributes.html</a:t>
            </a:r>
            <a:endParaRPr lang="en-US" sz="14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HTML:</a:t>
            </a:r>
          </a:p>
          <a:p>
            <a:pPr marL="0" indent="0" algn="just">
              <a:buNone/>
            </a:pPr>
            <a:r>
              <a:rPr lang="en-US" sz="1400" dirty="0">
                <a:hlinkClick r:id="rId9"/>
              </a:rPr>
              <a:t>http://www.w3.org/TR/#tr_HTML</a:t>
            </a:r>
            <a:endParaRPr lang="en-US" sz="14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r>
              <a:rPr lang="en-US" sz="1800" dirty="0" smtClean="0"/>
              <a:t>All:</a:t>
            </a:r>
            <a:endParaRPr lang="en-US" sz="1800" dirty="0" smtClean="0">
              <a:hlinkClick r:id="rId10"/>
            </a:endParaRPr>
          </a:p>
          <a:p>
            <a:pPr marL="0" indent="0" algn="just">
              <a:buNone/>
            </a:pPr>
            <a:r>
              <a:rPr lang="en-US" sz="1400" dirty="0" smtClean="0">
                <a:hlinkClick r:id="rId10"/>
              </a:rPr>
              <a:t>http</a:t>
            </a:r>
            <a:r>
              <a:rPr lang="en-US" sz="1400" dirty="0">
                <a:hlinkClick r:id="rId10"/>
              </a:rPr>
              <a:t>://www.academictutorials.com</a:t>
            </a:r>
            <a:r>
              <a:rPr lang="en-US" sz="1400" dirty="0" smtClean="0">
                <a:hlinkClick r:id="rId10"/>
              </a:rPr>
              <a:t>/</a:t>
            </a:r>
            <a:endParaRPr lang="en-US" sz="1400" dirty="0" smtClean="0"/>
          </a:p>
          <a:p>
            <a:pPr marL="0" indent="0" algn="just">
              <a:buNone/>
            </a:pPr>
            <a:r>
              <a:rPr lang="en-US" sz="1400" dirty="0">
                <a:hlinkClick r:id="rId11"/>
              </a:rPr>
              <a:t>http://www.w3schools.com/</a:t>
            </a:r>
            <a:endParaRPr lang="en-US" sz="1400" dirty="0" smtClean="0">
              <a:ea typeface="Verdana" pitchFamily="34" charset="0"/>
              <a:cs typeface="Verdana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62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Practical Task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23528" y="1412776"/>
            <a:ext cx="8363272" cy="4713387"/>
          </a:xfrm>
        </p:spPr>
        <p:txBody>
          <a:bodyPr numCol="1" rtlCol="0"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You should create this page </a:t>
            </a:r>
            <a:r>
              <a:rPr lang="en-US" sz="1800" smtClean="0">
                <a:ea typeface="Verdana" pitchFamily="34" charset="0"/>
                <a:cs typeface="Verdana" pitchFamily="34" charset="0"/>
              </a:rPr>
              <a:t>without using CSS.</a:t>
            </a: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 algn="just">
              <a:buNone/>
            </a:pPr>
            <a:endParaRPr lang="en-US" sz="1800" dirty="0"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endParaRPr lang="en-US" sz="1800" dirty="0" smtClean="0">
              <a:ea typeface="Verdana" pitchFamily="34" charset="0"/>
              <a:cs typeface="Verdana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ea typeface="Verdana" pitchFamily="34" charset="0"/>
                <a:cs typeface="Verdana" pitchFamily="34" charset="0"/>
              </a:rPr>
              <a:t>Link to compare: </a:t>
            </a:r>
            <a:r>
              <a:rPr lang="en-US" sz="1800" dirty="0">
                <a:hlinkClick r:id="rId6"/>
              </a:rPr>
              <a:t>http://www.google.com.ua/search?hl=uk&amp;q=w3c&amp;oq=w3c</a:t>
            </a:r>
            <a:endParaRPr lang="en-US" sz="1800" dirty="0" smtClean="0"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83785"/>
            <a:ext cx="5802519" cy="3424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320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Questions?</a:t>
            </a:r>
          </a:p>
        </p:txBody>
      </p:sp>
      <p:pic>
        <p:nvPicPr>
          <p:cNvPr id="30722" name="Picture 2" descr="C:\Users\vk\Documents\question-mark.jpg"/>
          <p:cNvPicPr>
            <a:picLocks noGrp="1" noChangeAspect="1" noChangeArrowheads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3143250" y="1957388"/>
            <a:ext cx="2857500" cy="3810000"/>
          </a:xfrm>
        </p:spPr>
      </p:pic>
    </p:spTree>
    <p:custDataLst>
      <p:tags r:id="rId1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8175" y="5181600"/>
            <a:ext cx="3095625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cs typeface="+mn-cs"/>
              </a:rPr>
              <a:t>Thank You!</a:t>
            </a:r>
          </a:p>
        </p:txBody>
      </p:sp>
      <p:sp>
        <p:nvSpPr>
          <p:cNvPr id="3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3375" y="957263"/>
            <a:ext cx="6553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GB" sz="2600" b="1">
              <a:solidFill>
                <a:srgbClr val="5F5F5F"/>
              </a:solidFill>
              <a:latin typeface="Verdana" pitchFamily="34" charset="0"/>
            </a:endParaRPr>
          </a:p>
        </p:txBody>
      </p:sp>
      <p:sp>
        <p:nvSpPr>
          <p:cNvPr id="31749" name="Rectangle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" y="6429375"/>
            <a:ext cx="3138488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  <a:cs typeface="+mn-cs"/>
              </a:rPr>
              <a:t>Copyright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  <a:cs typeface="Times New Roman" pitchFamily="18" charset="0"/>
              </a:rPr>
              <a:t>©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  <a:cs typeface="+mn-cs"/>
              </a:rPr>
              <a:t> 2010 SoftServe, Inc.</a:t>
            </a:r>
          </a:p>
        </p:txBody>
      </p:sp>
      <p:sp>
        <p:nvSpPr>
          <p:cNvPr id="31748" name="Rectangle 10"/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smtClean="0"/>
              <a:t>Contacts</a:t>
            </a:r>
          </a:p>
        </p:txBody>
      </p:sp>
      <p:sp>
        <p:nvSpPr>
          <p:cNvPr id="2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8201" y="2132856"/>
            <a:ext cx="3573414" cy="157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600" b="1" dirty="0" err="1" smtClean="0">
                <a:solidFill>
                  <a:srgbClr val="F79646"/>
                </a:solidFill>
                <a:latin typeface="Verdana" pitchFamily="34" charset="0"/>
              </a:rPr>
              <a:t>Iaroslav</a:t>
            </a:r>
            <a:r>
              <a:rPr lang="en-US" sz="1600" b="1" dirty="0" smtClean="0">
                <a:solidFill>
                  <a:srgbClr val="F79646"/>
                </a:solidFill>
                <a:latin typeface="Verdana" pitchFamily="34" charset="0"/>
              </a:rPr>
              <a:t> </a:t>
            </a:r>
            <a:r>
              <a:rPr lang="en-US" sz="1600" b="1" dirty="0" err="1" smtClean="0">
                <a:solidFill>
                  <a:srgbClr val="F79646"/>
                </a:solidFill>
                <a:latin typeface="Verdana" pitchFamily="34" charset="0"/>
              </a:rPr>
              <a:t>Porodko</a:t>
            </a:r>
            <a:endParaRPr lang="en-GB" sz="1600" b="1" dirty="0">
              <a:solidFill>
                <a:srgbClr val="F79646"/>
              </a:solidFill>
              <a:latin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/>
              <a:t>E-mail: </a:t>
            </a:r>
            <a:r>
              <a:rPr lang="en-US" dirty="0" smtClean="0">
                <a:hlinkClick r:id="rId9"/>
              </a:rPr>
              <a:t>iporod@softserveinc.com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Skype</a:t>
            </a:r>
            <a:r>
              <a:rPr lang="en-US" dirty="0"/>
              <a:t>: </a:t>
            </a:r>
            <a:r>
              <a:rPr lang="en-US" dirty="0" err="1" smtClean="0"/>
              <a:t>yporodko</a:t>
            </a:r>
            <a:endParaRPr lang="en-GB" sz="12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</a:pPr>
            <a:endParaRPr lang="en-GB" sz="1200" b="1" dirty="0">
              <a:solidFill>
                <a:srgbClr val="333333"/>
              </a:solidFill>
              <a:latin typeface="Verdana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My2hVCW6Ewp4fGN7hhnu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XYB0LTCDh5MRoG5UBLF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CA9pV6gzUbTMwfPPqMN7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A2NERrOP9W1mWYrmFTkS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ZjdpDYSMt3JK06CgePK5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L9jRo36UMWZ83tqrOQXm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5GHMMHapMAvZr9Pn9IDK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RPYen4pvzHL0FQh6KOMS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48B4D4PWleVnPRNyk5Zg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LR39QN1U7FtNw7S3iIgg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J0Uml2f8HUHQq6hByRud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yLwYTxvXiZYA72etrYEY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ertZ52XPXKutKQDirlFD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uMikktUfBc5CLHi72Mr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y4oHoP79XCghKiDmZKJfK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8a0dK1KeWhSaWIUDWDM5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Tm6WV1EDBnqHnbYEILlh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5tXtHNmREQgSpFknhr1f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cMpFj5daZklgCYrjRhJJ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k0pFK32IqwPVeGa56oJ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ZtOBvkb6aVAMnhas7F7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rbSLYreIQEPr5Kkt1d7uP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PMBqFElPCd6UxhWPwSX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D7MGXLyGGUVQWp3KhIeDX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KoS0XKJozKqWWe8Mo2wMX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CvJNhCIrGVuLmnNWOOWi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LkhxPY6s0zF7l5ayMAn0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MacyFMp1DRMrqbCqQJ5s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jTtXSJdFyqDZ56Oem8poO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QJBa6BRVzTRRi5ITFOXi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qVRFX6n0jd9Z7kMrUKL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7L3TqEL0hRnOVM7FvJ8a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lRh0N1UOpsv1i9NMwsB0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Oq6vBCnW346FFCdgz64Hv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c3nbbLz5GCizJhW8vazsf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0c3PzLrLanJ5UfdfKacu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bi6ADIGVdU3Q8nZ7W0jf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KbCsuC6HTAQKkRf4sJHku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kMAULUB5dwxgu3TH9CDS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2iYDpqwKhbkuRQSAQb6N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c0c1TiVOi3RcOUWeV3LQ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SEGnKVSS2yPsRr3pVs3F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PSgsRAgjzGHeu7JZ2oiw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y7YPhrPA1uwwPO6i3hCJ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ZVz5bH4gt0bJkXf14OZ7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kJOQQjenQwQFgRh8V75B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SmMqnMjapuPnAPhlQL25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KCWWFWpFnAUyk9t1jPtZ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q9BBi8J0mBJWYWGeg2Kjf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wY0TJeq1mN9Kpgi5IHL1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4zf0EKGVPV2CDBoovAkf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BgtXO1YNfZtxVYDK3FknH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fVM78Y3APi6Lm1sVVj15s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WPqUH0Pv2Jeo1ybHT0JF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dwqWaj2yd0TjVjudLgF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qgQRXQJliaZGYN0ePDMU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dfGBM9glQBwxpGHWs3DMH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wJe5TO7zmdn3Aam4A5Wj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2JkF4UhP4z4soaMhFZKh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vBDYMD3HiZ27kUkOfoZCY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DPXyOpUn8ZU4dI268DLmh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UVlEIluiFqddapmbc1NW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2Aq0uwwJoAnZ7lGp65Kdo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2tMyGhZCNb4bZ2GLBsxX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jncv5XOQ5SKsxWdWPeKMN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ZH3dRClYxWTe0mQkeBPnH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z6ID7VOr1ezxoNUNc6n9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7McYQ9g2dPtA7Wvduqa6V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EtX2proI0xeuYVr94FaZ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3NFYiZBWZ49s8J0NJPDuP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2X62LLjAjZ6jbXI5XfuB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1JKligGx5O7B7JRtChXF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ovY14II7I111dlGtvD2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sZll8JKo6CNq3zQLr7fWF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0hIkqpcQs406HzohPCF7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JfKzX73vTzEId286Sg1xj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bJcGVfXTsXSytzRr4MX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15cuRfuV3TQhO5ikCac2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ZsPprcmMIhFdVTowTD7H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VzzBMAZBsNDT6KFsOiyg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wVDaxGAw54wVT6qVo4DaI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nHXPsVmN6zHMliaoPvym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QceoH1HE4lAOyur5Vutmc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GB8EPeSFOydrGgazeC5oj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rV9AwNDYkwJi7tUMYTOia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FVVI6GvYdpYUGHOy1rSI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I34rbPZ9EjrhYaUb6SEfo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gp6GtkqGlZ20bdY5ZhvlN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SYaaEaKowNtG09wmESYF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I34rbPZ9EjrhYaUb6SEfo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yFi5slNF4JGjQPyM5pw4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Xc3pIyl8WiiKUpeCdZJwS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RLKhFstQoebBJv0sswwY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bK9uCI6J88NMRqnoS4SFU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wuuQtzb9xQT5ocEXgGGss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wJOu7cwgZmUskhgrcSiG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kSm8wdc5OIo9tyVXI4ylB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iwlimucQPvTBYL2YsYDg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aVRmGPtNaL38qi8OQ148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yIivodpk3AwMlprZNmm2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QkKQE7BcIZMn94bqgnPI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BEWInQdHLu2qasaEnLcr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11272</TotalTime>
  <Words>655</Words>
  <Application>Microsoft Office PowerPoint</Application>
  <PresentationFormat>On-screen Show (4:3)</PresentationFormat>
  <Paragraphs>221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Agenda</vt:lpstr>
      <vt:lpstr>W3C - About</vt:lpstr>
      <vt:lpstr>W3C - Mission</vt:lpstr>
      <vt:lpstr>W3C - Standards</vt:lpstr>
      <vt:lpstr>HTTP - About</vt:lpstr>
      <vt:lpstr>HTTP - GET</vt:lpstr>
      <vt:lpstr>HTTP - POST</vt:lpstr>
      <vt:lpstr>HTML - About</vt:lpstr>
      <vt:lpstr>HTML - Example</vt:lpstr>
      <vt:lpstr>HTML – Element attributes</vt:lpstr>
      <vt:lpstr>HTML – Character references</vt:lpstr>
      <vt:lpstr>HTML – Elements</vt:lpstr>
      <vt:lpstr>HTML – Common errors</vt:lpstr>
      <vt:lpstr>Useful links</vt:lpstr>
      <vt:lpstr>Practical Task</vt:lpstr>
      <vt:lpstr>Questions?</vt:lpstr>
      <vt:lpstr>Contacts</vt:lpstr>
    </vt:vector>
  </TitlesOfParts>
  <Company>ss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mbrandon</dc:creator>
  <cp:lastModifiedBy>Volodymyr Yakubovskyi</cp:lastModifiedBy>
  <cp:revision>269</cp:revision>
  <dcterms:created xsi:type="dcterms:W3CDTF">2010-08-18T17:56:28Z</dcterms:created>
  <dcterms:modified xsi:type="dcterms:W3CDTF">2011-08-29T11:43:47Z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11o7pvRKTAno3P9UPpa7lsaJd0Z5eyQNMXMl-hmptJww</vt:lpwstr>
  </property>
  <property fmtid="{D5CDD505-2E9C-101B-9397-08002B2CF9AE}" pid="3" name="Google.Documents.RevisionId">
    <vt:lpwstr>15188432233012807578</vt:lpwstr>
  </property>
  <property fmtid="{D5CDD505-2E9C-101B-9397-08002B2CF9AE}" pid="4" name="Google.Documents.PreviousRevisionId">
    <vt:lpwstr>05551070122695842624</vt:lpwstr>
  </property>
  <property fmtid="{D5CDD505-2E9C-101B-9397-08002B2CF9AE}" pid="5" name="Google.Documents.PluginVersion">
    <vt:lpwstr>2.0.1974.7364</vt:lpwstr>
  </property>
  <property fmtid="{D5CDD505-2E9C-101B-9397-08002B2CF9AE}" pid="6" name="Google.Documents.MergeIncapabilityFlags">
    <vt:i4>0</vt:i4>
  </property>
  <property fmtid="{D5CDD505-2E9C-101B-9397-08002B2CF9AE}" pid="7" name="Google.Documents.Tracking">
    <vt:lpwstr>false</vt:lpwstr>
  </property>
</Properties>
</file>