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0" r:id="rId2"/>
    <p:sldId id="300" r:id="rId3"/>
    <p:sldId id="303" r:id="rId4"/>
    <p:sldId id="304" r:id="rId5"/>
    <p:sldId id="305" r:id="rId6"/>
    <p:sldId id="306" r:id="rId7"/>
    <p:sldId id="307" r:id="rId8"/>
    <p:sldId id="309" r:id="rId9"/>
    <p:sldId id="308" r:id="rId10"/>
    <p:sldId id="302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288" r:id="rId24"/>
  </p:sldIdLst>
  <p:sldSz cx="9144000" cy="6858000" type="screen4x3"/>
  <p:notesSz cx="6669088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298" autoAdjust="0"/>
  </p:normalViewPr>
  <p:slideViewPr>
    <p:cSldViewPr>
      <p:cViewPr varScale="1">
        <p:scale>
          <a:sx n="74" d="100"/>
          <a:sy n="74" d="100"/>
        </p:scale>
        <p:origin x="-96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6D99E-C6D5-4E37-998F-434449DFD517}" type="datetimeFigureOut">
              <a:rPr lang="en-US" smtClean="0"/>
              <a:pPr/>
              <a:t>2/29/2012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15153"/>
            <a:ext cx="533527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A4919-15E4-4E35-BCA7-8B3F16CCD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9617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F15B1D7-BD12-436D-91B8-4E9339709C7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D948B4-9A84-4BDD-8558-24D1CF0EFAAD}" type="slidenum">
              <a:rPr lang="uk-UA" smtClean="0"/>
              <a:pPr/>
              <a:t>23</a:t>
            </a:fld>
            <a:endParaRPr lang="uk-UA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5663" y="744538"/>
            <a:ext cx="4960937" cy="3722687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2/29/2012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9" name="Picture 8" descr="GettyImages_98064892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3685245"/>
            <a:ext cx="2058299" cy="14478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2/29/2012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20" name="Picture 19" descr="GettyImages_95469335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3695700"/>
            <a:ext cx="2036064" cy="1597152"/>
          </a:xfrm>
          <a:prstGeom prst="rect">
            <a:avLst/>
          </a:prstGeom>
        </p:spPr>
      </p:pic>
      <p:grpSp>
        <p:nvGrpSpPr>
          <p:cNvPr id="8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2/29/2012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15" name="Picture 14" descr="GettyImages_97541937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" y="3694463"/>
            <a:ext cx="1981199" cy="1320223"/>
          </a:xfrm>
          <a:prstGeom prst="rect">
            <a:avLst/>
          </a:prstGeom>
        </p:spPr>
      </p:pic>
      <p:grpSp>
        <p:nvGrpSpPr>
          <p:cNvPr id="8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2/29/2012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14" name="Picture 13" descr="UP.jpg"/>
          <p:cNvPicPr>
            <a:picLocks noChangeAspect="1"/>
          </p:cNvPicPr>
          <p:nvPr userDrawn="1"/>
        </p:nvPicPr>
        <p:blipFill>
          <a:blip r:embed="rId3" cstate="print"/>
          <a:srcRect l="1220" t="2137" r="1300" b="1973"/>
          <a:stretch>
            <a:fillRect/>
          </a:stretch>
        </p:blipFill>
        <p:spPr>
          <a:xfrm>
            <a:off x="0" y="3695700"/>
            <a:ext cx="2133600" cy="1198351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8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2/29/2012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3074" name="Picture 2" descr="C:\Documents and Settings\rmash\Desktop\GettyImages_stk80021cor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693885"/>
            <a:ext cx="1981200" cy="1981200"/>
          </a:xfrm>
          <a:prstGeom prst="rect">
            <a:avLst/>
          </a:prstGeom>
          <a:noFill/>
        </p:spPr>
      </p:pic>
      <p:grpSp>
        <p:nvGrpSpPr>
          <p:cNvPr id="2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2/29/2012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4098" name="Picture 2" descr="C:\Documents and Settings\rmash\Desktop\GettyImages_80281950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5" y="3693884"/>
            <a:ext cx="2132835" cy="1420947"/>
          </a:xfrm>
          <a:prstGeom prst="rect">
            <a:avLst/>
          </a:prstGeom>
          <a:noFill/>
        </p:spPr>
      </p:pic>
      <p:grpSp>
        <p:nvGrpSpPr>
          <p:cNvPr id="2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2/29/2012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5122" name="Picture 2" descr="C:\Documents and Settings\rmash\Desktop\GettyImages_102756315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777" y="3693885"/>
            <a:ext cx="2160778" cy="1439863"/>
          </a:xfrm>
          <a:prstGeom prst="rect">
            <a:avLst/>
          </a:prstGeom>
          <a:noFill/>
        </p:spPr>
      </p:pic>
      <p:grpSp>
        <p:nvGrpSpPr>
          <p:cNvPr id="2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2/29/2012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6146" name="Picture 2" descr="C:\Documents and Settings\rmash\Desktop\GettyImages_96502260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701144"/>
            <a:ext cx="2133600" cy="1599814"/>
          </a:xfrm>
          <a:prstGeom prst="rect">
            <a:avLst/>
          </a:prstGeom>
          <a:noFill/>
        </p:spPr>
      </p:pic>
      <p:grpSp>
        <p:nvGrpSpPr>
          <p:cNvPr id="2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§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2pPr>
            <a:lvl3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2/29/2012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softserve logo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15200" y="6324600"/>
            <a:ext cx="1428750" cy="400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962400"/>
            <a:ext cx="7772400" cy="44450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Verdana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2/29/2012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228600"/>
            <a:ext cx="152400" cy="6324600"/>
          </a:xfrm>
          <a:prstGeom prst="rect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76200" y="152400"/>
            <a:ext cx="533400" cy="6553200"/>
          </a:xfrm>
          <a:prstGeom prst="rect">
            <a:avLst/>
          </a:prstGeom>
          <a:solidFill>
            <a:schemeClr val="tx2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 rot="5400000">
            <a:off x="4381500" y="-876301"/>
            <a:ext cx="380999" cy="9144000"/>
          </a:xfrm>
          <a:prstGeom prst="rect">
            <a:avLst/>
          </a:prstGeom>
          <a:solidFill>
            <a:schemeClr val="tx2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softserve logo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15200" y="6324600"/>
            <a:ext cx="1428750" cy="400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2/29/2012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softserve logo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15200" y="6324600"/>
            <a:ext cx="1428750" cy="400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Font typeface="Wingdings" pitchFamily="2" charset="2"/>
              <a:buChar char="§"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Font typeface="Wingdings" pitchFamily="2" charset="2"/>
              <a:buChar char="§"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2/29/2012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2/29/2012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2/29/2012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2pPr>
            <a:lvl3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4pPr>
            <a:lvl5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2/29/2012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Verdana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Verdan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2/29/2012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2/29/2012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6ED19-93A4-45AB-9AB4-151D3539CCFC}" type="datetimeFigureOut">
              <a:rPr lang="en-US" smtClean="0"/>
              <a:pPr/>
              <a:t>2/29/2012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16200000">
            <a:off x="-2781300" y="3771900"/>
            <a:ext cx="5867400" cy="304800"/>
          </a:xfrm>
          <a:prstGeom prst="rect">
            <a:avLst/>
          </a:prstGeom>
          <a:solidFill>
            <a:schemeClr val="accent6">
              <a:lumMod val="75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2400" y="1600200"/>
            <a:ext cx="228600" cy="4953000"/>
          </a:xfrm>
          <a:prstGeom prst="rect">
            <a:avLst/>
          </a:prstGeom>
          <a:solidFill>
            <a:schemeClr val="accent1">
              <a:lumMod val="20000"/>
              <a:lumOff val="80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60" r:id="rId4"/>
    <p:sldLayoutId id="2147483662" r:id="rId5"/>
    <p:sldLayoutId id="2147483663" r:id="rId6"/>
    <p:sldLayoutId id="2147483664" r:id="rId7"/>
    <p:sldLayoutId id="2147483665" r:id="rId8"/>
    <p:sldLayoutId id="2147483650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code.google.com/p/zen-coding/" TargetMode="Externa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compass-style.org/" TargetMode="External"/><Relationship Id="rId2" Type="http://schemas.openxmlformats.org/officeDocument/2006/relationships/hyperlink" Target="http://sass-lang.com/" TargetMode="Externa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20000" y="609600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 smtClean="0"/>
          </a:p>
          <a:p>
            <a:pPr algn="r"/>
            <a:r>
              <a:rPr lang="en-US" sz="1400" smtClean="0"/>
              <a:t>Vasyl Lupynis</a:t>
            </a:r>
            <a:endParaRPr lang="en-US" sz="1400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HTML &amp; CSS</a:t>
            </a:r>
          </a:p>
          <a:p>
            <a:r>
              <a:rPr lang="en-US" smtClean="0"/>
              <a:t>Best Practice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Agenda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Zen Coding</a:t>
            </a:r>
          </a:p>
          <a:p>
            <a:r>
              <a:rPr lang="en-US" smtClean="0"/>
              <a:t>Sass+Haml</a:t>
            </a:r>
          </a:p>
          <a:p>
            <a:r>
              <a:rPr lang="en-US" smtClean="0"/>
              <a:t>Layouts</a:t>
            </a:r>
          </a:p>
          <a:p>
            <a:r>
              <a:rPr lang="en-US" smtClean="0"/>
              <a:t>Feature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2011373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Zen Coding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83568" y="1700808"/>
            <a:ext cx="646246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smtClean="0"/>
              <a:t>Div → &lt;div&gt;&lt;/div&gt;</a:t>
            </a:r>
          </a:p>
          <a:p>
            <a:endParaRPr lang="en-US" sz="3200" smtClean="0"/>
          </a:p>
          <a:p>
            <a:r>
              <a:rPr lang="en-US" sz="3200" smtClean="0"/>
              <a:t>Span → &lt;span&gt;&lt;/span&gt;</a:t>
            </a:r>
          </a:p>
          <a:p>
            <a:endParaRPr lang="en-US" sz="3200" smtClean="0"/>
          </a:p>
          <a:p>
            <a:r>
              <a:rPr lang="en-US" sz="3200" smtClean="0"/>
              <a:t>Form → &lt;form action=’’&gt;&lt;/form&gt;</a:t>
            </a:r>
          </a:p>
          <a:p>
            <a:endParaRPr lang="en-US" sz="3200" smtClean="0"/>
          </a:p>
        </p:txBody>
      </p:sp>
    </p:spTree>
    <p:extLst>
      <p:ext uri="{BB962C8B-B14F-4D97-AF65-F5344CB8AC3E}">
        <p14:creationId xmlns:p14="http://schemas.microsoft.com/office/powerpoint/2010/main" xmlns="" val="164726894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Zen Coding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55576" y="162880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800" smtClean="0"/>
              <a:t>div.search</a:t>
            </a:r>
          </a:p>
          <a:p>
            <a:r>
              <a:rPr lang="en-US" sz="4800" smtClean="0">
                <a:latin typeface="Times New Roman" pitchFamily="18" charset="0"/>
                <a:cs typeface="Times New Roman" pitchFamily="18" charset="0"/>
              </a:rPr>
              <a:t>     or</a:t>
            </a:r>
            <a:endParaRPr lang="uk-UA" sz="480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4800" smtClean="0"/>
              <a:t>.search</a:t>
            </a:r>
            <a:endParaRPr lang="en-US" sz="4800"/>
          </a:p>
        </p:txBody>
      </p:sp>
      <p:sp>
        <p:nvSpPr>
          <p:cNvPr id="5" name="Rectangle 4"/>
          <p:cNvSpPr/>
          <p:nvPr/>
        </p:nvSpPr>
        <p:spPr>
          <a:xfrm>
            <a:off x="3923928" y="3861048"/>
            <a:ext cx="522007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smtClean="0"/>
              <a:t>&lt;div class=”search”&gt;</a:t>
            </a:r>
          </a:p>
          <a:p>
            <a:r>
              <a:rPr lang="en-US" sz="4400" smtClean="0"/>
              <a:t>&lt;/div&gt;</a:t>
            </a:r>
            <a:endParaRPr lang="en-US" sz="4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Zen Coding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403648" y="2924944"/>
            <a:ext cx="4572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400" smtClean="0"/>
              <a:t>p+p</a:t>
            </a:r>
          </a:p>
          <a:p>
            <a:r>
              <a:rPr lang="en-US" sz="4400" smtClean="0">
                <a:solidFill>
                  <a:schemeClr val="bg2">
                    <a:lumMod val="75000"/>
                  </a:schemeClr>
                </a:solidFill>
              </a:rPr>
              <a:t> or</a:t>
            </a:r>
            <a:endParaRPr lang="uk-UA" sz="440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4400" smtClean="0"/>
              <a:t>p*2</a:t>
            </a:r>
            <a:endParaRPr lang="en-US" sz="4400"/>
          </a:p>
        </p:txBody>
      </p:sp>
      <p:sp>
        <p:nvSpPr>
          <p:cNvPr id="6" name="Rectangle 5"/>
          <p:cNvSpPr/>
          <p:nvPr/>
        </p:nvSpPr>
        <p:spPr>
          <a:xfrm>
            <a:off x="5148064" y="3356992"/>
            <a:ext cx="4572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400" smtClean="0"/>
              <a:t>&lt;p&gt;&lt;/p&gt;</a:t>
            </a:r>
          </a:p>
          <a:p>
            <a:r>
              <a:rPr lang="en-US" sz="4400" smtClean="0"/>
              <a:t>&lt;p&gt;&lt;/p&gt;</a:t>
            </a:r>
            <a:endParaRPr lang="en-US" sz="4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Zen Coding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67544" y="3523655"/>
            <a:ext cx="30363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smtClean="0"/>
              <a:t>div.search&gt;p</a:t>
            </a:r>
            <a:endParaRPr lang="en-US" sz="4400"/>
          </a:p>
        </p:txBody>
      </p:sp>
      <p:sp>
        <p:nvSpPr>
          <p:cNvPr id="5" name="Rectangle 4"/>
          <p:cNvSpPr/>
          <p:nvPr/>
        </p:nvSpPr>
        <p:spPr>
          <a:xfrm>
            <a:off x="3923928" y="2852936"/>
            <a:ext cx="522007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smtClean="0"/>
              <a:t>&lt;div class="search"&gt;</a:t>
            </a:r>
          </a:p>
          <a:p>
            <a:r>
              <a:rPr lang="en-US" sz="4400" smtClean="0"/>
              <a:t>&lt;p&gt;&lt;/p&gt;</a:t>
            </a:r>
          </a:p>
          <a:p>
            <a:r>
              <a:rPr lang="en-US" sz="4400" smtClean="0"/>
              <a:t>&lt;/div&gt;</a:t>
            </a:r>
            <a:endParaRPr lang="en-US" sz="4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Zen Coding. Selectors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67544" y="1484784"/>
            <a:ext cx="84292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smtClean="0"/>
              <a:t>form.search&gt;p&gt;input:text+input:submit</a:t>
            </a:r>
            <a:endParaRPr lang="en-US" sz="4000"/>
          </a:p>
        </p:txBody>
      </p:sp>
      <p:sp>
        <p:nvSpPr>
          <p:cNvPr id="5" name="Rectangle 4"/>
          <p:cNvSpPr/>
          <p:nvPr/>
        </p:nvSpPr>
        <p:spPr>
          <a:xfrm>
            <a:off x="539552" y="3212976"/>
            <a:ext cx="806489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smtClean="0"/>
              <a:t>&lt;form action="" class="search"&gt;</a:t>
            </a:r>
          </a:p>
          <a:p>
            <a:r>
              <a:rPr lang="en-US" sz="3200" smtClean="0"/>
              <a:t>  &lt;p&gt;</a:t>
            </a:r>
          </a:p>
          <a:p>
            <a:r>
              <a:rPr lang="en-US" sz="3200" smtClean="0"/>
              <a:t>    &lt;input type="text" name="" id="" /&gt;</a:t>
            </a:r>
          </a:p>
          <a:p>
            <a:r>
              <a:rPr lang="en-US" sz="3200" smtClean="0"/>
              <a:t>    &lt;input type="submit" value="" /&gt;</a:t>
            </a:r>
          </a:p>
          <a:p>
            <a:r>
              <a:rPr lang="en-US" sz="3200" smtClean="0"/>
              <a:t>  &lt;/p&gt;</a:t>
            </a:r>
          </a:p>
          <a:p>
            <a:r>
              <a:rPr lang="en-US" sz="3200" smtClean="0"/>
              <a:t>&lt;/form&gt;</a:t>
            </a:r>
            <a:endParaRPr lang="en-US"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Support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Notepad++</a:t>
            </a:r>
          </a:p>
          <a:p>
            <a:r>
              <a:rPr lang="en-US" smtClean="0"/>
              <a:t>TopStyle</a:t>
            </a:r>
          </a:p>
          <a:p>
            <a:r>
              <a:rPr lang="en-US" smtClean="0"/>
              <a:t>Visual Studio</a:t>
            </a:r>
          </a:p>
          <a:p>
            <a:r>
              <a:rPr lang="en-US" smtClean="0"/>
              <a:t>Coda, Espresso, Textmate</a:t>
            </a:r>
          </a:p>
          <a:p>
            <a:r>
              <a:rPr lang="en-US" smtClean="0"/>
              <a:t>Komodo, Aptana</a:t>
            </a:r>
          </a:p>
          <a:p>
            <a:r>
              <a:rPr lang="en-US" smtClean="0"/>
              <a:t>IntelliJ IDEA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Links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hlinkClick r:id="rId2"/>
              </a:rPr>
              <a:t>http://code.google.com/p/zen-coding/</a:t>
            </a:r>
            <a:endParaRPr lang="en-US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Sass+Haml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11560" y="2132856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mtClean="0"/>
              <a:t>$blue: #3bbfce;</a:t>
            </a:r>
          </a:p>
          <a:p>
            <a:r>
              <a:rPr lang="en-US" smtClean="0"/>
              <a:t>$margin: 16px;</a:t>
            </a:r>
          </a:p>
          <a:p>
            <a:endParaRPr lang="en-US" smtClean="0"/>
          </a:p>
          <a:p>
            <a:r>
              <a:rPr lang="en-US" smtClean="0"/>
              <a:t>.content-navigation {</a:t>
            </a:r>
          </a:p>
          <a:p>
            <a:r>
              <a:rPr lang="en-US" smtClean="0"/>
              <a:t>  border-color: $blue;</a:t>
            </a:r>
          </a:p>
          <a:p>
            <a:r>
              <a:rPr lang="en-US" smtClean="0"/>
              <a:t>  color: darken($blue, 9%);</a:t>
            </a:r>
          </a:p>
          <a:p>
            <a:r>
              <a:rPr lang="en-US" smtClean="0"/>
              <a:t>}</a:t>
            </a:r>
          </a:p>
          <a:p>
            <a:endParaRPr lang="en-US" smtClean="0"/>
          </a:p>
          <a:p>
            <a:r>
              <a:rPr lang="en-US" smtClean="0"/>
              <a:t>.border {</a:t>
            </a:r>
          </a:p>
          <a:p>
            <a:r>
              <a:rPr lang="en-US" smtClean="0"/>
              <a:t>  padding: $margin / 2;</a:t>
            </a:r>
          </a:p>
          <a:p>
            <a:r>
              <a:rPr lang="en-US" smtClean="0"/>
              <a:t>  margin: $margin / 2;</a:t>
            </a:r>
          </a:p>
          <a:p>
            <a:r>
              <a:rPr lang="en-US" smtClean="0"/>
              <a:t>  border-color: $blue;</a:t>
            </a:r>
          </a:p>
          <a:p>
            <a:r>
              <a:rPr lang="en-US" smtClean="0"/>
              <a:t>}</a:t>
            </a: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72000" y="2060848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mtClean="0"/>
              <a:t>.content-navigation {</a:t>
            </a:r>
          </a:p>
          <a:p>
            <a:r>
              <a:rPr lang="en-US" smtClean="0"/>
              <a:t>  border-color: #3bbfce;</a:t>
            </a:r>
          </a:p>
          <a:p>
            <a:r>
              <a:rPr lang="en-US" smtClean="0"/>
              <a:t>  color: #2b9eab;</a:t>
            </a:r>
          </a:p>
          <a:p>
            <a:r>
              <a:rPr lang="en-US" smtClean="0"/>
              <a:t>}</a:t>
            </a:r>
          </a:p>
          <a:p>
            <a:endParaRPr lang="en-US" smtClean="0"/>
          </a:p>
          <a:p>
            <a:r>
              <a:rPr lang="en-US" smtClean="0"/>
              <a:t>.border {</a:t>
            </a:r>
          </a:p>
          <a:p>
            <a:r>
              <a:rPr lang="en-US" smtClean="0"/>
              <a:t>  padding: 8px;</a:t>
            </a:r>
          </a:p>
          <a:p>
            <a:r>
              <a:rPr lang="en-US" smtClean="0"/>
              <a:t>  margin: 8px;</a:t>
            </a:r>
          </a:p>
          <a:p>
            <a:r>
              <a:rPr lang="en-US" smtClean="0"/>
              <a:t>  border-color: #3bbfce;</a:t>
            </a:r>
          </a:p>
          <a:p>
            <a:r>
              <a:rPr lang="en-US" smtClean="0"/>
              <a:t>}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644008" y="1484784"/>
            <a:ext cx="705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smtClean="0"/>
              <a:t>CSS</a:t>
            </a:r>
            <a:endParaRPr lang="en-US" sz="2800"/>
          </a:p>
        </p:txBody>
      </p:sp>
      <p:sp>
        <p:nvSpPr>
          <p:cNvPr id="11" name="TextBox 10"/>
          <p:cNvSpPr txBox="1"/>
          <p:nvPr/>
        </p:nvSpPr>
        <p:spPr>
          <a:xfrm>
            <a:off x="683568" y="1484784"/>
            <a:ext cx="885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smtClean="0"/>
              <a:t>SASS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xmlns="" val="385506440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Links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hlinkClick r:id="rId2"/>
              </a:rPr>
              <a:t>Sass - Syntactically Awesome Stylesheets</a:t>
            </a:r>
            <a:endParaRPr lang="en-US" smtClean="0"/>
          </a:p>
          <a:p>
            <a:r>
              <a:rPr lang="en-US" smtClean="0">
                <a:hlinkClick r:id="rId3"/>
              </a:rPr>
              <a:t>http://compass-style.org/</a:t>
            </a:r>
            <a:endParaRPr lang="en-US" smtClean="0"/>
          </a:p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Layouts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Two Columns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67744" y="2420888"/>
            <a:ext cx="2520280" cy="2952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004048" y="2420888"/>
            <a:ext cx="1584176" cy="2952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Three Columns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67744" y="2420888"/>
            <a:ext cx="2520280" cy="2880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004048" y="2420888"/>
            <a:ext cx="1584176" cy="2952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411760" y="2564904"/>
            <a:ext cx="2232248" cy="259228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General way 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916832"/>
            <a:ext cx="6000750" cy="406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Fluide way</a:t>
            </a:r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700808"/>
            <a:ext cx="60293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15816" y="3068960"/>
            <a:ext cx="329109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smtClean="0"/>
              <a:t>Fixed+Fluid?</a:t>
            </a:r>
            <a:endParaRPr lang="en-US" sz="4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Fixed + Fluid</a:t>
            </a:r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12776"/>
            <a:ext cx="649605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Fixed + Fluid</a:t>
            </a:r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12776"/>
            <a:ext cx="6486525" cy="523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Fixed + Fluid</a:t>
            </a:r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12776"/>
            <a:ext cx="649605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Feature</a:t>
            </a:r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12776"/>
            <a:ext cx="6505575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Questions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51920" y="2132856"/>
            <a:ext cx="135005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60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?</a:t>
            </a:r>
            <a:endParaRPr lang="en-US" sz="1960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4"/>
          <p:cNvSpPr txBox="1">
            <a:spLocks noChangeArrowheads="1"/>
          </p:cNvSpPr>
          <p:nvPr/>
        </p:nvSpPr>
        <p:spPr bwMode="auto">
          <a:xfrm>
            <a:off x="638081" y="5181600"/>
            <a:ext cx="3095719" cy="7078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itchFamily="34" charset="0"/>
              </a:rPr>
              <a:t>Thank You!</a:t>
            </a:r>
          </a:p>
        </p:txBody>
      </p:sp>
      <p:sp>
        <p:nvSpPr>
          <p:cNvPr id="31748" name="Rectangle 8"/>
          <p:cNvSpPr>
            <a:spLocks noChangeArrowheads="1"/>
          </p:cNvSpPr>
          <p:nvPr/>
        </p:nvSpPr>
        <p:spPr bwMode="auto">
          <a:xfrm>
            <a:off x="333375" y="957263"/>
            <a:ext cx="6553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GB" sz="2600" b="1">
              <a:solidFill>
                <a:srgbClr val="5F5F5F"/>
              </a:solidFill>
              <a:latin typeface="Verdana" pitchFamily="34" charset="0"/>
            </a:endParaRPr>
          </a:p>
        </p:txBody>
      </p:sp>
      <p:sp>
        <p:nvSpPr>
          <p:cNvPr id="31749" name="Rectangle 9"/>
          <p:cNvSpPr>
            <a:spLocks noChangeArrowheads="1"/>
          </p:cNvSpPr>
          <p:nvPr/>
        </p:nvSpPr>
        <p:spPr bwMode="auto">
          <a:xfrm>
            <a:off x="609600" y="6429375"/>
            <a:ext cx="3138487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rPr>
              <a:t>Copyright 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  <a:cs typeface="Times New Roman" pitchFamily="18" charset="0"/>
              </a:rPr>
              <a:t>©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rPr>
              <a:t> </a:t>
            </a:r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rPr>
              <a:t>2010 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rPr>
              <a:t>SoftServe, Inc.</a:t>
            </a:r>
          </a:p>
        </p:txBody>
      </p:sp>
      <p:sp>
        <p:nvSpPr>
          <p:cNvPr id="31750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Contacts</a:t>
            </a:r>
          </a:p>
        </p:txBody>
      </p:sp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868363" y="2057400"/>
            <a:ext cx="2897460" cy="2040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chemeClr val="accent6"/>
                </a:solidFill>
                <a:latin typeface="Verdana" pitchFamily="34" charset="0"/>
              </a:rPr>
              <a:t>Europe Headquarters</a:t>
            </a:r>
            <a:r>
              <a:rPr lang="en-GB" sz="1600" b="1" dirty="0">
                <a:solidFill>
                  <a:schemeClr val="accent6"/>
                </a:solidFill>
                <a:latin typeface="Verdana" pitchFamily="34" charset="0"/>
              </a:rPr>
              <a:t> </a:t>
            </a:r>
          </a:p>
          <a:p>
            <a:pPr>
              <a:lnSpc>
                <a:spcPct val="110000"/>
              </a:lnSpc>
              <a:defRPr/>
            </a:pP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>52 V. Velykoho Str.</a:t>
            </a:r>
          </a:p>
          <a:p>
            <a:pPr>
              <a:lnSpc>
                <a:spcPct val="110000"/>
              </a:lnSpc>
              <a:defRPr/>
            </a:pPr>
            <a:r>
              <a:rPr lang="en-GB" sz="1200" dirty="0" err="1">
                <a:solidFill>
                  <a:srgbClr val="333333"/>
                </a:solidFill>
                <a:latin typeface="Verdana" pitchFamily="34" charset="0"/>
              </a:rPr>
              <a:t>Lviv</a:t>
            </a: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> 79053, Ukraine</a:t>
            </a:r>
          </a:p>
          <a:p>
            <a:pPr>
              <a:lnSpc>
                <a:spcPct val="110000"/>
              </a:lnSpc>
              <a:defRPr/>
            </a:pPr>
            <a:endParaRPr lang="en-GB" sz="600" dirty="0">
              <a:solidFill>
                <a:srgbClr val="333333"/>
              </a:solidFill>
              <a:latin typeface="Verdana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>Tel:   +380-32-2</a:t>
            </a:r>
            <a:r>
              <a:rPr lang="en-US" sz="1200" dirty="0">
                <a:solidFill>
                  <a:srgbClr val="333333"/>
                </a:solidFill>
                <a:latin typeface="Verdana" pitchFamily="34" charset="0"/>
              </a:rPr>
              <a:t>40-9090</a:t>
            </a: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/>
            </a:r>
            <a:br>
              <a:rPr lang="en-GB" sz="1200" dirty="0">
                <a:solidFill>
                  <a:srgbClr val="333333"/>
                </a:solidFill>
                <a:latin typeface="Verdana" pitchFamily="34" charset="0"/>
              </a:rPr>
            </a:b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>Fax:  +380-32-2</a:t>
            </a:r>
            <a:r>
              <a:rPr lang="en-US" sz="1200" dirty="0">
                <a:solidFill>
                  <a:srgbClr val="333333"/>
                </a:solidFill>
                <a:latin typeface="Verdana" pitchFamily="34" charset="0"/>
              </a:rPr>
              <a:t>40-9080</a:t>
            </a:r>
          </a:p>
          <a:p>
            <a:pPr>
              <a:lnSpc>
                <a:spcPct val="110000"/>
              </a:lnSpc>
              <a:defRPr/>
            </a:pPr>
            <a:endParaRPr lang="en-GB" sz="600" dirty="0">
              <a:solidFill>
                <a:srgbClr val="333333"/>
              </a:solidFill>
              <a:latin typeface="Verdana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>E-mail: </a:t>
            </a:r>
            <a:r>
              <a:rPr lang="en-GB" sz="1200" dirty="0" smtClean="0">
                <a:solidFill>
                  <a:srgbClr val="333333"/>
                </a:solidFill>
                <a:latin typeface="Verdana" pitchFamily="34" charset="0"/>
              </a:rPr>
              <a:t>info@softserveinc.com</a:t>
            </a:r>
          </a:p>
          <a:p>
            <a:pPr>
              <a:lnSpc>
                <a:spcPct val="110000"/>
              </a:lnSpc>
              <a:defRPr/>
            </a:pPr>
            <a:r>
              <a:rPr lang="en-GB" sz="1200" dirty="0" smtClean="0">
                <a:solidFill>
                  <a:srgbClr val="333333"/>
                </a:solidFill>
                <a:latin typeface="Verdana" pitchFamily="34" charset="0"/>
              </a:rPr>
              <a:t>Website: </a:t>
            </a:r>
            <a:r>
              <a:rPr lang="en-GB" sz="1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www.softserveinc.com</a:t>
            </a:r>
          </a:p>
          <a:p>
            <a:pPr>
              <a:lnSpc>
                <a:spcPct val="110000"/>
              </a:lnSpc>
              <a:defRPr/>
            </a:pPr>
            <a:endParaRPr lang="en-GB" sz="1200" b="1" dirty="0">
              <a:solidFill>
                <a:srgbClr val="333333"/>
              </a:solidFill>
              <a:latin typeface="Verdana" pitchFamily="34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4724400" y="2073275"/>
            <a:ext cx="3733800" cy="1329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chemeClr val="accent6"/>
                </a:solidFill>
                <a:latin typeface="Verdana" pitchFamily="34" charset="0"/>
              </a:rPr>
              <a:t>US Headquarters</a:t>
            </a:r>
          </a:p>
          <a:p>
            <a:pPr>
              <a:lnSpc>
                <a:spcPct val="110000"/>
              </a:lnSpc>
              <a:defRPr/>
            </a:pPr>
            <a:r>
              <a:rPr lang="en-US" sz="1200" dirty="0" smtClean="0">
                <a:solidFill>
                  <a:srgbClr val="333333"/>
                </a:solidFill>
                <a:latin typeface="Verdana" pitchFamily="34" charset="0"/>
              </a:rPr>
              <a:t>12800 University Drive, Suite 250</a:t>
            </a:r>
            <a:r>
              <a:rPr lang="en-US" sz="1200" dirty="0">
                <a:solidFill>
                  <a:srgbClr val="333333"/>
                </a:solidFill>
                <a:latin typeface="Verdana" pitchFamily="34" charset="0"/>
              </a:rPr>
              <a:t/>
            </a:r>
            <a:br>
              <a:rPr lang="en-US" sz="1200" dirty="0">
                <a:solidFill>
                  <a:srgbClr val="333333"/>
                </a:solidFill>
                <a:latin typeface="Verdana" pitchFamily="34" charset="0"/>
              </a:rPr>
            </a:br>
            <a:r>
              <a:rPr lang="en-US" sz="1200" dirty="0">
                <a:solidFill>
                  <a:srgbClr val="333333"/>
                </a:solidFill>
                <a:latin typeface="Verdana" pitchFamily="34" charset="0"/>
              </a:rPr>
              <a:t>Fort Myers, FL </a:t>
            </a:r>
            <a:r>
              <a:rPr lang="en-US" sz="1200" dirty="0" smtClean="0">
                <a:solidFill>
                  <a:srgbClr val="333333"/>
                </a:solidFill>
                <a:latin typeface="Verdana" pitchFamily="34" charset="0"/>
              </a:rPr>
              <a:t>33907, </a:t>
            </a:r>
            <a:r>
              <a:rPr lang="en-US" sz="1200" dirty="0">
                <a:solidFill>
                  <a:srgbClr val="333333"/>
                </a:solidFill>
                <a:latin typeface="Verdana" pitchFamily="34" charset="0"/>
              </a:rPr>
              <a:t>USA</a:t>
            </a:r>
          </a:p>
          <a:p>
            <a:pPr>
              <a:lnSpc>
                <a:spcPct val="110000"/>
              </a:lnSpc>
              <a:defRPr/>
            </a:pPr>
            <a:endParaRPr lang="en-GB" sz="600" dirty="0">
              <a:solidFill>
                <a:srgbClr val="333333"/>
              </a:solidFill>
              <a:latin typeface="Verdana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en-GB" sz="1200" dirty="0" smtClean="0">
                <a:solidFill>
                  <a:srgbClr val="333333"/>
                </a:solidFill>
                <a:latin typeface="Verdana" pitchFamily="34" charset="0"/>
              </a:rPr>
              <a:t>Tel</a:t>
            </a: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>:   </a:t>
            </a:r>
            <a:r>
              <a:rPr lang="en-US" sz="1200" dirty="0">
                <a:solidFill>
                  <a:srgbClr val="333333"/>
                </a:solidFill>
                <a:latin typeface="Verdana" pitchFamily="34" charset="0"/>
              </a:rPr>
              <a:t>239-690-3111 </a:t>
            </a: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/>
            </a:r>
            <a:br>
              <a:rPr lang="en-GB" sz="1200" dirty="0">
                <a:solidFill>
                  <a:srgbClr val="333333"/>
                </a:solidFill>
                <a:latin typeface="Verdana" pitchFamily="34" charset="0"/>
              </a:rPr>
            </a:br>
            <a:r>
              <a:rPr lang="en-GB" sz="1200" dirty="0" smtClean="0">
                <a:solidFill>
                  <a:srgbClr val="333333"/>
                </a:solidFill>
                <a:latin typeface="Verdana" pitchFamily="34" charset="0"/>
              </a:rPr>
              <a:t>Fax</a:t>
            </a: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>:  </a:t>
            </a:r>
            <a:r>
              <a:rPr lang="en-US" sz="1200" dirty="0" smtClean="0">
                <a:solidFill>
                  <a:srgbClr val="333333"/>
                </a:solidFill>
                <a:latin typeface="Verdana" pitchFamily="34" charset="0"/>
              </a:rPr>
              <a:t>239-690-3116</a:t>
            </a:r>
            <a:endParaRPr lang="en-GB" sz="600" dirty="0">
              <a:solidFill>
                <a:srgbClr val="333333"/>
              </a:solidFill>
              <a:latin typeface="Verdana" pitchFamily="34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ftServe Presentation Template 9-201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SoftServe Presentation Template 9-2010</Template>
  <TotalTime>39</TotalTime>
  <Words>319</Words>
  <Application>Microsoft Office PowerPoint</Application>
  <PresentationFormat>On-screen Show (4:3)</PresentationFormat>
  <Paragraphs>107</Paragraphs>
  <Slides>23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SoftServe Presentation Template 9-2010</vt:lpstr>
      <vt:lpstr>Slide 1</vt:lpstr>
      <vt:lpstr>Agenda</vt:lpstr>
      <vt:lpstr>Zen Coding</vt:lpstr>
      <vt:lpstr>Zen Coding</vt:lpstr>
      <vt:lpstr>Zen Coding</vt:lpstr>
      <vt:lpstr>Zen Coding</vt:lpstr>
      <vt:lpstr>Zen Coding. Selectors</vt:lpstr>
      <vt:lpstr>Support</vt:lpstr>
      <vt:lpstr>Links</vt:lpstr>
      <vt:lpstr>Sass+Haml</vt:lpstr>
      <vt:lpstr>Links</vt:lpstr>
      <vt:lpstr>Slide 12</vt:lpstr>
      <vt:lpstr>Two Columns</vt:lpstr>
      <vt:lpstr>Three Columns</vt:lpstr>
      <vt:lpstr>General way </vt:lpstr>
      <vt:lpstr>Fluide way</vt:lpstr>
      <vt:lpstr>Slide 17</vt:lpstr>
      <vt:lpstr>Fixed + Fluid</vt:lpstr>
      <vt:lpstr>Fixed + Fluid</vt:lpstr>
      <vt:lpstr>Fixed + Fluid</vt:lpstr>
      <vt:lpstr>Feature</vt:lpstr>
      <vt:lpstr>Questions</vt:lpstr>
      <vt:lpstr>Contacts</vt:lpstr>
    </vt:vector>
  </TitlesOfParts>
  <Company>ss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vlupynis</dc:creator>
  <cp:lastModifiedBy>vlupynis</cp:lastModifiedBy>
  <cp:revision>22</cp:revision>
  <dcterms:created xsi:type="dcterms:W3CDTF">2012-02-29T13:51:46Z</dcterms:created>
  <dcterms:modified xsi:type="dcterms:W3CDTF">2012-02-29T14:33:34Z</dcterms:modified>
</cp:coreProperties>
</file>