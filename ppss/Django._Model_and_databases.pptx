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0" r:id="rId2"/>
    <p:sldId id="300" r:id="rId3"/>
    <p:sldId id="301" r:id="rId4"/>
    <p:sldId id="303" r:id="rId5"/>
    <p:sldId id="304" r:id="rId6"/>
    <p:sldId id="302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20" r:id="rId22"/>
    <p:sldId id="321" r:id="rId23"/>
    <p:sldId id="322" r:id="rId24"/>
    <p:sldId id="319" r:id="rId25"/>
    <p:sldId id="323" r:id="rId26"/>
    <p:sldId id="324" r:id="rId27"/>
    <p:sldId id="325" r:id="rId28"/>
    <p:sldId id="326" r:id="rId29"/>
    <p:sldId id="327" r:id="rId30"/>
    <p:sldId id="328" r:id="rId31"/>
    <p:sldId id="288" r:id="rId32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223" autoAdjust="0"/>
  </p:normalViewPr>
  <p:slideViewPr>
    <p:cSldViewPr>
      <p:cViewPr varScale="1">
        <p:scale>
          <a:sx n="64" d="100"/>
          <a:sy n="64" d="100"/>
        </p:scale>
        <p:origin x="-21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6D99E-C6D5-4E37-998F-434449DFD517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A4919-15E4-4E35-BCA7-8B3F16CCD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7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15B1D7-BD12-436D-91B8-4E9339709C7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first_name</a:t>
            </a:r>
            <a:r>
              <a:rPr lang="en-US" dirty="0" smtClean="0"/>
              <a:t> and </a:t>
            </a:r>
            <a:r>
              <a:rPr lang="en-US" dirty="0" err="1" smtClean="0"/>
              <a:t>last_name</a:t>
            </a:r>
            <a:r>
              <a:rPr lang="en-US" dirty="0" smtClean="0"/>
              <a:t> are fields of the model. Each field is specified as a class attribute, and each attribute maps to a database column.</a:t>
            </a:r>
          </a:p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A4919-15E4-4E35-BCA7-8B3F16CCD6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92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technical notes:</a:t>
            </a:r>
          </a:p>
          <a:p>
            <a:endParaRPr lang="en-US" dirty="0" smtClean="0"/>
          </a:p>
          <a:p>
            <a:r>
              <a:rPr lang="en-US" dirty="0" smtClean="0"/>
              <a:t>The name of the table, </a:t>
            </a:r>
            <a:r>
              <a:rPr lang="en-US" dirty="0" err="1" smtClean="0"/>
              <a:t>myapp_person</a:t>
            </a:r>
            <a:r>
              <a:rPr lang="en-US" dirty="0" smtClean="0"/>
              <a:t>, is automatically derived from some model metadata but can be overridden. See Table names for more details..</a:t>
            </a:r>
          </a:p>
          <a:p>
            <a:r>
              <a:rPr lang="en-US" dirty="0" smtClean="0"/>
              <a:t>An id field is added automatically, but this behavior can be overridden. See Automatic primary key fields.</a:t>
            </a:r>
          </a:p>
          <a:p>
            <a:r>
              <a:rPr lang="en-US" dirty="0" smtClean="0"/>
              <a:t>The CREATE TABLE SQL in this example is formatted using </a:t>
            </a:r>
            <a:r>
              <a:rPr lang="en-US" dirty="0" err="1" smtClean="0"/>
              <a:t>PostgreSQL</a:t>
            </a:r>
            <a:r>
              <a:rPr lang="en-US" dirty="0" smtClean="0"/>
              <a:t> syntax, but it's worth noting </a:t>
            </a:r>
            <a:r>
              <a:rPr lang="en-US" dirty="0" err="1" smtClean="0"/>
              <a:t>Django</a:t>
            </a:r>
            <a:r>
              <a:rPr lang="en-US" dirty="0" smtClean="0"/>
              <a:t> uses SQL tailored to the database backend specified in your settings file.</a:t>
            </a:r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A4919-15E4-4E35-BCA7-8B3F16CCD6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D948B4-9A84-4BDD-8558-24D1CF0EFAAD}" type="slidenum">
              <a:rPr lang="uk-UA" smtClean="0"/>
              <a:pPr/>
              <a:t>31</a:t>
            </a:fld>
            <a:endParaRPr lang="uk-UA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5663" y="744538"/>
            <a:ext cx="4960937" cy="3722687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9" name="Picture 8" descr="GettyImages_98064892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85245"/>
            <a:ext cx="2058299" cy="14478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20" name="Picture 19" descr="GettyImages_95469335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3695700"/>
            <a:ext cx="2036064" cy="1597152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5" name="Picture 14" descr="GettyImages_97541937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" y="3694463"/>
            <a:ext cx="1981199" cy="1320223"/>
          </a:xfrm>
          <a:prstGeom prst="rect">
            <a:avLst/>
          </a:prstGeom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14" name="Picture 13" descr="UP.jpg"/>
          <p:cNvPicPr>
            <a:picLocks noChangeAspect="1"/>
          </p:cNvPicPr>
          <p:nvPr userDrawn="1"/>
        </p:nvPicPr>
        <p:blipFill>
          <a:blip r:embed="rId3" cstate="print"/>
          <a:srcRect l="1220" t="2137" r="1300" b="1973"/>
          <a:stretch>
            <a:fillRect/>
          </a:stretch>
        </p:blipFill>
        <p:spPr>
          <a:xfrm>
            <a:off x="0" y="3695700"/>
            <a:ext cx="2133600" cy="1198351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8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3074" name="Picture 2" descr="C:\Documents and Settings\rmash\Desktop\GettyImages_stk80021cor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693885"/>
            <a:ext cx="1981200" cy="1981200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4098" name="Picture 2" descr="C:\Documents and Settings\rmash\Desktop\GettyImages_8028195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5" y="3693884"/>
            <a:ext cx="2132835" cy="1420947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5122" name="Picture 2" descr="C:\Documents and Settings\rmash\Desktop\GettyImages_102756315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777" y="3693885"/>
            <a:ext cx="2160778" cy="1439863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softserve-logo-white-for-blue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85800" y="838201"/>
            <a:ext cx="3260034" cy="914400"/>
          </a:xfrm>
          <a:prstGeom prst="rect">
            <a:avLst/>
          </a:prstGeom>
        </p:spPr>
      </p:pic>
      <p:pic>
        <p:nvPicPr>
          <p:cNvPr id="6146" name="Picture 2" descr="C:\Documents and Settings\rmash\Desktop\GettyImages_96502260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01144"/>
            <a:ext cx="2133600" cy="1599814"/>
          </a:xfrm>
          <a:prstGeom prst="rect">
            <a:avLst/>
          </a:prstGeom>
          <a:noFill/>
        </p:spPr>
      </p:pic>
      <p:grpSp>
        <p:nvGrpSpPr>
          <p:cNvPr id="2" name="Group 9"/>
          <p:cNvGrpSpPr/>
          <p:nvPr userDrawn="1"/>
        </p:nvGrpSpPr>
        <p:grpSpPr>
          <a:xfrm>
            <a:off x="0" y="152400"/>
            <a:ext cx="9144000" cy="6553200"/>
            <a:chOff x="0" y="152400"/>
            <a:chExt cx="9144000" cy="6553200"/>
          </a:xfrm>
        </p:grpSpPr>
        <p:sp>
          <p:nvSpPr>
            <p:cNvPr id="11" name="Rectangle 10"/>
            <p:cNvSpPr/>
            <p:nvPr/>
          </p:nvSpPr>
          <p:spPr>
            <a:xfrm>
              <a:off x="0" y="228600"/>
              <a:ext cx="152400" cy="63246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200" y="152400"/>
              <a:ext cx="533400" cy="65532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381500" y="-876301"/>
              <a:ext cx="380999" cy="9144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962400"/>
            <a:ext cx="7772400" cy="4445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1"/>
            <a:ext cx="9144000" cy="369331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228600"/>
            <a:ext cx="152400" cy="63246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6200" y="152400"/>
            <a:ext cx="533400" cy="65532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4381500" y="-876301"/>
            <a:ext cx="380999" cy="9144000"/>
          </a:xfrm>
          <a:prstGeom prst="rect">
            <a:avLst/>
          </a:prstGeom>
          <a:solidFill>
            <a:schemeClr val="tx2">
              <a:lumMod val="20000"/>
              <a:lumOff val="8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oftserve logo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15200" y="6324600"/>
            <a:ext cx="1428750" cy="400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Font typeface="Wingdings" pitchFamily="2" charset="2"/>
              <a:buChar char="§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1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2pPr>
            <a:lvl3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ED19-93A4-45AB-9AB4-151D3539CCFC}" type="datetimeFigureOut">
              <a:rPr lang="en-US" smtClean="0"/>
              <a:pPr/>
              <a:t>12/11/2011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B254-F9CB-41C5-B120-F4B38BF220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6200000">
            <a:off x="-2781300" y="3771900"/>
            <a:ext cx="5867400" cy="304800"/>
          </a:xfrm>
          <a:prstGeom prst="rect">
            <a:avLst/>
          </a:prstGeom>
          <a:solidFill>
            <a:schemeClr val="accent6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2400" y="1600200"/>
            <a:ext cx="228600" cy="4953000"/>
          </a:xfrm>
          <a:prstGeom prst="rect">
            <a:avLst/>
          </a:prstGeom>
          <a:solidFill>
            <a:schemeClr val="accent1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0" r:id="rId4"/>
    <p:sldLayoutId id="2147483662" r:id="rId5"/>
    <p:sldLayoutId id="2147483663" r:id="rId6"/>
    <p:sldLayoutId id="2147483664" r:id="rId7"/>
    <p:sldLayoutId id="2147483665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dev/ref/models/fields/#model-field-types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en/dev/ref/models/instances/#model-instance-methods" TargetMode="External"/><Relationship Id="rId2" Type="http://schemas.openxmlformats.org/officeDocument/2006/relationships/hyperlink" Target="https://docs.djangoproject.com/en/dev/ref/models/instances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ocs.djangoproject.com/en/dev/topics/db/models/#overriding-predefined-model-methods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0" y="60960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 smtClean="0"/>
          </a:p>
          <a:p>
            <a:pPr algn="r"/>
            <a:r>
              <a:rPr lang="en-US" sz="1200" dirty="0" err="1" smtClean="0"/>
              <a:t>Vasyl</a:t>
            </a:r>
            <a:r>
              <a:rPr lang="en-US" sz="1200" dirty="0" smtClean="0"/>
              <a:t> </a:t>
            </a:r>
            <a:r>
              <a:rPr lang="en-US" sz="1200" dirty="0" err="1" smtClean="0"/>
              <a:t>Lupynis</a:t>
            </a:r>
            <a:endParaRPr lang="en-US" sz="1200" dirty="0" smtClean="0"/>
          </a:p>
          <a:p>
            <a:pPr algn="r"/>
            <a:r>
              <a:rPr lang="en-US" sz="1200" dirty="0" smtClean="0"/>
              <a:t>11/12/2011</a:t>
            </a:r>
            <a:endParaRPr lang="en-US" sz="120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Django</a:t>
            </a:r>
            <a:r>
              <a:rPr lang="en-US" dirty="0" smtClean="0"/>
              <a:t>. Models and databases.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  <a:p>
            <a:r>
              <a:rPr lang="en-US" dirty="0"/>
              <a:t>Making queries</a:t>
            </a:r>
          </a:p>
          <a:p>
            <a:r>
              <a:rPr lang="en-US" dirty="0"/>
              <a:t>Aggregation</a:t>
            </a:r>
          </a:p>
          <a:p>
            <a:r>
              <a:rPr lang="en-US" dirty="0"/>
              <a:t>Managers</a:t>
            </a:r>
          </a:p>
          <a:p>
            <a:r>
              <a:rPr lang="en-US" dirty="0"/>
              <a:t>Performing raw SQL queries</a:t>
            </a:r>
          </a:p>
          <a:p>
            <a:r>
              <a:rPr lang="en-US" dirty="0"/>
              <a:t>Managing database transactions</a:t>
            </a:r>
          </a:p>
          <a:p>
            <a:r>
              <a:rPr lang="en-US" dirty="0"/>
              <a:t>Multiple databases</a:t>
            </a:r>
          </a:p>
          <a:p>
            <a:r>
              <a:rPr lang="en-US" dirty="0" err="1"/>
              <a:t>Tablespaces</a:t>
            </a:r>
            <a:endParaRPr lang="en-US" dirty="0"/>
          </a:p>
          <a:p>
            <a:r>
              <a:rPr lang="en-US" dirty="0"/>
              <a:t>Database access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2011373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uk-U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6893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is the single, definitive source of data about your data.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contains the essential fields and behaviors of the data you’re storing. </a:t>
            </a:r>
            <a:endParaRPr lang="en-US" dirty="0" smtClean="0"/>
          </a:p>
          <a:p>
            <a:r>
              <a:rPr lang="en-US" dirty="0" smtClean="0"/>
              <a:t>Generally</a:t>
            </a:r>
            <a:r>
              <a:rPr lang="en-US" dirty="0"/>
              <a:t>, each model maps to a single database table.</a:t>
            </a:r>
          </a:p>
        </p:txBody>
      </p:sp>
    </p:spTree>
    <p:extLst>
      <p:ext uri="{BB962C8B-B14F-4D97-AF65-F5344CB8AC3E}">
        <p14:creationId xmlns:p14="http://schemas.microsoft.com/office/powerpoint/2010/main" val="164726894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model is a Python class that subclasses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django.db.models.Model</a:t>
            </a:r>
            <a:r>
              <a:rPr lang="en-US" dirty="0"/>
              <a:t>.</a:t>
            </a:r>
          </a:p>
          <a:p>
            <a:r>
              <a:rPr lang="en-US" dirty="0"/>
              <a:t>Each attribute of the model represents a database field.</a:t>
            </a:r>
          </a:p>
          <a:p>
            <a:r>
              <a:rPr lang="en-US" dirty="0"/>
              <a:t>With all of this, </a:t>
            </a:r>
            <a:r>
              <a:rPr lang="en-US" dirty="0" err="1"/>
              <a:t>Django</a:t>
            </a:r>
            <a:r>
              <a:rPr lang="en-US" dirty="0"/>
              <a:t> gives you an automatically-generated database-access </a:t>
            </a:r>
            <a:r>
              <a:rPr lang="en-US" dirty="0" smtClean="0"/>
              <a:t>API.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741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/>
          <a:lstStyle/>
          <a:p>
            <a:r>
              <a:rPr lang="en-US" dirty="0"/>
              <a:t>This example model defines 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/>
              <a:t>, which has a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first_name</a:t>
            </a:r>
            <a:r>
              <a:rPr lang="en-US" dirty="0"/>
              <a:t> and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last_name</a:t>
            </a:r>
            <a:r>
              <a:rPr lang="en-US" dirty="0" smtClean="0"/>
              <a:t>:</a:t>
            </a:r>
            <a:endParaRPr lang="uk-UA" dirty="0"/>
          </a:p>
        </p:txBody>
      </p:sp>
      <p:sp>
        <p:nvSpPr>
          <p:cNvPr id="8" name="Rectangle 7"/>
          <p:cNvSpPr/>
          <p:nvPr/>
        </p:nvSpPr>
        <p:spPr>
          <a:xfrm>
            <a:off x="899592" y="2708920"/>
            <a:ext cx="45720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uk-UA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django.db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import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models</a:t>
            </a:r>
            <a:endParaRPr lang="uk-UA" dirty="0">
              <a:latin typeface="Courier New" pitchFamily="49" charset="0"/>
              <a:cs typeface="Courier New" pitchFamily="49" charset="0"/>
            </a:endParaRPr>
          </a:p>
          <a:p>
            <a:r>
              <a:rPr lang="uk-UA" dirty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uk-UA" b="1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Person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models</a:t>
            </a:r>
            <a:r>
              <a:rPr lang="uk-UA" b="1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Model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uk-UA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firs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t_name 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models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CharField(max_length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30)</a:t>
            </a:r>
          </a:p>
          <a:p>
            <a:r>
              <a:rPr lang="uk-UA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last_na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me 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 models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CharField(max_length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30)</a:t>
            </a:r>
          </a:p>
        </p:txBody>
      </p:sp>
    </p:spTree>
    <p:extLst>
      <p:ext uri="{BB962C8B-B14F-4D97-AF65-F5344CB8AC3E}">
        <p14:creationId xmlns:p14="http://schemas.microsoft.com/office/powerpoint/2010/main" val="385506440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2"/>
          </a:xfrm>
        </p:spPr>
        <p:txBody>
          <a:bodyPr/>
          <a:lstStyle/>
          <a:p>
            <a:r>
              <a:rPr lang="en-US" dirty="0"/>
              <a:t>The above Person model would create a database table like this:</a:t>
            </a:r>
            <a:endParaRPr lang="uk-UA" dirty="0"/>
          </a:p>
        </p:txBody>
      </p:sp>
      <p:sp>
        <p:nvSpPr>
          <p:cNvPr id="6" name="Rectangle 5"/>
          <p:cNvSpPr/>
          <p:nvPr/>
        </p:nvSpPr>
        <p:spPr>
          <a:xfrm>
            <a:off x="1653423" y="2708920"/>
            <a:ext cx="617443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myapp_person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(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"id" serial NOT NULL PRIMARY KEY,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"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first_name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(30) NOT NULL,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"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last_name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varchar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(30) NOT NULL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uk-UA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97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smtClean="0"/>
              <a:t>models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Once you have defined your models, you need to tell </a:t>
            </a:r>
            <a:r>
              <a:rPr lang="en-US" dirty="0" err="1"/>
              <a:t>Django</a:t>
            </a:r>
            <a:r>
              <a:rPr lang="en-US" dirty="0"/>
              <a:t> you're going to use those models. Do this by editing your settings file and changing the INSTALLED_APPS setting to add the name of the module that contains your models.py</a:t>
            </a:r>
            <a:r>
              <a:rPr lang="en-US" dirty="0" smtClean="0"/>
              <a:t>.</a:t>
            </a:r>
          </a:p>
          <a:p>
            <a:r>
              <a:rPr lang="en-US" dirty="0"/>
              <a:t>For example, if the models for your application live in the module </a:t>
            </a:r>
            <a:r>
              <a:rPr lang="en-US" dirty="0" err="1"/>
              <a:t>mysite.myapp.models</a:t>
            </a:r>
            <a:r>
              <a:rPr lang="en-US" dirty="0"/>
              <a:t> (the package structure that is created for an application by the manage.py </a:t>
            </a:r>
            <a:r>
              <a:rPr lang="en-US" dirty="0" err="1"/>
              <a:t>startapp</a:t>
            </a:r>
            <a:r>
              <a:rPr lang="en-US" dirty="0"/>
              <a:t> script), INSTALLED_APPS should read, in part: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2123728" y="4365104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INSTALLED_APPS = (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#...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'</a:t>
            </a:r>
            <a:r>
              <a:rPr lang="en-US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mysite.myapp</a:t>
            </a:r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',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 #...</a:t>
            </a:r>
          </a:p>
          <a:p>
            <a:r>
              <a:rPr lang="en-US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uk-UA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23728" y="594928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When you add new apps to INSTALLED_APPS, be sure to run manage.py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</a:rPr>
              <a:t>syncdb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!</a:t>
            </a:r>
            <a:endParaRPr lang="uk-UA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79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Person model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Create </a:t>
            </a:r>
            <a:r>
              <a:rPr lang="en-US" dirty="0" err="1" smtClean="0"/>
              <a:t>Django</a:t>
            </a:r>
            <a:r>
              <a:rPr lang="en-US" dirty="0" smtClean="0"/>
              <a:t> project</a:t>
            </a:r>
          </a:p>
          <a:p>
            <a:pPr lvl="1"/>
            <a:r>
              <a:rPr lang="en-US" dirty="0" err="1" smtClean="0"/>
              <a:t>django</a:t>
            </a:r>
            <a:r>
              <a:rPr lang="en-US" dirty="0" smtClean="0"/>
              <a:t>-admin </a:t>
            </a:r>
            <a:r>
              <a:rPr lang="en-US" dirty="0" err="1" smtClean="0"/>
              <a:t>startproject</a:t>
            </a:r>
            <a:r>
              <a:rPr lang="en-US" dirty="0" smtClean="0"/>
              <a:t> </a:t>
            </a:r>
            <a:r>
              <a:rPr lang="en-US" dirty="0" err="1" smtClean="0"/>
              <a:t>testproject</a:t>
            </a:r>
            <a:endParaRPr lang="en-US" dirty="0" smtClean="0"/>
          </a:p>
          <a:p>
            <a:r>
              <a:rPr lang="en-US" dirty="0" smtClean="0"/>
              <a:t>Configure </a:t>
            </a:r>
            <a:r>
              <a:rPr lang="en-US" dirty="0" err="1" smtClean="0"/>
              <a:t>db</a:t>
            </a:r>
            <a:r>
              <a:rPr lang="en-US" dirty="0" smtClean="0"/>
              <a:t> backend</a:t>
            </a:r>
          </a:p>
          <a:p>
            <a:pPr lvl="1"/>
            <a:r>
              <a:rPr lang="en-US" dirty="0" smtClean="0"/>
              <a:t>You can use any </a:t>
            </a:r>
            <a:r>
              <a:rPr lang="en-US" dirty="0" err="1" smtClean="0"/>
              <a:t>db</a:t>
            </a:r>
            <a:r>
              <a:rPr lang="en-US" dirty="0" smtClean="0"/>
              <a:t> backend (e.g. sqlite3, do not forget to specify database name)</a:t>
            </a:r>
          </a:p>
          <a:p>
            <a:r>
              <a:rPr lang="en-US" dirty="0" smtClean="0"/>
              <a:t>Create new app</a:t>
            </a:r>
          </a:p>
          <a:p>
            <a:pPr lvl="1"/>
            <a:r>
              <a:rPr lang="en-US" dirty="0" smtClean="0"/>
              <a:t>./manage.py </a:t>
            </a:r>
            <a:r>
              <a:rPr lang="en-US" dirty="0" err="1" smtClean="0"/>
              <a:t>startapp</a:t>
            </a:r>
            <a:r>
              <a:rPr lang="en-US" dirty="0" smtClean="0"/>
              <a:t> </a:t>
            </a:r>
            <a:r>
              <a:rPr lang="en-US" dirty="0" err="1" smtClean="0"/>
              <a:t>personmanager</a:t>
            </a:r>
            <a:endParaRPr lang="en-US" dirty="0" smtClean="0"/>
          </a:p>
          <a:p>
            <a:r>
              <a:rPr lang="en-US" dirty="0" smtClean="0"/>
              <a:t>Add item to INSTALLED_APPS</a:t>
            </a:r>
          </a:p>
          <a:p>
            <a:pPr lvl="1"/>
            <a:r>
              <a:rPr lang="en-US" dirty="0" smtClean="0"/>
              <a:t>‘</a:t>
            </a:r>
            <a:r>
              <a:rPr lang="en-US" dirty="0" err="1" smtClean="0"/>
              <a:t>testproject.personmanager</a:t>
            </a:r>
            <a:r>
              <a:rPr lang="en-US" dirty="0" smtClean="0"/>
              <a:t>’ or ‘</a:t>
            </a:r>
            <a:r>
              <a:rPr lang="en-US" dirty="0" err="1" smtClean="0"/>
              <a:t>personmanager</a:t>
            </a:r>
            <a:r>
              <a:rPr lang="en-US" dirty="0" smtClean="0"/>
              <a:t>’</a:t>
            </a:r>
          </a:p>
          <a:p>
            <a:r>
              <a:rPr lang="en-US" dirty="0" smtClean="0"/>
              <a:t>Synchronize </a:t>
            </a:r>
            <a:r>
              <a:rPr lang="en-US" dirty="0" err="1" smtClean="0"/>
              <a:t>db</a:t>
            </a:r>
            <a:endParaRPr lang="en-US" dirty="0" smtClean="0"/>
          </a:p>
          <a:p>
            <a:pPr lvl="1"/>
            <a:r>
              <a:rPr lang="en-US" dirty="0" smtClean="0"/>
              <a:t>./manage.py </a:t>
            </a:r>
            <a:r>
              <a:rPr lang="en-US" dirty="0" err="1" smtClean="0"/>
              <a:t>syncdb</a:t>
            </a:r>
            <a:r>
              <a:rPr lang="en-US" dirty="0" smtClean="0"/>
              <a:t> (./manage.py </a:t>
            </a:r>
            <a:r>
              <a:rPr lang="en-US" dirty="0" err="1" smtClean="0"/>
              <a:t>sql</a:t>
            </a:r>
            <a:r>
              <a:rPr lang="en-US" dirty="0" smtClean="0"/>
              <a:t> </a:t>
            </a:r>
            <a:r>
              <a:rPr lang="en-US" dirty="0" err="1" smtClean="0"/>
              <a:t>personmanager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Start </a:t>
            </a:r>
            <a:r>
              <a:rPr lang="en-US" dirty="0" err="1"/>
              <a:t>D</a:t>
            </a:r>
            <a:r>
              <a:rPr lang="en-US" dirty="0" err="1" smtClean="0"/>
              <a:t>jango</a:t>
            </a:r>
            <a:r>
              <a:rPr lang="en-US" dirty="0" smtClean="0"/>
              <a:t> project in shell mode</a:t>
            </a:r>
          </a:p>
          <a:p>
            <a:pPr lvl="1"/>
            <a:r>
              <a:rPr lang="en-US" dirty="0" smtClean="0"/>
              <a:t>./manage.py shell</a:t>
            </a:r>
          </a:p>
          <a:p>
            <a:r>
              <a:rPr lang="en-US" dirty="0" smtClean="0"/>
              <a:t>Import Person model</a:t>
            </a:r>
          </a:p>
          <a:p>
            <a:pPr lvl="1"/>
            <a:r>
              <a:rPr lang="en-US" dirty="0" smtClean="0"/>
              <a:t>from </a:t>
            </a:r>
            <a:r>
              <a:rPr lang="en-US" dirty="0" err="1" smtClean="0"/>
              <a:t>personmanager.models</a:t>
            </a:r>
            <a:r>
              <a:rPr lang="en-US" dirty="0" smtClean="0"/>
              <a:t> import Person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1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Person model. CRUD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Create new row in person table is create instance of Person class and invoke save method</a:t>
            </a:r>
          </a:p>
          <a:p>
            <a:pPr lvl="1"/>
            <a:r>
              <a:rPr lang="en-US" dirty="0" smtClean="0"/>
              <a:t>p = Person(</a:t>
            </a:r>
            <a:r>
              <a:rPr lang="en-US" dirty="0" err="1" smtClean="0"/>
              <a:t>first_name</a:t>
            </a:r>
            <a:r>
              <a:rPr lang="en-US" dirty="0" smtClean="0"/>
              <a:t> = “Petro”, </a:t>
            </a:r>
            <a:r>
              <a:rPr lang="en-US" dirty="0" err="1" smtClean="0"/>
              <a:t>last_name</a:t>
            </a:r>
            <a:r>
              <a:rPr lang="en-US" dirty="0" smtClean="0"/>
              <a:t> = “</a:t>
            </a:r>
            <a:r>
              <a:rPr lang="en-US" dirty="0" err="1" smtClean="0"/>
              <a:t>Ivanov</a:t>
            </a:r>
            <a:r>
              <a:rPr lang="en-US" dirty="0" smtClean="0"/>
              <a:t>”)</a:t>
            </a:r>
          </a:p>
          <a:p>
            <a:pPr lvl="1"/>
            <a:r>
              <a:rPr lang="en-US" dirty="0" err="1" smtClean="0"/>
              <a:t>p.save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Update row data is update instance attribute value</a:t>
            </a:r>
          </a:p>
          <a:p>
            <a:pPr lvl="1"/>
            <a:r>
              <a:rPr lang="en-US" dirty="0" err="1" smtClean="0"/>
              <a:t>p.first_name</a:t>
            </a:r>
            <a:r>
              <a:rPr lang="en-US" dirty="0" smtClean="0"/>
              <a:t> = “Ivan”</a:t>
            </a:r>
          </a:p>
          <a:p>
            <a:pPr lvl="1"/>
            <a:r>
              <a:rPr lang="en-US" dirty="0" err="1" smtClean="0"/>
              <a:t>p.save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Delete row</a:t>
            </a:r>
          </a:p>
          <a:p>
            <a:pPr lvl="1"/>
            <a:r>
              <a:rPr lang="en-US" dirty="0" err="1" smtClean="0"/>
              <a:t>p.delete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Select all rows </a:t>
            </a:r>
          </a:p>
          <a:p>
            <a:pPr lvl="1"/>
            <a:r>
              <a:rPr lang="en-US" dirty="0" err="1" smtClean="0"/>
              <a:t>Person.objects.all</a:t>
            </a:r>
            <a:r>
              <a:rPr lang="en-US" dirty="0" smtClean="0"/>
              <a:t>() #return all rows as Person instances collection</a:t>
            </a:r>
          </a:p>
          <a:p>
            <a:endParaRPr lang="en-US" dirty="0" smtClean="0"/>
          </a:p>
          <a:p>
            <a:pPr lvl="1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9942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continue…</a:t>
            </a:r>
            <a:endParaRPr lang="uk-U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422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Fields</a:t>
            </a:r>
            <a:endParaRPr lang="uk-U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important part of a model </a:t>
            </a:r>
            <a:r>
              <a:rPr lang="en-US" dirty="0" smtClean="0"/>
              <a:t>- </a:t>
            </a:r>
            <a:r>
              <a:rPr lang="en-US" dirty="0"/>
              <a:t>and the only required part of a model </a:t>
            </a:r>
            <a:r>
              <a:rPr lang="en-US" dirty="0" smtClean="0"/>
              <a:t>- </a:t>
            </a:r>
            <a:r>
              <a:rPr lang="en-US" dirty="0"/>
              <a:t>is the list of database fields it defines. Fields are specified by class attributes.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38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types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field in your model should be an instance of the appropriate Field class. </a:t>
            </a:r>
            <a:r>
              <a:rPr lang="en-US" dirty="0" err="1"/>
              <a:t>Django</a:t>
            </a:r>
            <a:r>
              <a:rPr lang="en-US" dirty="0"/>
              <a:t> uses the field class types to determine a few things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The database column type (e.g. INTEGER, VARCHAR).</a:t>
            </a:r>
          </a:p>
          <a:p>
            <a:pPr lvl="1"/>
            <a:r>
              <a:rPr lang="en-US" dirty="0"/>
              <a:t>The widget to use in </a:t>
            </a:r>
            <a:r>
              <a:rPr lang="en-US" dirty="0" err="1"/>
              <a:t>Django's</a:t>
            </a:r>
            <a:r>
              <a:rPr lang="en-US" dirty="0"/>
              <a:t> admin interface, if you care to use it (e.g. &lt;input type="text"&gt;, &lt;select&gt;).</a:t>
            </a:r>
          </a:p>
          <a:p>
            <a:pPr lvl="1"/>
            <a:r>
              <a:rPr lang="en-US" dirty="0"/>
              <a:t>The minimal validation requirements, used in </a:t>
            </a:r>
            <a:r>
              <a:rPr lang="en-US" dirty="0" err="1"/>
              <a:t>Django's</a:t>
            </a:r>
            <a:r>
              <a:rPr lang="en-US" dirty="0"/>
              <a:t> admin and in automatically-generated forms.</a:t>
            </a:r>
          </a:p>
          <a:p>
            <a:r>
              <a:rPr lang="en-US" dirty="0" err="1"/>
              <a:t>Django</a:t>
            </a:r>
            <a:r>
              <a:rPr lang="en-US" dirty="0"/>
              <a:t> ships with dozens of built-in field </a:t>
            </a:r>
            <a:r>
              <a:rPr lang="en-US" dirty="0" smtClean="0"/>
              <a:t>types. You </a:t>
            </a:r>
            <a:r>
              <a:rPr lang="en-US" dirty="0"/>
              <a:t>can easily write your own fields if </a:t>
            </a:r>
            <a:r>
              <a:rPr lang="en-US" dirty="0" err="1"/>
              <a:t>Django's</a:t>
            </a:r>
            <a:r>
              <a:rPr lang="en-US" dirty="0"/>
              <a:t> built-in ones don't do the </a:t>
            </a:r>
            <a:r>
              <a:rPr lang="en-US" dirty="0" smtClean="0"/>
              <a:t>trick.</a:t>
            </a:r>
          </a:p>
          <a:p>
            <a:r>
              <a:rPr lang="en-US" dirty="0" smtClean="0">
                <a:hlinkClick r:id="rId2"/>
              </a:rPr>
              <a:t>Model fields reference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90286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options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Each field takes a certain set of field-specific arguments (documented in the model field reference). For example, </a:t>
            </a:r>
            <a:r>
              <a:rPr lang="en-US" dirty="0" err="1"/>
              <a:t>CharField</a:t>
            </a:r>
            <a:r>
              <a:rPr lang="en-US" dirty="0"/>
              <a:t> (and its subclasses) require a </a:t>
            </a:r>
            <a:r>
              <a:rPr lang="en-US" dirty="0" err="1"/>
              <a:t>max_length</a:t>
            </a:r>
            <a:r>
              <a:rPr lang="en-US" dirty="0"/>
              <a:t> argument which specifies the size of the VARCHAR database field used to store the data.</a:t>
            </a:r>
          </a:p>
          <a:p>
            <a:endParaRPr lang="en-US" dirty="0"/>
          </a:p>
          <a:p>
            <a:r>
              <a:rPr lang="en-US" dirty="0"/>
              <a:t>There's also a set of common arguments available to all field types. All are optional. They're fully explained in the reference, but here's a quick summary of the most often-used ones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null</a:t>
            </a:r>
          </a:p>
          <a:p>
            <a:pPr lvl="1"/>
            <a:r>
              <a:rPr lang="en-US" dirty="0" smtClean="0"/>
              <a:t>blank</a:t>
            </a:r>
          </a:p>
          <a:p>
            <a:pPr lvl="1"/>
            <a:r>
              <a:rPr lang="en-US" dirty="0" smtClean="0"/>
              <a:t>choices</a:t>
            </a:r>
          </a:p>
          <a:p>
            <a:pPr lvl="1"/>
            <a:r>
              <a:rPr lang="en-US" dirty="0" smtClean="0"/>
              <a:t>default</a:t>
            </a:r>
          </a:p>
          <a:p>
            <a:pPr lvl="1"/>
            <a:r>
              <a:rPr lang="en-US" dirty="0" err="1" smtClean="0"/>
              <a:t>help_text</a:t>
            </a:r>
            <a:endParaRPr lang="en-US" dirty="0" smtClean="0"/>
          </a:p>
          <a:p>
            <a:pPr lvl="1"/>
            <a:r>
              <a:rPr lang="en-US" dirty="0" err="1" smtClean="0"/>
              <a:t>primary_key</a:t>
            </a:r>
            <a:endParaRPr lang="en-US" dirty="0" smtClean="0"/>
          </a:p>
          <a:p>
            <a:pPr lvl="1"/>
            <a:r>
              <a:rPr lang="en-US" dirty="0" smtClean="0"/>
              <a:t>unique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90109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1412776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django.db</a:t>
            </a:r>
            <a:r>
              <a:rPr lang="en-US" dirty="0"/>
              <a:t> import models</a:t>
            </a:r>
          </a:p>
          <a:p>
            <a:endParaRPr lang="en-US" dirty="0"/>
          </a:p>
          <a:p>
            <a:r>
              <a:rPr lang="en-US" dirty="0"/>
              <a:t>class Person(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GENDER_CHOICES = (</a:t>
            </a:r>
          </a:p>
          <a:p>
            <a:r>
              <a:rPr lang="en-US" dirty="0"/>
              <a:t>        (</a:t>
            </a:r>
            <a:r>
              <a:rPr lang="en-US" dirty="0" err="1"/>
              <a:t>u'M</a:t>
            </a:r>
            <a:r>
              <a:rPr lang="en-US" dirty="0"/>
              <a:t>', </a:t>
            </a:r>
            <a:r>
              <a:rPr lang="en-US" dirty="0" err="1"/>
              <a:t>u'Male</a:t>
            </a:r>
            <a:r>
              <a:rPr lang="en-US" dirty="0"/>
              <a:t>'),</a:t>
            </a:r>
          </a:p>
          <a:p>
            <a:r>
              <a:rPr lang="en-US" dirty="0"/>
              <a:t>        (</a:t>
            </a:r>
            <a:r>
              <a:rPr lang="en-US" dirty="0" err="1"/>
              <a:t>u'F</a:t>
            </a:r>
            <a:r>
              <a:rPr lang="en-US" dirty="0"/>
              <a:t>', </a:t>
            </a:r>
            <a:r>
              <a:rPr lang="en-US" dirty="0" err="1"/>
              <a:t>u'Female</a:t>
            </a:r>
            <a:r>
              <a:rPr lang="en-US" dirty="0"/>
              <a:t>'),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    name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=60)</a:t>
            </a:r>
          </a:p>
          <a:p>
            <a:r>
              <a:rPr lang="en-US" dirty="0"/>
              <a:t>    gender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=2, choices=GENDER_CHOICES)</a:t>
            </a:r>
            <a:endParaRPr lang="uk-UA" dirty="0"/>
          </a:p>
        </p:txBody>
      </p:sp>
      <p:sp>
        <p:nvSpPr>
          <p:cNvPr id="5" name="Rectangle 4"/>
          <p:cNvSpPr/>
          <p:nvPr/>
        </p:nvSpPr>
        <p:spPr>
          <a:xfrm>
            <a:off x="468372" y="448955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&gt;&gt;&gt; p = Person(name="Fred Flintstone", gender="M")</a:t>
            </a:r>
          </a:p>
          <a:p>
            <a:r>
              <a:rPr lang="en-US" dirty="0"/>
              <a:t>&gt;&gt;&gt; </a:t>
            </a:r>
            <a:r>
              <a:rPr lang="en-US" dirty="0" err="1"/>
              <a:t>p.save</a:t>
            </a:r>
            <a:r>
              <a:rPr lang="en-US" dirty="0"/>
              <a:t>()</a:t>
            </a:r>
          </a:p>
          <a:p>
            <a:r>
              <a:rPr lang="en-US" dirty="0"/>
              <a:t>&gt;&gt;&gt; </a:t>
            </a:r>
            <a:r>
              <a:rPr lang="en-US" dirty="0" err="1"/>
              <a:t>p.gender</a:t>
            </a:r>
            <a:endParaRPr lang="en-US" dirty="0"/>
          </a:p>
          <a:p>
            <a:r>
              <a:rPr lang="en-US" dirty="0" err="1"/>
              <a:t>u'M</a:t>
            </a:r>
            <a:r>
              <a:rPr lang="en-US" dirty="0"/>
              <a:t>'</a:t>
            </a:r>
          </a:p>
          <a:p>
            <a:r>
              <a:rPr lang="en-US" dirty="0"/>
              <a:t>&gt;&gt;&gt; </a:t>
            </a:r>
            <a:r>
              <a:rPr lang="en-US" dirty="0" err="1"/>
              <a:t>p.get_gender_display</a:t>
            </a:r>
            <a:r>
              <a:rPr lang="en-US" dirty="0"/>
              <a:t>()</a:t>
            </a:r>
          </a:p>
          <a:p>
            <a:r>
              <a:rPr lang="en-US" dirty="0" err="1"/>
              <a:t>u'Male</a:t>
            </a:r>
            <a:r>
              <a:rPr lang="en-US" dirty="0"/>
              <a:t>'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735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primary key fields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</a:t>
            </a:r>
            <a:r>
              <a:rPr lang="en-US" dirty="0" err="1"/>
              <a:t>Django</a:t>
            </a:r>
            <a:r>
              <a:rPr lang="en-US" dirty="0"/>
              <a:t> gives each model the following field</a:t>
            </a:r>
            <a:r>
              <a:rPr lang="en-US" dirty="0" smtClean="0"/>
              <a:t>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id </a:t>
            </a:r>
            <a:r>
              <a:rPr lang="en-US" dirty="0"/>
              <a:t>= </a:t>
            </a:r>
            <a:r>
              <a:rPr lang="en-US" dirty="0" err="1"/>
              <a:t>models.AutoField</a:t>
            </a:r>
            <a:r>
              <a:rPr lang="en-US" dirty="0"/>
              <a:t>(</a:t>
            </a:r>
            <a:r>
              <a:rPr lang="en-US" dirty="0" err="1"/>
              <a:t>primary_key</a:t>
            </a:r>
            <a:r>
              <a:rPr lang="en-US" dirty="0"/>
              <a:t>=True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an auto-incrementing primary key.</a:t>
            </a:r>
          </a:p>
          <a:p>
            <a:r>
              <a:rPr lang="en-US" dirty="0" smtClean="0"/>
              <a:t>If </a:t>
            </a:r>
            <a:r>
              <a:rPr lang="en-US" dirty="0"/>
              <a:t>you'd like to specify a custom primary key, just specify </a:t>
            </a:r>
            <a:r>
              <a:rPr lang="en-US" dirty="0" err="1"/>
              <a:t>primary_key</a:t>
            </a:r>
            <a:r>
              <a:rPr lang="en-US" dirty="0"/>
              <a:t>=True on one of your fields.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6421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Clearly, the power of relational databases lies in relating tables to each other. </a:t>
            </a:r>
            <a:r>
              <a:rPr lang="en-US" dirty="0" err="1"/>
              <a:t>Django</a:t>
            </a:r>
            <a:r>
              <a:rPr lang="en-US" dirty="0"/>
              <a:t> offers ways to define the three most common types of database relationships: many-to-one, many-to-many and one-to-one.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75188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Many-to-one relationships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539552" y="1457557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Manufacturer(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# ...</a:t>
            </a:r>
          </a:p>
          <a:p>
            <a:endParaRPr lang="en-US" dirty="0"/>
          </a:p>
          <a:p>
            <a:r>
              <a:rPr lang="en-US" dirty="0"/>
              <a:t>class Car(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manufacturer = </a:t>
            </a:r>
            <a:r>
              <a:rPr lang="en-US" dirty="0" err="1"/>
              <a:t>models.ForeignKey</a:t>
            </a:r>
            <a:r>
              <a:rPr lang="en-US" dirty="0"/>
              <a:t>(Manufacturer)</a:t>
            </a:r>
          </a:p>
          <a:p>
            <a:r>
              <a:rPr lang="en-US" dirty="0"/>
              <a:t>    # ...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45187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 relationships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139767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Topping(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# ...</a:t>
            </a:r>
          </a:p>
          <a:p>
            <a:endParaRPr lang="en-US" dirty="0"/>
          </a:p>
          <a:p>
            <a:r>
              <a:rPr lang="en-US" dirty="0"/>
              <a:t>class Pizza(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# ...</a:t>
            </a:r>
          </a:p>
          <a:p>
            <a:r>
              <a:rPr lang="en-US" dirty="0"/>
              <a:t>    toppings = </a:t>
            </a:r>
            <a:r>
              <a:rPr lang="en-US" dirty="0" err="1"/>
              <a:t>models.ManyToManyField</a:t>
            </a:r>
            <a:r>
              <a:rPr lang="en-US" dirty="0"/>
              <a:t>(Topping)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99040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395536" y="1403479"/>
            <a:ext cx="4141150" cy="4185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class Person(</a:t>
            </a:r>
            <a:r>
              <a:rPr lang="en-US" sz="1400" dirty="0" err="1"/>
              <a:t>models.Model</a:t>
            </a:r>
            <a:r>
              <a:rPr lang="en-US" sz="1400" dirty="0"/>
              <a:t>):</a:t>
            </a:r>
          </a:p>
          <a:p>
            <a:r>
              <a:rPr lang="en-US" sz="1400" dirty="0"/>
              <a:t>    name = </a:t>
            </a:r>
            <a:r>
              <a:rPr lang="en-US" sz="1400" dirty="0" err="1"/>
              <a:t>models.CharField</a:t>
            </a:r>
            <a:r>
              <a:rPr lang="en-US" sz="1400" dirty="0"/>
              <a:t>(</a:t>
            </a:r>
            <a:r>
              <a:rPr lang="en-US" sz="1400" dirty="0" err="1"/>
              <a:t>max_length</a:t>
            </a:r>
            <a:r>
              <a:rPr lang="en-US" sz="1400" dirty="0"/>
              <a:t>=128)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def</a:t>
            </a:r>
            <a:r>
              <a:rPr lang="en-US" sz="1400" dirty="0"/>
              <a:t> __</a:t>
            </a:r>
            <a:r>
              <a:rPr lang="en-US" sz="1400" dirty="0" err="1"/>
              <a:t>unicode</a:t>
            </a:r>
            <a:r>
              <a:rPr lang="en-US" sz="1400" dirty="0"/>
              <a:t>__(self):</a:t>
            </a:r>
          </a:p>
          <a:p>
            <a:r>
              <a:rPr lang="en-US" sz="1400" dirty="0"/>
              <a:t>        return self.name</a:t>
            </a:r>
          </a:p>
          <a:p>
            <a:endParaRPr lang="en-US" sz="1400" dirty="0"/>
          </a:p>
          <a:p>
            <a:r>
              <a:rPr lang="en-US" sz="1400" dirty="0"/>
              <a:t>class Group(</a:t>
            </a:r>
            <a:r>
              <a:rPr lang="en-US" sz="1400" dirty="0" err="1"/>
              <a:t>models.Model</a:t>
            </a:r>
            <a:r>
              <a:rPr lang="en-US" sz="1400" dirty="0"/>
              <a:t>):</a:t>
            </a:r>
          </a:p>
          <a:p>
            <a:r>
              <a:rPr lang="en-US" sz="1400" dirty="0"/>
              <a:t>    name = </a:t>
            </a:r>
            <a:r>
              <a:rPr lang="en-US" sz="1400" dirty="0" err="1"/>
              <a:t>models.CharField</a:t>
            </a:r>
            <a:r>
              <a:rPr lang="en-US" sz="1400" dirty="0"/>
              <a:t>(</a:t>
            </a:r>
            <a:r>
              <a:rPr lang="en-US" sz="1400" dirty="0" err="1"/>
              <a:t>max_length</a:t>
            </a:r>
            <a:r>
              <a:rPr lang="en-US" sz="1400" dirty="0"/>
              <a:t>=128)</a:t>
            </a:r>
          </a:p>
          <a:p>
            <a:r>
              <a:rPr lang="en-US" sz="1400" dirty="0"/>
              <a:t>    members = </a:t>
            </a:r>
            <a:r>
              <a:rPr lang="en-US" sz="1400" dirty="0" err="1"/>
              <a:t>models.ManyToManyField</a:t>
            </a:r>
            <a:r>
              <a:rPr lang="en-US" sz="1400" dirty="0"/>
              <a:t>(Person, through='Membership')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def</a:t>
            </a:r>
            <a:r>
              <a:rPr lang="en-US" sz="1400" dirty="0"/>
              <a:t> __</a:t>
            </a:r>
            <a:r>
              <a:rPr lang="en-US" sz="1400" dirty="0" err="1"/>
              <a:t>unicode</a:t>
            </a:r>
            <a:r>
              <a:rPr lang="en-US" sz="1400" dirty="0"/>
              <a:t>__(self):</a:t>
            </a:r>
          </a:p>
          <a:p>
            <a:r>
              <a:rPr lang="en-US" sz="1400" dirty="0"/>
              <a:t>        return self.name</a:t>
            </a:r>
          </a:p>
          <a:p>
            <a:endParaRPr lang="en-US" sz="1400" dirty="0"/>
          </a:p>
          <a:p>
            <a:r>
              <a:rPr lang="en-US" sz="1400" dirty="0"/>
              <a:t>class Membership(</a:t>
            </a:r>
            <a:r>
              <a:rPr lang="en-US" sz="1400" dirty="0" err="1"/>
              <a:t>models.Model</a:t>
            </a:r>
            <a:r>
              <a:rPr lang="en-US" sz="1400" dirty="0"/>
              <a:t>):</a:t>
            </a:r>
          </a:p>
          <a:p>
            <a:r>
              <a:rPr lang="en-US" sz="1400" dirty="0"/>
              <a:t>    person = </a:t>
            </a:r>
            <a:r>
              <a:rPr lang="en-US" sz="1400" dirty="0" err="1"/>
              <a:t>models.ForeignKey</a:t>
            </a:r>
            <a:r>
              <a:rPr lang="en-US" sz="1400" dirty="0"/>
              <a:t>(Person)</a:t>
            </a:r>
          </a:p>
          <a:p>
            <a:r>
              <a:rPr lang="en-US" sz="1400" dirty="0"/>
              <a:t>    group = </a:t>
            </a:r>
            <a:r>
              <a:rPr lang="en-US" sz="1400" dirty="0" err="1"/>
              <a:t>models.ForeignKey</a:t>
            </a:r>
            <a:r>
              <a:rPr lang="en-US" sz="1400" dirty="0"/>
              <a:t>(Group)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date_joined</a:t>
            </a:r>
            <a:r>
              <a:rPr lang="en-US" sz="1400" dirty="0"/>
              <a:t> = </a:t>
            </a:r>
            <a:r>
              <a:rPr lang="en-US" sz="1400" dirty="0" err="1"/>
              <a:t>models.DateField</a:t>
            </a:r>
            <a:r>
              <a:rPr lang="en-US" sz="1400" dirty="0"/>
              <a:t>()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invite_reason</a:t>
            </a:r>
            <a:r>
              <a:rPr lang="en-US" sz="1400" dirty="0"/>
              <a:t> = </a:t>
            </a:r>
            <a:r>
              <a:rPr lang="en-US" sz="1400" dirty="0" err="1"/>
              <a:t>models.CharField</a:t>
            </a:r>
            <a:r>
              <a:rPr lang="en-US" sz="1400" dirty="0"/>
              <a:t>(</a:t>
            </a:r>
            <a:r>
              <a:rPr lang="en-US" sz="1400" dirty="0" err="1"/>
              <a:t>max_length</a:t>
            </a:r>
            <a:r>
              <a:rPr lang="en-US" sz="1400" dirty="0"/>
              <a:t>=64)</a:t>
            </a:r>
            <a:endParaRPr lang="uk-UA" sz="1400" dirty="0"/>
          </a:p>
        </p:txBody>
      </p:sp>
      <p:sp>
        <p:nvSpPr>
          <p:cNvPr id="5" name="Rectangle 4"/>
          <p:cNvSpPr/>
          <p:nvPr/>
        </p:nvSpPr>
        <p:spPr>
          <a:xfrm>
            <a:off x="4680702" y="2564904"/>
            <a:ext cx="4427802" cy="37548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&gt;&gt;&gt; </a:t>
            </a:r>
            <a:r>
              <a:rPr lang="en-US" sz="1400" dirty="0" err="1"/>
              <a:t>ringo</a:t>
            </a:r>
            <a:r>
              <a:rPr lang="en-US" sz="1400" dirty="0"/>
              <a:t> = </a:t>
            </a:r>
            <a:r>
              <a:rPr lang="en-US" sz="1400" dirty="0" err="1"/>
              <a:t>Person.objects.create</a:t>
            </a:r>
            <a:r>
              <a:rPr lang="en-US" sz="1400" dirty="0"/>
              <a:t>(name="</a:t>
            </a:r>
            <a:r>
              <a:rPr lang="en-US" sz="1400" dirty="0" err="1"/>
              <a:t>Ringo</a:t>
            </a:r>
            <a:r>
              <a:rPr lang="en-US" sz="1400" dirty="0"/>
              <a:t> Starr")</a:t>
            </a:r>
          </a:p>
          <a:p>
            <a:r>
              <a:rPr lang="en-US" sz="1400" dirty="0"/>
              <a:t>&gt;&gt;&gt; </a:t>
            </a:r>
            <a:r>
              <a:rPr lang="en-US" sz="1400" dirty="0" err="1"/>
              <a:t>paul</a:t>
            </a:r>
            <a:r>
              <a:rPr lang="en-US" sz="1400" dirty="0"/>
              <a:t> = </a:t>
            </a:r>
            <a:r>
              <a:rPr lang="en-US" sz="1400" dirty="0" err="1"/>
              <a:t>Person.objects.create</a:t>
            </a:r>
            <a:r>
              <a:rPr lang="en-US" sz="1400" dirty="0"/>
              <a:t>(name="Paul McCartney")</a:t>
            </a:r>
          </a:p>
          <a:p>
            <a:r>
              <a:rPr lang="en-US" sz="1400" dirty="0"/>
              <a:t>&gt;&gt;&gt; </a:t>
            </a:r>
            <a:r>
              <a:rPr lang="en-US" sz="1400" dirty="0" err="1"/>
              <a:t>beatles</a:t>
            </a:r>
            <a:r>
              <a:rPr lang="en-US" sz="1400" dirty="0"/>
              <a:t> = </a:t>
            </a:r>
            <a:r>
              <a:rPr lang="en-US" sz="1400" dirty="0" err="1"/>
              <a:t>Group.objects.create</a:t>
            </a:r>
            <a:r>
              <a:rPr lang="en-US" sz="1400" dirty="0"/>
              <a:t>(name="The Beatles")</a:t>
            </a:r>
          </a:p>
          <a:p>
            <a:r>
              <a:rPr lang="en-US" sz="1400" dirty="0"/>
              <a:t>&gt;&gt;&gt; m1 = Membership(person=</a:t>
            </a:r>
            <a:r>
              <a:rPr lang="en-US" sz="1400" dirty="0" err="1"/>
              <a:t>ringo</a:t>
            </a:r>
            <a:r>
              <a:rPr lang="en-US" sz="1400" dirty="0"/>
              <a:t>, group=</a:t>
            </a:r>
            <a:r>
              <a:rPr lang="en-US" sz="1400" dirty="0" err="1"/>
              <a:t>beatles</a:t>
            </a:r>
            <a:r>
              <a:rPr lang="en-US" sz="1400" dirty="0"/>
              <a:t>,</a:t>
            </a:r>
          </a:p>
          <a:p>
            <a:r>
              <a:rPr lang="en-US" sz="1400" dirty="0"/>
              <a:t>...     </a:t>
            </a:r>
            <a:r>
              <a:rPr lang="en-US" sz="1400" dirty="0" err="1"/>
              <a:t>date_joined</a:t>
            </a:r>
            <a:r>
              <a:rPr lang="en-US" sz="1400" dirty="0"/>
              <a:t>=date(1962, 8, 16),</a:t>
            </a:r>
          </a:p>
          <a:p>
            <a:r>
              <a:rPr lang="en-US" sz="1400" dirty="0"/>
              <a:t>...     </a:t>
            </a:r>
            <a:r>
              <a:rPr lang="en-US" sz="1400" dirty="0" err="1"/>
              <a:t>invite_reason</a:t>
            </a:r>
            <a:r>
              <a:rPr lang="en-US" sz="1400" dirty="0"/>
              <a:t>= "Needed a new drummer.")</a:t>
            </a:r>
          </a:p>
          <a:p>
            <a:r>
              <a:rPr lang="en-US" sz="1400" dirty="0"/>
              <a:t>&gt;&gt;&gt; m1.save()</a:t>
            </a:r>
          </a:p>
          <a:p>
            <a:r>
              <a:rPr lang="en-US" sz="1400" dirty="0"/>
              <a:t>&gt;&gt;&gt; </a:t>
            </a:r>
            <a:r>
              <a:rPr lang="en-US" sz="1400" dirty="0" err="1"/>
              <a:t>beatles.members.all</a:t>
            </a:r>
            <a:r>
              <a:rPr lang="en-US" sz="1400" dirty="0"/>
              <a:t>()</a:t>
            </a:r>
          </a:p>
          <a:p>
            <a:r>
              <a:rPr lang="en-US" sz="1400" dirty="0"/>
              <a:t>[&lt;Person: </a:t>
            </a:r>
            <a:r>
              <a:rPr lang="en-US" sz="1400" dirty="0" err="1"/>
              <a:t>Ringo</a:t>
            </a:r>
            <a:r>
              <a:rPr lang="en-US" sz="1400" dirty="0"/>
              <a:t> Starr&gt;]</a:t>
            </a:r>
          </a:p>
          <a:p>
            <a:r>
              <a:rPr lang="en-US" sz="1400" dirty="0"/>
              <a:t>&gt;&gt;&gt; </a:t>
            </a:r>
            <a:r>
              <a:rPr lang="en-US" sz="1400" dirty="0" err="1"/>
              <a:t>ringo.group_set.all</a:t>
            </a:r>
            <a:r>
              <a:rPr lang="en-US" sz="1400" dirty="0"/>
              <a:t>()</a:t>
            </a:r>
          </a:p>
          <a:p>
            <a:r>
              <a:rPr lang="en-US" sz="1400" dirty="0"/>
              <a:t>[&lt;Group: The Beatles&gt;]</a:t>
            </a:r>
          </a:p>
          <a:p>
            <a:r>
              <a:rPr lang="en-US" sz="1400" dirty="0"/>
              <a:t>&gt;&gt;&gt; m2 = </a:t>
            </a:r>
            <a:r>
              <a:rPr lang="en-US" sz="1400" dirty="0" err="1"/>
              <a:t>Membership.objects.create</a:t>
            </a:r>
            <a:r>
              <a:rPr lang="en-US" sz="1400" dirty="0"/>
              <a:t>(person=</a:t>
            </a:r>
            <a:r>
              <a:rPr lang="en-US" sz="1400" dirty="0" err="1"/>
              <a:t>paul</a:t>
            </a:r>
            <a:r>
              <a:rPr lang="en-US" sz="1400" dirty="0"/>
              <a:t>, group=</a:t>
            </a:r>
            <a:r>
              <a:rPr lang="en-US" sz="1400" dirty="0" err="1"/>
              <a:t>beatles</a:t>
            </a:r>
            <a:r>
              <a:rPr lang="en-US" sz="1400" dirty="0"/>
              <a:t>,</a:t>
            </a:r>
          </a:p>
          <a:p>
            <a:r>
              <a:rPr lang="en-US" sz="1400" dirty="0"/>
              <a:t>...     </a:t>
            </a:r>
            <a:r>
              <a:rPr lang="en-US" sz="1400" dirty="0" err="1"/>
              <a:t>date_joined</a:t>
            </a:r>
            <a:r>
              <a:rPr lang="en-US" sz="1400" dirty="0"/>
              <a:t>=date(1960, 8, 1),</a:t>
            </a:r>
          </a:p>
          <a:p>
            <a:r>
              <a:rPr lang="en-US" sz="1400" dirty="0"/>
              <a:t>...     </a:t>
            </a:r>
            <a:r>
              <a:rPr lang="en-US" sz="1400" dirty="0" err="1"/>
              <a:t>invite_reason</a:t>
            </a:r>
            <a:r>
              <a:rPr lang="en-US" sz="1400" dirty="0"/>
              <a:t>= "Wanted to form a band.")</a:t>
            </a:r>
          </a:p>
          <a:p>
            <a:r>
              <a:rPr lang="en-US" sz="1400" dirty="0"/>
              <a:t>&gt;&gt;&gt; </a:t>
            </a:r>
            <a:r>
              <a:rPr lang="en-US" sz="1400" dirty="0" err="1"/>
              <a:t>beatles.members.all</a:t>
            </a:r>
            <a:r>
              <a:rPr lang="en-US" sz="1400" dirty="0"/>
              <a:t>()</a:t>
            </a:r>
          </a:p>
          <a:p>
            <a:r>
              <a:rPr lang="en-US" sz="1400" dirty="0"/>
              <a:t>[&lt;Person: </a:t>
            </a:r>
            <a:r>
              <a:rPr lang="en-US" sz="1400" dirty="0" err="1"/>
              <a:t>Ringo</a:t>
            </a:r>
            <a:r>
              <a:rPr lang="en-US" sz="1400" dirty="0"/>
              <a:t> Starr&gt;, &lt;Person: Paul McCartney&gt;]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181809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1484784"/>
            <a:ext cx="84249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THIS WILL NOT WORK</a:t>
            </a:r>
          </a:p>
          <a:p>
            <a:r>
              <a:rPr lang="en-US" dirty="0"/>
              <a:t>&gt;&gt;&gt; </a:t>
            </a:r>
            <a:r>
              <a:rPr lang="en-US" dirty="0" err="1"/>
              <a:t>beatles.members.add</a:t>
            </a:r>
            <a:r>
              <a:rPr lang="en-US" dirty="0"/>
              <a:t>(john)</a:t>
            </a:r>
          </a:p>
          <a:p>
            <a:r>
              <a:rPr lang="en-US" dirty="0"/>
              <a:t># NEITHER WILL THIS</a:t>
            </a:r>
          </a:p>
          <a:p>
            <a:r>
              <a:rPr lang="en-US" dirty="0"/>
              <a:t>&gt;&gt;&gt; </a:t>
            </a:r>
            <a:r>
              <a:rPr lang="en-US" dirty="0" err="1"/>
              <a:t>beatles.members.create</a:t>
            </a:r>
            <a:r>
              <a:rPr lang="en-US" dirty="0"/>
              <a:t>(name="George Harrison")</a:t>
            </a:r>
          </a:p>
          <a:p>
            <a:r>
              <a:rPr lang="en-US" dirty="0"/>
              <a:t># AND NEITHER WILL THIS</a:t>
            </a:r>
          </a:p>
          <a:p>
            <a:r>
              <a:rPr lang="en-US" dirty="0"/>
              <a:t>&gt;&gt;&gt; </a:t>
            </a:r>
            <a:r>
              <a:rPr lang="en-US" dirty="0" err="1"/>
              <a:t>beatles.members</a:t>
            </a:r>
            <a:r>
              <a:rPr lang="en-US" dirty="0"/>
              <a:t> = [john, </a:t>
            </a:r>
            <a:r>
              <a:rPr lang="en-US" dirty="0" err="1"/>
              <a:t>paul</a:t>
            </a:r>
            <a:r>
              <a:rPr lang="en-US" dirty="0"/>
              <a:t>, </a:t>
            </a:r>
            <a:r>
              <a:rPr lang="en-US" dirty="0" err="1"/>
              <a:t>ringo</a:t>
            </a:r>
            <a:r>
              <a:rPr lang="en-US" dirty="0"/>
              <a:t>, </a:t>
            </a:r>
            <a:r>
              <a:rPr lang="en-US" dirty="0" err="1"/>
              <a:t>george</a:t>
            </a:r>
            <a:r>
              <a:rPr lang="en-US" dirty="0"/>
              <a:t>]</a:t>
            </a:r>
            <a:endParaRPr lang="uk-UA" dirty="0"/>
          </a:p>
        </p:txBody>
      </p:sp>
      <p:sp>
        <p:nvSpPr>
          <p:cNvPr id="5" name="Rectangle 4"/>
          <p:cNvSpPr/>
          <p:nvPr/>
        </p:nvSpPr>
        <p:spPr>
          <a:xfrm>
            <a:off x="503128" y="3429000"/>
            <a:ext cx="5040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Beatles have broken up</a:t>
            </a:r>
          </a:p>
          <a:p>
            <a:r>
              <a:rPr lang="en-US" dirty="0"/>
              <a:t>&gt;&gt;&gt; </a:t>
            </a:r>
            <a:r>
              <a:rPr lang="en-US" dirty="0" err="1"/>
              <a:t>beatles.members.clear</a:t>
            </a:r>
            <a:r>
              <a:rPr lang="en-US" dirty="0"/>
              <a:t>()</a:t>
            </a:r>
            <a:endParaRPr lang="uk-UA" dirty="0"/>
          </a:p>
        </p:txBody>
      </p:sp>
      <p:sp>
        <p:nvSpPr>
          <p:cNvPr id="6" name="Rectangle 5"/>
          <p:cNvSpPr/>
          <p:nvPr/>
        </p:nvSpPr>
        <p:spPr>
          <a:xfrm>
            <a:off x="517289" y="4293096"/>
            <a:ext cx="74709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Find all the groups with a member whose name starts with 'Paul'</a:t>
            </a:r>
          </a:p>
          <a:p>
            <a:r>
              <a:rPr lang="en-US" dirty="0"/>
              <a:t>&gt;&gt;&gt; </a:t>
            </a:r>
            <a:r>
              <a:rPr lang="en-US" dirty="0" err="1"/>
              <a:t>Group.objects.filter</a:t>
            </a:r>
            <a:r>
              <a:rPr lang="en-US" dirty="0"/>
              <a:t>(members__name__</a:t>
            </a:r>
            <a:r>
              <a:rPr lang="en-US" dirty="0" err="1"/>
              <a:t>startswith</a:t>
            </a:r>
            <a:r>
              <a:rPr lang="en-US" dirty="0"/>
              <a:t>='Paul')</a:t>
            </a:r>
          </a:p>
          <a:p>
            <a:r>
              <a:rPr lang="en-US" dirty="0"/>
              <a:t>[&lt;Group: The Beatles&gt;]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603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uk-UA" dirty="0"/>
          </a:p>
        </p:txBody>
      </p:sp>
      <p:sp>
        <p:nvSpPr>
          <p:cNvPr id="6" name="Rectangle 5"/>
          <p:cNvSpPr/>
          <p:nvPr/>
        </p:nvSpPr>
        <p:spPr>
          <a:xfrm>
            <a:off x="467544" y="1412776"/>
            <a:ext cx="85689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Find all the members of the Beatles that joined after 1 Jan 1961</a:t>
            </a:r>
          </a:p>
          <a:p>
            <a:r>
              <a:rPr lang="en-US" dirty="0"/>
              <a:t>&gt;&gt;&gt; </a:t>
            </a:r>
            <a:r>
              <a:rPr lang="en-US" dirty="0" err="1"/>
              <a:t>Person.objects.filter</a:t>
            </a:r>
            <a:r>
              <a:rPr lang="en-US" dirty="0"/>
              <a:t>(</a:t>
            </a:r>
          </a:p>
          <a:p>
            <a:r>
              <a:rPr lang="en-US" dirty="0"/>
              <a:t>...     </a:t>
            </a:r>
            <a:r>
              <a:rPr lang="en-US" dirty="0" err="1"/>
              <a:t>group__name</a:t>
            </a:r>
            <a:r>
              <a:rPr lang="en-US" dirty="0"/>
              <a:t>='The Beatles',</a:t>
            </a:r>
          </a:p>
          <a:p>
            <a:r>
              <a:rPr lang="en-US" dirty="0"/>
              <a:t>...     membership__date_joined__</a:t>
            </a:r>
            <a:r>
              <a:rPr lang="en-US" dirty="0" err="1"/>
              <a:t>gt</a:t>
            </a:r>
            <a:r>
              <a:rPr lang="en-US" dirty="0"/>
              <a:t>=date(1961,1,1))</a:t>
            </a:r>
          </a:p>
          <a:p>
            <a:r>
              <a:rPr lang="en-US" dirty="0"/>
              <a:t>[&lt;Person: </a:t>
            </a:r>
            <a:r>
              <a:rPr lang="en-US" dirty="0" err="1"/>
              <a:t>Ringo</a:t>
            </a:r>
            <a:r>
              <a:rPr lang="en-US" dirty="0"/>
              <a:t> Starr]</a:t>
            </a:r>
            <a:endParaRPr lang="uk-UA" dirty="0"/>
          </a:p>
        </p:txBody>
      </p:sp>
      <p:sp>
        <p:nvSpPr>
          <p:cNvPr id="7" name="Rectangle 6"/>
          <p:cNvSpPr/>
          <p:nvPr/>
        </p:nvSpPr>
        <p:spPr>
          <a:xfrm>
            <a:off x="492466" y="3413931"/>
            <a:ext cx="85440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&gt;&gt;&gt; </a:t>
            </a:r>
            <a:r>
              <a:rPr lang="en-US" dirty="0" err="1"/>
              <a:t>ringos_membership</a:t>
            </a:r>
            <a:r>
              <a:rPr lang="en-US" dirty="0"/>
              <a:t> = </a:t>
            </a:r>
            <a:r>
              <a:rPr lang="en-US" dirty="0" err="1"/>
              <a:t>Membership.objects.get</a:t>
            </a:r>
            <a:r>
              <a:rPr lang="en-US" dirty="0"/>
              <a:t>(group=</a:t>
            </a:r>
            <a:r>
              <a:rPr lang="en-US" dirty="0" err="1"/>
              <a:t>beatles</a:t>
            </a:r>
            <a:r>
              <a:rPr lang="en-US" dirty="0"/>
              <a:t>, person=</a:t>
            </a:r>
            <a:r>
              <a:rPr lang="en-US" dirty="0" err="1"/>
              <a:t>ringo</a:t>
            </a:r>
            <a:r>
              <a:rPr lang="en-US" dirty="0"/>
              <a:t>)</a:t>
            </a:r>
          </a:p>
          <a:p>
            <a:r>
              <a:rPr lang="en-US" dirty="0"/>
              <a:t>&gt;&gt;&gt; </a:t>
            </a:r>
            <a:r>
              <a:rPr lang="en-US" dirty="0" err="1"/>
              <a:t>ringos_membership.date_joined</a:t>
            </a:r>
            <a:endParaRPr lang="en-US" dirty="0"/>
          </a:p>
          <a:p>
            <a:r>
              <a:rPr lang="en-US" dirty="0" err="1"/>
              <a:t>datetime.date</a:t>
            </a:r>
            <a:r>
              <a:rPr lang="en-US" dirty="0"/>
              <a:t>(1962, 8, 16)</a:t>
            </a:r>
          </a:p>
          <a:p>
            <a:r>
              <a:rPr lang="en-US" dirty="0"/>
              <a:t>&gt;&gt;&gt; </a:t>
            </a:r>
            <a:r>
              <a:rPr lang="en-US" dirty="0" err="1"/>
              <a:t>ringos_membership.invite_reason</a:t>
            </a:r>
            <a:endParaRPr lang="en-US" dirty="0"/>
          </a:p>
          <a:p>
            <a:r>
              <a:rPr lang="en-US" dirty="0" err="1"/>
              <a:t>u'Needed</a:t>
            </a:r>
            <a:r>
              <a:rPr lang="en-US" dirty="0"/>
              <a:t> a new drummer.'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0975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2551837"/>
            <a:ext cx="8280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&gt;&gt;&gt; </a:t>
            </a:r>
            <a:r>
              <a:rPr lang="en-US" dirty="0" err="1"/>
              <a:t>ringos_membership</a:t>
            </a:r>
            <a:r>
              <a:rPr lang="en-US" dirty="0"/>
              <a:t> = </a:t>
            </a:r>
            <a:r>
              <a:rPr lang="en-US" dirty="0" err="1"/>
              <a:t>ringo.membership_set.get</a:t>
            </a:r>
            <a:r>
              <a:rPr lang="en-US" dirty="0"/>
              <a:t>(group=</a:t>
            </a:r>
            <a:r>
              <a:rPr lang="en-US" dirty="0" err="1"/>
              <a:t>beatles</a:t>
            </a:r>
            <a:r>
              <a:rPr lang="en-US" dirty="0"/>
              <a:t>)</a:t>
            </a:r>
          </a:p>
          <a:p>
            <a:r>
              <a:rPr lang="en-US" dirty="0"/>
              <a:t>&gt;&gt;&gt; </a:t>
            </a:r>
            <a:r>
              <a:rPr lang="en-US" dirty="0" err="1"/>
              <a:t>ringos_membership.date_joined</a:t>
            </a:r>
            <a:endParaRPr lang="en-US" dirty="0"/>
          </a:p>
          <a:p>
            <a:r>
              <a:rPr lang="en-US" dirty="0" err="1"/>
              <a:t>datetime.date</a:t>
            </a:r>
            <a:r>
              <a:rPr lang="en-US" dirty="0"/>
              <a:t>(1962, 8, 16)</a:t>
            </a:r>
          </a:p>
          <a:p>
            <a:r>
              <a:rPr lang="en-US" dirty="0"/>
              <a:t>&gt;&gt;&gt; </a:t>
            </a:r>
            <a:r>
              <a:rPr lang="en-US" dirty="0" err="1"/>
              <a:t>ringos_membership.invite_reason</a:t>
            </a:r>
            <a:endParaRPr lang="en-US" dirty="0"/>
          </a:p>
          <a:p>
            <a:r>
              <a:rPr lang="en-US" dirty="0" err="1"/>
              <a:t>u'Needed</a:t>
            </a:r>
            <a:r>
              <a:rPr lang="en-US" dirty="0"/>
              <a:t> a new drummer.'</a:t>
            </a:r>
            <a:endParaRPr lang="uk-UA" dirty="0"/>
          </a:p>
        </p:txBody>
      </p:sp>
      <p:sp>
        <p:nvSpPr>
          <p:cNvPr id="5" name="Rectangle 4"/>
          <p:cNvSpPr/>
          <p:nvPr/>
        </p:nvSpPr>
        <p:spPr>
          <a:xfrm>
            <a:off x="467544" y="1628507"/>
            <a:ext cx="8280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Another way to access the same information is by querying the many-to-many reverse relationship from a Person object: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69056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relationships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define a one-to-one relationship, use </a:t>
            </a:r>
            <a:r>
              <a:rPr lang="en-US" dirty="0" err="1"/>
              <a:t>OneToOneField</a:t>
            </a:r>
            <a:r>
              <a:rPr lang="en-US" dirty="0"/>
              <a:t>. You use it just like any other Field type: by including it as a class attribute of your model.</a:t>
            </a:r>
          </a:p>
          <a:p>
            <a:endParaRPr lang="en-US" dirty="0"/>
          </a:p>
          <a:p>
            <a:r>
              <a:rPr lang="en-US" dirty="0"/>
              <a:t>This is most useful on the primary key of an object when that object "extends" another object in some way.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57173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options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metadata is "anything that's not a field", such as ordering options (ordering), database table name (</a:t>
            </a:r>
            <a:r>
              <a:rPr lang="en-US" dirty="0" err="1"/>
              <a:t>db_table</a:t>
            </a:r>
            <a:r>
              <a:rPr lang="en-US" dirty="0"/>
              <a:t>), or human-readable singular and plural names (</a:t>
            </a:r>
            <a:r>
              <a:rPr lang="en-US" dirty="0" err="1"/>
              <a:t>verbose_name</a:t>
            </a:r>
            <a:r>
              <a:rPr lang="en-US" dirty="0"/>
              <a:t> and </a:t>
            </a:r>
            <a:r>
              <a:rPr lang="en-US" dirty="0" err="1"/>
              <a:t>verbose_name_plural</a:t>
            </a:r>
            <a:r>
              <a:rPr lang="en-US" dirty="0"/>
              <a:t>). None are required, and adding class Meta to a model is completely optional.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29974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options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164820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Ox(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horn_length</a:t>
            </a:r>
            <a:r>
              <a:rPr lang="en-US" dirty="0"/>
              <a:t> = </a:t>
            </a:r>
            <a:r>
              <a:rPr lang="en-US" dirty="0" err="1"/>
              <a:t>models.IntegerField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class Meta:</a:t>
            </a:r>
          </a:p>
          <a:p>
            <a:r>
              <a:rPr lang="en-US" dirty="0"/>
              <a:t>        ordering = ["</a:t>
            </a:r>
            <a:r>
              <a:rPr lang="en-US" dirty="0" err="1"/>
              <a:t>horn_length</a:t>
            </a:r>
            <a:r>
              <a:rPr lang="en-US" dirty="0"/>
              <a:t>"]</a:t>
            </a:r>
          </a:p>
          <a:p>
            <a:r>
              <a:rPr lang="en-US" dirty="0"/>
              <a:t>        </a:t>
            </a:r>
            <a:r>
              <a:rPr lang="en-US" dirty="0" err="1"/>
              <a:t>verbose_name_plural</a:t>
            </a:r>
            <a:r>
              <a:rPr lang="en-US" dirty="0"/>
              <a:t> = "oxen"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96613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methods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395536" y="1412776"/>
            <a:ext cx="84969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from </a:t>
            </a:r>
            <a:r>
              <a:rPr lang="en-US" sz="1200" dirty="0" err="1"/>
              <a:t>django.contrib.localflavor.us.models</a:t>
            </a:r>
            <a:r>
              <a:rPr lang="en-US" sz="1200" dirty="0"/>
              <a:t> import </a:t>
            </a:r>
            <a:r>
              <a:rPr lang="en-US" sz="1200" dirty="0" err="1"/>
              <a:t>USStateField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class Person(</a:t>
            </a:r>
            <a:r>
              <a:rPr lang="en-US" sz="1200" dirty="0" err="1"/>
              <a:t>models.Model</a:t>
            </a:r>
            <a:r>
              <a:rPr lang="en-US" sz="1200" dirty="0"/>
              <a:t>):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first_name</a:t>
            </a:r>
            <a:r>
              <a:rPr lang="en-US" sz="1200" dirty="0"/>
              <a:t> = </a:t>
            </a:r>
            <a:r>
              <a:rPr lang="en-US" sz="1200" dirty="0" err="1"/>
              <a:t>models.CharField</a:t>
            </a:r>
            <a:r>
              <a:rPr lang="en-US" sz="1200" dirty="0"/>
              <a:t>(</a:t>
            </a:r>
            <a:r>
              <a:rPr lang="en-US" sz="1200" dirty="0" err="1"/>
              <a:t>max_length</a:t>
            </a:r>
            <a:r>
              <a:rPr lang="en-US" sz="1200" dirty="0"/>
              <a:t>=50)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last_name</a:t>
            </a:r>
            <a:r>
              <a:rPr lang="en-US" sz="1200" dirty="0"/>
              <a:t> = </a:t>
            </a:r>
            <a:r>
              <a:rPr lang="en-US" sz="1200" dirty="0" err="1"/>
              <a:t>models.CharField</a:t>
            </a:r>
            <a:r>
              <a:rPr lang="en-US" sz="1200" dirty="0"/>
              <a:t>(</a:t>
            </a:r>
            <a:r>
              <a:rPr lang="en-US" sz="1200" dirty="0" err="1"/>
              <a:t>max_length</a:t>
            </a:r>
            <a:r>
              <a:rPr lang="en-US" sz="1200" dirty="0"/>
              <a:t>=50)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birth_date</a:t>
            </a:r>
            <a:r>
              <a:rPr lang="en-US" sz="1200" dirty="0"/>
              <a:t> = </a:t>
            </a:r>
            <a:r>
              <a:rPr lang="en-US" sz="1200" dirty="0" err="1"/>
              <a:t>models.DateField</a:t>
            </a:r>
            <a:r>
              <a:rPr lang="en-US" sz="1200" dirty="0"/>
              <a:t>()</a:t>
            </a:r>
          </a:p>
          <a:p>
            <a:r>
              <a:rPr lang="en-US" sz="1200" dirty="0"/>
              <a:t>    address = </a:t>
            </a:r>
            <a:r>
              <a:rPr lang="en-US" sz="1200" dirty="0" err="1"/>
              <a:t>models.CharField</a:t>
            </a:r>
            <a:r>
              <a:rPr lang="en-US" sz="1200" dirty="0"/>
              <a:t>(</a:t>
            </a:r>
            <a:r>
              <a:rPr lang="en-US" sz="1200" dirty="0" err="1"/>
              <a:t>max_length</a:t>
            </a:r>
            <a:r>
              <a:rPr lang="en-US" sz="1200" dirty="0"/>
              <a:t>=100)</a:t>
            </a:r>
          </a:p>
          <a:p>
            <a:r>
              <a:rPr lang="en-US" sz="1200" dirty="0"/>
              <a:t>    city = </a:t>
            </a:r>
            <a:r>
              <a:rPr lang="en-US" sz="1200" dirty="0" err="1"/>
              <a:t>models.CharField</a:t>
            </a:r>
            <a:r>
              <a:rPr lang="en-US" sz="1200" dirty="0"/>
              <a:t>(</a:t>
            </a:r>
            <a:r>
              <a:rPr lang="en-US" sz="1200" dirty="0" err="1"/>
              <a:t>max_length</a:t>
            </a:r>
            <a:r>
              <a:rPr lang="en-US" sz="1200" dirty="0"/>
              <a:t>=50)</a:t>
            </a:r>
          </a:p>
          <a:p>
            <a:r>
              <a:rPr lang="en-US" sz="1200" dirty="0"/>
              <a:t>    state = </a:t>
            </a:r>
            <a:r>
              <a:rPr lang="en-US" sz="1200" dirty="0" err="1"/>
              <a:t>USStateField</a:t>
            </a:r>
            <a:r>
              <a:rPr lang="en-US" sz="1200" dirty="0"/>
              <a:t>() # Yes, this is America-centric...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def</a:t>
            </a:r>
            <a:r>
              <a:rPr lang="en-US" sz="1200" dirty="0"/>
              <a:t> </a:t>
            </a:r>
            <a:r>
              <a:rPr lang="en-US" sz="1200" dirty="0" err="1"/>
              <a:t>baby_boomer_status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"Returns the person's baby-boomer status."</a:t>
            </a:r>
          </a:p>
          <a:p>
            <a:r>
              <a:rPr lang="en-US" sz="1200" dirty="0"/>
              <a:t>        import </a:t>
            </a:r>
            <a:r>
              <a:rPr lang="en-US" sz="1200" dirty="0" err="1"/>
              <a:t>datetime</a:t>
            </a:r>
            <a:endParaRPr lang="en-US" sz="1200" dirty="0"/>
          </a:p>
          <a:p>
            <a:r>
              <a:rPr lang="en-US" sz="1200" dirty="0"/>
              <a:t>        if </a:t>
            </a:r>
            <a:r>
              <a:rPr lang="en-US" sz="1200" dirty="0" err="1"/>
              <a:t>datetime.date</a:t>
            </a:r>
            <a:r>
              <a:rPr lang="en-US" sz="1200" dirty="0"/>
              <a:t>(1945, 8, 1) &lt;= </a:t>
            </a:r>
            <a:r>
              <a:rPr lang="en-US" sz="1200" dirty="0" err="1"/>
              <a:t>self.birth_date</a:t>
            </a:r>
            <a:r>
              <a:rPr lang="en-US" sz="1200" dirty="0"/>
              <a:t> &lt;= </a:t>
            </a:r>
            <a:r>
              <a:rPr lang="en-US" sz="1200" dirty="0" err="1"/>
              <a:t>datetime.date</a:t>
            </a:r>
            <a:r>
              <a:rPr lang="en-US" sz="1200" dirty="0"/>
              <a:t>(1964, 12, 31):</a:t>
            </a:r>
          </a:p>
          <a:p>
            <a:r>
              <a:rPr lang="en-US" sz="1200" dirty="0"/>
              <a:t>            return "Baby boomer"</a:t>
            </a:r>
          </a:p>
          <a:p>
            <a:r>
              <a:rPr lang="en-US" sz="1200" dirty="0"/>
              <a:t>        if </a:t>
            </a:r>
            <a:r>
              <a:rPr lang="en-US" sz="1200" dirty="0" err="1"/>
              <a:t>self.birth_date</a:t>
            </a:r>
            <a:r>
              <a:rPr lang="en-US" sz="1200" dirty="0"/>
              <a:t> &lt; </a:t>
            </a:r>
            <a:r>
              <a:rPr lang="en-US" sz="1200" dirty="0" err="1"/>
              <a:t>datetime.date</a:t>
            </a:r>
            <a:r>
              <a:rPr lang="en-US" sz="1200" dirty="0"/>
              <a:t>(1945, 8, 1):</a:t>
            </a:r>
          </a:p>
          <a:p>
            <a:r>
              <a:rPr lang="en-US" sz="1200" dirty="0"/>
              <a:t>            return "Pre-boomer"</a:t>
            </a:r>
          </a:p>
          <a:p>
            <a:r>
              <a:rPr lang="en-US" sz="1200" dirty="0"/>
              <a:t>        return "Post-boomer"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def</a:t>
            </a:r>
            <a:r>
              <a:rPr lang="en-US" sz="1200" dirty="0"/>
              <a:t> </a:t>
            </a:r>
            <a:r>
              <a:rPr lang="en-US" sz="1200" dirty="0" err="1"/>
              <a:t>is_midwestern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"Returns True if this person is from the Midwest."</a:t>
            </a:r>
          </a:p>
          <a:p>
            <a:r>
              <a:rPr lang="en-US" sz="1200" dirty="0"/>
              <a:t>        return </a:t>
            </a:r>
            <a:r>
              <a:rPr lang="en-US" sz="1200" dirty="0" err="1"/>
              <a:t>self.state</a:t>
            </a:r>
            <a:r>
              <a:rPr lang="en-US" sz="1200" dirty="0"/>
              <a:t> in ('IL', 'WI', 'MI', 'IN', 'OH', 'IA', 'MO')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def</a:t>
            </a:r>
            <a:r>
              <a:rPr lang="en-US" sz="1200" dirty="0"/>
              <a:t> _</a:t>
            </a:r>
            <a:r>
              <a:rPr lang="en-US" sz="1200" dirty="0" err="1"/>
              <a:t>get_full_name</a:t>
            </a:r>
            <a:r>
              <a:rPr lang="en-US" sz="1200" dirty="0"/>
              <a:t>(self):</a:t>
            </a:r>
          </a:p>
          <a:p>
            <a:r>
              <a:rPr lang="en-US" sz="1200" dirty="0"/>
              <a:t>        "Returns the person's full name."</a:t>
            </a:r>
          </a:p>
          <a:p>
            <a:r>
              <a:rPr lang="en-US" sz="1200" dirty="0"/>
              <a:t>        return '%s %s' % (</a:t>
            </a:r>
            <a:r>
              <a:rPr lang="en-US" sz="1200" dirty="0" err="1"/>
              <a:t>self.first_name</a:t>
            </a:r>
            <a:r>
              <a:rPr lang="en-US" sz="1200" dirty="0"/>
              <a:t>, </a:t>
            </a:r>
            <a:r>
              <a:rPr lang="en-US" sz="1200" dirty="0" err="1"/>
              <a:t>self.last_name</a:t>
            </a:r>
            <a:r>
              <a:rPr lang="en-US" sz="1200" dirty="0"/>
              <a:t>)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full_name</a:t>
            </a:r>
            <a:r>
              <a:rPr lang="en-US" sz="1200" dirty="0"/>
              <a:t> = property(_</a:t>
            </a:r>
            <a:r>
              <a:rPr lang="en-US" sz="1200" dirty="0" err="1"/>
              <a:t>get_full_name</a:t>
            </a:r>
            <a:r>
              <a:rPr lang="en-US" sz="1200" dirty="0"/>
              <a:t>)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591321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unicode</a:t>
            </a:r>
            <a:r>
              <a:rPr lang="en-US" dirty="0"/>
              <a:t>__()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Python "magic method" that returns a </a:t>
            </a:r>
            <a:r>
              <a:rPr lang="en-US" dirty="0" err="1"/>
              <a:t>unicode</a:t>
            </a:r>
            <a:r>
              <a:rPr lang="en-US" dirty="0"/>
              <a:t> "representation" of any object. This is what Python and </a:t>
            </a:r>
            <a:r>
              <a:rPr lang="en-US" dirty="0" err="1"/>
              <a:t>Django</a:t>
            </a:r>
            <a:r>
              <a:rPr lang="en-US" dirty="0"/>
              <a:t> will use whenever a model instance needs to be coerced and displayed as a plain string. Most notably, this happens when you display an object in an interactive console or in the admin.</a:t>
            </a:r>
          </a:p>
          <a:p>
            <a:r>
              <a:rPr lang="en-US" dirty="0" smtClean="0"/>
              <a:t>You'll </a:t>
            </a:r>
            <a:r>
              <a:rPr lang="en-US" dirty="0"/>
              <a:t>always want to define this method; the default isn't very helpful at all</a:t>
            </a:r>
            <a:r>
              <a:rPr lang="en-US" dirty="0" smtClean="0"/>
              <a:t>.</a:t>
            </a:r>
          </a:p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model instance reference</a:t>
            </a:r>
            <a:r>
              <a:rPr lang="en-US" dirty="0"/>
              <a:t> has a complete list of </a:t>
            </a:r>
            <a:r>
              <a:rPr lang="en-US" dirty="0">
                <a:hlinkClick r:id="rId3"/>
              </a:rPr>
              <a:t>methods automatically given to each model</a:t>
            </a:r>
            <a:r>
              <a:rPr lang="en-US" dirty="0"/>
              <a:t>. You can override most of these </a:t>
            </a:r>
            <a:r>
              <a:rPr lang="en-US" dirty="0" smtClean="0"/>
              <a:t>- </a:t>
            </a:r>
            <a:r>
              <a:rPr lang="en-US" dirty="0"/>
              <a:t>see </a:t>
            </a:r>
            <a:r>
              <a:rPr lang="en-US" dirty="0">
                <a:hlinkClick r:id="rId4"/>
              </a:rPr>
              <a:t>overriding predefined model methods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57307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Overriding predefined model methods</a:t>
            </a:r>
            <a:endParaRPr lang="uk-UA" dirty="0"/>
          </a:p>
        </p:txBody>
      </p:sp>
      <p:sp>
        <p:nvSpPr>
          <p:cNvPr id="4" name="Rectangle 3"/>
          <p:cNvSpPr/>
          <p:nvPr/>
        </p:nvSpPr>
        <p:spPr>
          <a:xfrm>
            <a:off x="467544" y="1556792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class Blog(</a:t>
            </a:r>
            <a:r>
              <a:rPr lang="en-US" dirty="0" err="1"/>
              <a:t>models.Model</a:t>
            </a:r>
            <a:r>
              <a:rPr lang="en-US" dirty="0"/>
              <a:t>):</a:t>
            </a:r>
          </a:p>
          <a:p>
            <a:r>
              <a:rPr lang="en-US" dirty="0"/>
              <a:t>    name = </a:t>
            </a:r>
            <a:r>
              <a:rPr lang="en-US" dirty="0" err="1"/>
              <a:t>models.CharField</a:t>
            </a:r>
            <a:r>
              <a:rPr lang="en-US" dirty="0"/>
              <a:t>(</a:t>
            </a:r>
            <a:r>
              <a:rPr lang="en-US" dirty="0" err="1"/>
              <a:t>max_length</a:t>
            </a:r>
            <a:r>
              <a:rPr lang="en-US" dirty="0"/>
              <a:t>=100)</a:t>
            </a:r>
          </a:p>
          <a:p>
            <a:r>
              <a:rPr lang="en-US" dirty="0"/>
              <a:t>    tagline = </a:t>
            </a:r>
            <a:r>
              <a:rPr lang="en-US" dirty="0" err="1"/>
              <a:t>models.TextField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save(self, *</a:t>
            </a:r>
            <a:r>
              <a:rPr lang="en-US" dirty="0" err="1"/>
              <a:t>args</a:t>
            </a:r>
            <a:r>
              <a:rPr lang="en-US" dirty="0"/>
              <a:t>, **</a:t>
            </a:r>
            <a:r>
              <a:rPr lang="en-US" dirty="0" err="1"/>
              <a:t>kwargs</a:t>
            </a:r>
            <a:r>
              <a:rPr lang="en-US" dirty="0"/>
              <a:t>):</a:t>
            </a:r>
          </a:p>
          <a:p>
            <a:r>
              <a:rPr lang="en-US" dirty="0"/>
              <a:t>        if self.name == "Yoko Ono's blog":</a:t>
            </a:r>
          </a:p>
          <a:p>
            <a:r>
              <a:rPr lang="en-US" dirty="0"/>
              <a:t>            return # Yoko shall never have her own blog!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super(Blog, self).save(*</a:t>
            </a:r>
            <a:r>
              <a:rPr lang="en-US" dirty="0" err="1"/>
              <a:t>args</a:t>
            </a:r>
            <a:r>
              <a:rPr lang="en-US" dirty="0"/>
              <a:t>, **</a:t>
            </a:r>
            <a:r>
              <a:rPr lang="en-US" dirty="0" err="1"/>
              <a:t>kwargs</a:t>
            </a:r>
            <a:r>
              <a:rPr lang="en-US" dirty="0"/>
              <a:t>) # Call the "real" save() method.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556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7528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638081" y="5181600"/>
            <a:ext cx="3095719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</a:rPr>
              <a:t>Thank You!</a:t>
            </a:r>
          </a:p>
        </p:txBody>
      </p:sp>
      <p:sp>
        <p:nvSpPr>
          <p:cNvPr id="31748" name="Rectangle 8"/>
          <p:cNvSpPr>
            <a:spLocks noChangeArrowheads="1"/>
          </p:cNvSpPr>
          <p:nvPr/>
        </p:nvSpPr>
        <p:spPr bwMode="auto">
          <a:xfrm>
            <a:off x="333375" y="957263"/>
            <a:ext cx="6553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endParaRPr lang="en-GB" sz="2600" b="1">
              <a:solidFill>
                <a:srgbClr val="5F5F5F"/>
              </a:solidFill>
              <a:latin typeface="Verdana" pitchFamily="34" charset="0"/>
            </a:endParaRPr>
          </a:p>
        </p:txBody>
      </p:sp>
      <p:sp>
        <p:nvSpPr>
          <p:cNvPr id="31749" name="Rectangle 9"/>
          <p:cNvSpPr>
            <a:spLocks noChangeArrowheads="1"/>
          </p:cNvSpPr>
          <p:nvPr/>
        </p:nvSpPr>
        <p:spPr bwMode="auto">
          <a:xfrm>
            <a:off x="609600" y="6429375"/>
            <a:ext cx="3138487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Copyright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  <a:cs typeface="Times New Roman" pitchFamily="18" charset="0"/>
              </a:rPr>
              <a:t>©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 </a:t>
            </a:r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2010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SoftServe, Inc.</a:t>
            </a:r>
          </a:p>
        </p:txBody>
      </p:sp>
      <p:sp>
        <p:nvSpPr>
          <p:cNvPr id="31750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Contacts</a:t>
            </a: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868363" y="2057400"/>
            <a:ext cx="2897460" cy="2040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accent6"/>
                </a:solidFill>
                <a:latin typeface="Verdana" pitchFamily="34" charset="0"/>
              </a:rPr>
              <a:t>Europe Headquarters</a:t>
            </a:r>
            <a:r>
              <a:rPr lang="en-GB" sz="1600" b="1" dirty="0">
                <a:solidFill>
                  <a:schemeClr val="accent6"/>
                </a:solidFill>
                <a:latin typeface="Verdana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52 V. Velykoho Str.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 err="1">
                <a:solidFill>
                  <a:srgbClr val="333333"/>
                </a:solidFill>
                <a:latin typeface="Verdana" pitchFamily="34" charset="0"/>
              </a:rPr>
              <a:t>Lviv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 79053, Ukraine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Tel:   +380-32-2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40-9090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GB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Fax:  +380-32-2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40-9080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E-mail: </a:t>
            </a: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info@softserveinc.com</a:t>
            </a:r>
          </a:p>
          <a:p>
            <a:pPr>
              <a:lnSpc>
                <a:spcPct val="110000"/>
              </a:lnSpc>
              <a:defRPr/>
            </a:pP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Website: </a:t>
            </a:r>
            <a:r>
              <a:rPr lang="en-GB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www.softserveinc.com</a:t>
            </a:r>
          </a:p>
          <a:p>
            <a:pPr>
              <a:lnSpc>
                <a:spcPct val="110000"/>
              </a:lnSpc>
              <a:defRPr/>
            </a:pPr>
            <a:endParaRPr lang="en-GB" sz="1200" b="1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724400" y="2073275"/>
            <a:ext cx="3733800" cy="132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b="1" dirty="0">
                <a:solidFill>
                  <a:schemeClr val="accent6"/>
                </a:solidFill>
                <a:latin typeface="Verdana" pitchFamily="34" charset="0"/>
              </a:rPr>
              <a:t>US Headquarters</a:t>
            </a:r>
          </a:p>
          <a:p>
            <a:pPr>
              <a:lnSpc>
                <a:spcPct val="110000"/>
              </a:lnSpc>
              <a:defRPr/>
            </a:pP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12800 University Drive, Suite 250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US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Fort Myers, FL </a:t>
            </a: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33907, 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USA</a:t>
            </a:r>
          </a:p>
          <a:p>
            <a:pPr>
              <a:lnSpc>
                <a:spcPct val="110000"/>
              </a:lnSpc>
              <a:defRPr/>
            </a:pP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Tel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:   </a:t>
            </a:r>
            <a:r>
              <a:rPr lang="en-US" sz="1200" dirty="0">
                <a:solidFill>
                  <a:srgbClr val="333333"/>
                </a:solidFill>
                <a:latin typeface="Verdana" pitchFamily="34" charset="0"/>
              </a:rPr>
              <a:t>239-690-3111 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/>
            </a:r>
            <a:br>
              <a:rPr lang="en-GB" sz="1200" dirty="0">
                <a:solidFill>
                  <a:srgbClr val="333333"/>
                </a:solidFill>
                <a:latin typeface="Verdana" pitchFamily="34" charset="0"/>
              </a:rPr>
            </a:br>
            <a:r>
              <a:rPr lang="en-GB" sz="1200" dirty="0" smtClean="0">
                <a:solidFill>
                  <a:srgbClr val="333333"/>
                </a:solidFill>
                <a:latin typeface="Verdana" pitchFamily="34" charset="0"/>
              </a:rPr>
              <a:t>Fax</a:t>
            </a:r>
            <a:r>
              <a:rPr lang="en-GB" sz="1200" dirty="0">
                <a:solidFill>
                  <a:srgbClr val="333333"/>
                </a:solidFill>
                <a:latin typeface="Verdana" pitchFamily="34" charset="0"/>
              </a:rPr>
              <a:t>:  </a:t>
            </a:r>
            <a:r>
              <a:rPr lang="en-US" sz="1200" dirty="0" smtClean="0">
                <a:solidFill>
                  <a:srgbClr val="333333"/>
                </a:solidFill>
                <a:latin typeface="Verdana" pitchFamily="34" charset="0"/>
              </a:rPr>
              <a:t>239-690-3116</a:t>
            </a:r>
            <a:endParaRPr lang="en-GB" sz="600" dirty="0">
              <a:solidFill>
                <a:srgbClr val="333333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Serve Presentation Template 9-20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SoftServe Presentation Template 9-2010</Template>
  <TotalTime>0</TotalTime>
  <Words>1785</Words>
  <Application>Microsoft Office PowerPoint</Application>
  <PresentationFormat>On-screen Show (4:3)</PresentationFormat>
  <Paragraphs>276</Paragraphs>
  <Slides>31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SoftServe Presentation Template 9-2010</vt:lpstr>
      <vt:lpstr>PowerPoint Presentation</vt:lpstr>
      <vt:lpstr>Agenda</vt:lpstr>
      <vt:lpstr>Models</vt:lpstr>
      <vt:lpstr>Models</vt:lpstr>
      <vt:lpstr>Basics</vt:lpstr>
      <vt:lpstr>Example</vt:lpstr>
      <vt:lpstr>PowerPoint Presentation</vt:lpstr>
      <vt:lpstr>Using models</vt:lpstr>
      <vt:lpstr>Test Person model</vt:lpstr>
      <vt:lpstr>Test Person model. CRUD</vt:lpstr>
      <vt:lpstr>Models continue…</vt:lpstr>
      <vt:lpstr>Fields</vt:lpstr>
      <vt:lpstr>Field types</vt:lpstr>
      <vt:lpstr>Field options</vt:lpstr>
      <vt:lpstr>Example</vt:lpstr>
      <vt:lpstr>Automatic primary key fields</vt:lpstr>
      <vt:lpstr>Relationships</vt:lpstr>
      <vt:lpstr>Many-to-one relationships</vt:lpstr>
      <vt:lpstr>Many-to-many relationships</vt:lpstr>
      <vt:lpstr>Example</vt:lpstr>
      <vt:lpstr>…</vt:lpstr>
      <vt:lpstr>…</vt:lpstr>
      <vt:lpstr>…</vt:lpstr>
      <vt:lpstr>One-to-one relationships</vt:lpstr>
      <vt:lpstr>Meta options</vt:lpstr>
      <vt:lpstr>Meta options</vt:lpstr>
      <vt:lpstr>Model methods</vt:lpstr>
      <vt:lpstr>__unicode__()</vt:lpstr>
      <vt:lpstr>Overriding predefined model methods</vt:lpstr>
      <vt:lpstr>PowerPoint Presentation</vt:lpstr>
      <vt:lpstr>Contacts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</dc:creator>
  <cp:lastModifiedBy>vl</cp:lastModifiedBy>
  <cp:revision>26</cp:revision>
  <dcterms:created xsi:type="dcterms:W3CDTF">2011-12-11T18:11:38Z</dcterms:created>
  <dcterms:modified xsi:type="dcterms:W3CDTF">2011-12-12T06:17:45Z</dcterms:modified>
</cp:coreProperties>
</file>