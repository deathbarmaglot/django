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2" r:id="rId4"/>
    <p:sldId id="264" r:id="rId5"/>
    <p:sldId id="261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02" y="-7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438400"/>
            <a:ext cx="7924800" cy="14478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gradFill>
          <a:gsLst>
            <a:gs pos="0">
              <a:srgbClr val="243C80"/>
            </a:gs>
            <a:gs pos="91000">
              <a:srgbClr val="20489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590800"/>
            <a:ext cx="7772400" cy="1362075"/>
          </a:xfrm>
        </p:spPr>
        <p:txBody>
          <a:bodyPr anchor="ctr"/>
          <a:lstStyle>
            <a:lvl1pPr algn="ctr">
              <a:defRPr sz="40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1555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>
            <a:lvl1pPr algn="ctr">
              <a:defRPr lang="en-US" sz="4000" b="1" kern="1200" dirty="0">
                <a:solidFill>
                  <a:srgbClr val="32469A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 (no line)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>
            <a:lvl1pPr algn="ctr">
              <a:defRPr lang="en-US" sz="4000" b="1" kern="1200" dirty="0">
                <a:solidFill>
                  <a:srgbClr val="32469A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>
            <a:lvl1pPr algn="ctr">
              <a:defRPr lang="en-US" sz="4000" b="1" kern="1200" dirty="0">
                <a:solidFill>
                  <a:srgbClr val="32469A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idx="10"/>
          </p:nvPr>
        </p:nvSpPr>
        <p:spPr>
          <a:xfrm>
            <a:off x="457200" y="1373903"/>
            <a:ext cx="4038600" cy="4493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1"/>
          </p:nvPr>
        </p:nvSpPr>
        <p:spPr>
          <a:xfrm>
            <a:off x="4724400" y="1371600"/>
            <a:ext cx="3962400" cy="4495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9489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 (no line)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>
            <a:lvl1pPr algn="l">
              <a:defRPr lang="en-US" sz="4000" b="1" kern="1200" dirty="0">
                <a:solidFill>
                  <a:srgbClr val="32469A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idx="10"/>
          </p:nvPr>
        </p:nvSpPr>
        <p:spPr>
          <a:xfrm>
            <a:off x="457200" y="1373903"/>
            <a:ext cx="4038600" cy="4493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idx="11"/>
          </p:nvPr>
        </p:nvSpPr>
        <p:spPr>
          <a:xfrm>
            <a:off x="4724400" y="1371600"/>
            <a:ext cx="3962400" cy="4495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638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9449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>
                <a:solidFill>
                  <a:srgbClr val="32469A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10200"/>
            <a:ext cx="5486400" cy="76200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000" b="1" kern="1200" dirty="0">
          <a:solidFill>
            <a:srgbClr val="32469A"/>
          </a:solidFill>
          <a:latin typeface="Segoe UI" pitchFamily="34" charset="0"/>
          <a:ea typeface="Segoe UI" pitchFamily="34" charset="0"/>
          <a:cs typeface="Segoe UI" pitchFamily="34" charset="0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Clr>
          <a:srgbClr val="32469A"/>
        </a:buClr>
        <a:buFont typeface="Calibri" pitchFamily="34" charset="0"/>
        <a:buChar char="▪"/>
        <a:defRPr sz="3200" kern="12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6286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971550" indent="-171450" algn="l" defTabSz="914400" rtl="0" eaLnBrk="1" latinLnBrk="0" hangingPunct="1">
        <a:spcBef>
          <a:spcPct val="20000"/>
        </a:spcBef>
        <a:buFont typeface="Calibri" pitchFamily="34" charset="0"/>
        <a:buChar char="▪"/>
        <a:defRPr sz="2400" kern="12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73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4859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Django</a:t>
            </a:r>
            <a:endParaRPr lang="uk-U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uk-UA" b="1" dirty="0">
                <a:latin typeface="Verdana" pitchFamily="32" charset="0"/>
              </a:rPr>
              <a:t>Introduction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6245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What's </a:t>
            </a:r>
            <a:r>
              <a:rPr lang="en-US" dirty="0" err="1"/>
              <a:t>Django</a:t>
            </a:r>
            <a:r>
              <a:rPr lang="en-US" dirty="0" smtClean="0"/>
              <a:t>?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High-level Python Web framework that encourages rapid development and clean, pragmatic design.</a:t>
            </a:r>
          </a:p>
          <a:p>
            <a:r>
              <a:rPr lang="en-US" dirty="0"/>
              <a:t>Open sourced</a:t>
            </a:r>
          </a:p>
          <a:p>
            <a:r>
              <a:rPr lang="en-US" dirty="0"/>
              <a:t>Suitable for any web application you care to </a:t>
            </a:r>
            <a:r>
              <a:rPr lang="en-US" dirty="0" smtClean="0"/>
              <a:t>build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43741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talk</a:t>
            </a:r>
            <a:r>
              <a:rPr lang="en-US" dirty="0" smtClean="0"/>
              <a:t>...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 and philosophy</a:t>
            </a:r>
          </a:p>
          <a:p>
            <a:r>
              <a:rPr lang="en-US" dirty="0"/>
              <a:t>Architectural overview</a:t>
            </a:r>
          </a:p>
          <a:p>
            <a:r>
              <a:rPr lang="en-US" dirty="0" err="1"/>
              <a:t>Django</a:t>
            </a:r>
            <a:r>
              <a:rPr lang="en-US" dirty="0"/>
              <a:t> components (and Code!)</a:t>
            </a:r>
          </a:p>
          <a:p>
            <a:r>
              <a:rPr lang="en-US" dirty="0"/>
              <a:t>And a demo to finish </a:t>
            </a:r>
            <a:r>
              <a:rPr lang="en-US" dirty="0" smtClean="0"/>
              <a:t>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60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Quick </a:t>
            </a:r>
            <a:r>
              <a:rPr lang="en-US" dirty="0" smtClean="0"/>
              <a:t>look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Object-relational mapper</a:t>
            </a:r>
          </a:p>
          <a:p>
            <a:r>
              <a:rPr lang="en-US" dirty="0"/>
              <a:t>Automatic admin interface</a:t>
            </a:r>
          </a:p>
          <a:p>
            <a:r>
              <a:rPr lang="en-US" dirty="0"/>
              <a:t>Elegant URL design</a:t>
            </a:r>
          </a:p>
          <a:p>
            <a:r>
              <a:rPr lang="en-US" dirty="0"/>
              <a:t>Template system</a:t>
            </a:r>
          </a:p>
          <a:p>
            <a:r>
              <a:rPr lang="en-US" dirty="0"/>
              <a:t>Cache system</a:t>
            </a:r>
          </a:p>
          <a:p>
            <a:r>
              <a:rPr lang="en-US" dirty="0" smtClean="0"/>
              <a:t>i18n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41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Django</a:t>
            </a:r>
            <a:r>
              <a:rPr lang="en-US" dirty="0"/>
              <a:t> </a:t>
            </a:r>
            <a:r>
              <a:rPr lang="en-US" dirty="0" smtClean="0"/>
              <a:t>philosophy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Less code, DRY</a:t>
            </a:r>
          </a:p>
          <a:p>
            <a:r>
              <a:rPr lang="en-US" dirty="0"/>
              <a:t>Loose coupling of components</a:t>
            </a:r>
          </a:p>
          <a:p>
            <a:r>
              <a:rPr lang="en-US" dirty="0"/>
              <a:t>Explicit is better than implicit (less magic)</a:t>
            </a:r>
          </a:p>
          <a:p>
            <a:r>
              <a:rPr lang="en-US" dirty="0"/>
              <a:t>Consistency</a:t>
            </a:r>
          </a:p>
          <a:p>
            <a:r>
              <a:rPr lang="en-US" dirty="0"/>
              <a:t>Models include all relevant domain logic</a:t>
            </a:r>
          </a:p>
          <a:p>
            <a:r>
              <a:rPr lang="en-US" dirty="0"/>
              <a:t>Efficient SQL, raw SQL encouraged where needed</a:t>
            </a:r>
          </a:p>
          <a:p>
            <a:r>
              <a:rPr lang="en-US" dirty="0"/>
              <a:t>Cool </a:t>
            </a:r>
            <a:r>
              <a:rPr lang="en-US" dirty="0" smtClean="0"/>
              <a:t>URLs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0016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Django</a:t>
            </a:r>
            <a:r>
              <a:rPr lang="en-US" dirty="0"/>
              <a:t> </a:t>
            </a:r>
            <a:r>
              <a:rPr lang="en-US" dirty="0" smtClean="0"/>
              <a:t>components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Core</a:t>
            </a:r>
          </a:p>
          <a:p>
            <a:pPr lvl="1"/>
            <a:r>
              <a:rPr lang="en-US" dirty="0"/>
              <a:t>Manages web server integration, URL to </a:t>
            </a:r>
            <a:r>
              <a:rPr lang="en-US" dirty="0" err="1"/>
              <a:t>viewmapping</a:t>
            </a:r>
            <a:r>
              <a:rPr lang="en-US" dirty="0"/>
              <a:t>, errors, configuration, “middleware”</a:t>
            </a:r>
          </a:p>
          <a:p>
            <a:pPr marL="0" indent="0">
              <a:buNone/>
            </a:pPr>
            <a:r>
              <a:rPr lang="en-US" b="1" dirty="0"/>
              <a:t>Models</a:t>
            </a:r>
          </a:p>
          <a:p>
            <a:pPr lvl="1"/>
            <a:r>
              <a:rPr lang="en-US" dirty="0"/>
              <a:t>Object relational mapper, handles domain logic</a:t>
            </a:r>
          </a:p>
          <a:p>
            <a:pPr marL="0" indent="0">
              <a:buNone/>
            </a:pPr>
            <a:r>
              <a:rPr lang="en-US" b="1" dirty="0"/>
              <a:t>Views</a:t>
            </a:r>
          </a:p>
          <a:p>
            <a:pPr lvl="1"/>
            <a:r>
              <a:rPr lang="en-US" dirty="0"/>
              <a:t>Functions containing application logic</a:t>
            </a:r>
          </a:p>
          <a:p>
            <a:pPr marL="0" indent="0">
              <a:buNone/>
            </a:pPr>
            <a:r>
              <a:rPr lang="en-US" b="1" dirty="0"/>
              <a:t>Templates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38519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" r="756"/>
          <a:stretch>
            <a:fillRect/>
          </a:stretch>
        </p:blipFill>
        <p:spPr>
          <a:xfrm>
            <a:off x="629872" y="260648"/>
            <a:ext cx="7920880" cy="5940660"/>
          </a:xfrm>
        </p:spPr>
      </p:pic>
    </p:spTree>
    <p:extLst>
      <p:ext uri="{BB962C8B-B14F-4D97-AF65-F5344CB8AC3E}">
        <p14:creationId xmlns:p14="http://schemas.microsoft.com/office/powerpoint/2010/main" val="130645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Django</a:t>
            </a:r>
            <a:r>
              <a:rPr lang="en-US" dirty="0"/>
              <a:t> </a:t>
            </a:r>
            <a:r>
              <a:rPr lang="en-US" dirty="0" smtClean="0"/>
              <a:t>core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Integrates with the web server</a:t>
            </a:r>
          </a:p>
          <a:p>
            <a:r>
              <a:rPr lang="en-US" dirty="0"/>
              <a:t>Creates a </a:t>
            </a:r>
            <a:r>
              <a:rPr lang="en-US" dirty="0" err="1"/>
              <a:t>Django</a:t>
            </a:r>
            <a:r>
              <a:rPr lang="en-US" dirty="0"/>
              <a:t> Request object</a:t>
            </a:r>
          </a:p>
          <a:p>
            <a:r>
              <a:rPr lang="en-US" dirty="0"/>
              <a:t>Maps the requested URL to a view function</a:t>
            </a:r>
          </a:p>
          <a:p>
            <a:r>
              <a:rPr lang="en-US" dirty="0"/>
              <a:t>Views must return a Response object - can use templates if they want to (most do)</a:t>
            </a:r>
          </a:p>
          <a:p>
            <a:r>
              <a:rPr lang="en-US" dirty="0"/>
              <a:t>Also deals with configuration, error handling and middleware classes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84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URL </a:t>
            </a:r>
            <a:r>
              <a:rPr lang="en-US" dirty="0" smtClean="0"/>
              <a:t>mapping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defTabSz="457200" fontAlgn="base">
              <a:lnSpc>
                <a:spcPct val="150000"/>
              </a:lnSpc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urlpatterns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= patterns(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,</a:t>
            </a:r>
          </a:p>
          <a:p>
            <a:pPr marL="0" lvl="0" indent="0" defTabSz="457200" fontAlgn="base">
              <a:lnSpc>
                <a:spcPct val="150000"/>
              </a:lnSpc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(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r</a:t>
            </a:r>
            <a:r>
              <a:rPr lang="en-US" altLang="uk-UA" sz="1800" dirty="0" err="1">
                <a:solidFill>
                  <a:srgbClr val="C5000B"/>
                </a:solidFill>
                <a:latin typeface="Verdana" pitchFamily="32" charset="0"/>
              </a:rPr>
              <a:t>'^polls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/$'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, 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</a:t>
            </a:r>
            <a:r>
              <a:rPr lang="en-US" altLang="uk-UA" sz="1800" dirty="0" err="1">
                <a:solidFill>
                  <a:srgbClr val="C5000B"/>
                </a:solidFill>
                <a:latin typeface="Verdana" pitchFamily="32" charset="0"/>
              </a:rPr>
              <a:t>mysite.polls.views.index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),</a:t>
            </a:r>
          </a:p>
          <a:p>
            <a:pPr marL="0" lvl="0" indent="0" defTabSz="457200" fontAlgn="base">
              <a:lnSpc>
                <a:spcPct val="150000"/>
              </a:lnSpc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(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r</a:t>
            </a:r>
            <a:r>
              <a:rPr lang="en-US" altLang="uk-UA" sz="1800" dirty="0" err="1">
                <a:solidFill>
                  <a:srgbClr val="FF0000"/>
                </a:solidFill>
                <a:latin typeface="Verdana" pitchFamily="32" charset="0"/>
              </a:rPr>
              <a:t>'^polls</a:t>
            </a:r>
            <a:r>
              <a:rPr lang="en-US" altLang="uk-UA" sz="1800" dirty="0">
                <a:solidFill>
                  <a:srgbClr val="FF0000"/>
                </a:solidFill>
                <a:latin typeface="Verdana" pitchFamily="32" charset="0"/>
              </a:rPr>
              <a:t>/(?P&lt;</a:t>
            </a:r>
            <a:r>
              <a:rPr lang="en-US" altLang="uk-UA" sz="1800" dirty="0" err="1">
                <a:solidFill>
                  <a:srgbClr val="FF0000"/>
                </a:solidFill>
                <a:latin typeface="Verdana" pitchFamily="32" charset="0"/>
              </a:rPr>
              <a:t>poll_id</a:t>
            </a:r>
            <a:r>
              <a:rPr lang="en-US" altLang="uk-UA" sz="1800" dirty="0">
                <a:solidFill>
                  <a:srgbClr val="FF0000"/>
                </a:solidFill>
                <a:latin typeface="Verdana" pitchFamily="32" charset="0"/>
              </a:rPr>
              <a:t>&gt;\d+)/$'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, 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</a:t>
            </a:r>
            <a:r>
              <a:rPr lang="en-US" altLang="uk-UA" sz="1800" dirty="0" err="1">
                <a:solidFill>
                  <a:srgbClr val="C5000B"/>
                </a:solidFill>
                <a:latin typeface="Verdana" pitchFamily="32" charset="0"/>
              </a:rPr>
              <a:t>mysite.polls.views.detail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),</a:t>
            </a:r>
          </a:p>
          <a:p>
            <a:pPr marL="0" lvl="0" indent="0" defTabSz="457200" fontAlgn="base">
              <a:lnSpc>
                <a:spcPct val="150000"/>
              </a:lnSpc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(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r</a:t>
            </a:r>
            <a:r>
              <a:rPr lang="en-US" altLang="uk-UA" sz="1800" dirty="0" err="1">
                <a:solidFill>
                  <a:srgbClr val="C5000B"/>
                </a:solidFill>
                <a:latin typeface="Verdana" pitchFamily="32" charset="0"/>
              </a:rPr>
              <a:t>'^polls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/(?P&lt;</a:t>
            </a:r>
            <a:r>
              <a:rPr lang="en-US" altLang="uk-UA" sz="1800" dirty="0" err="1">
                <a:solidFill>
                  <a:srgbClr val="C5000B"/>
                </a:solidFill>
                <a:latin typeface="Verdana" pitchFamily="32" charset="0"/>
              </a:rPr>
              <a:t>poll_id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&gt;\d+)/results/$'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, </a:t>
            </a:r>
            <a:r>
              <a:rPr lang="en-US" altLang="uk-UA" sz="1800" dirty="0" smtClean="0">
                <a:solidFill>
                  <a:srgbClr val="333333"/>
                </a:solidFill>
                <a:latin typeface="Verdana" pitchFamily="32" charset="0"/>
              </a:rPr>
              <a:t>			</a:t>
            </a:r>
            <a:r>
              <a:rPr lang="en-US" altLang="uk-UA" sz="1800" dirty="0" smtClean="0">
                <a:solidFill>
                  <a:srgbClr val="C5000B"/>
                </a:solidFill>
                <a:latin typeface="Verdana" pitchFamily="32" charset="0"/>
              </a:rPr>
              <a:t>'</a:t>
            </a:r>
            <a:r>
              <a:rPr lang="en-US" altLang="uk-UA" sz="1800" dirty="0" err="1" smtClean="0">
                <a:solidFill>
                  <a:srgbClr val="C5000B"/>
                </a:solidFill>
                <a:latin typeface="Verdana" pitchFamily="32" charset="0"/>
              </a:rPr>
              <a:t>mysite.polls.views.results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),</a:t>
            </a:r>
          </a:p>
          <a:p>
            <a:pPr marL="0" lvl="0" indent="0" defTabSz="457200" fontAlgn="base">
              <a:lnSpc>
                <a:spcPct val="150000"/>
              </a:lnSpc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(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r</a:t>
            </a:r>
            <a:r>
              <a:rPr lang="en-US" altLang="uk-UA" sz="1800" dirty="0" err="1">
                <a:solidFill>
                  <a:srgbClr val="C5000B"/>
                </a:solidFill>
                <a:latin typeface="Verdana" pitchFamily="32" charset="0"/>
              </a:rPr>
              <a:t>'^polls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/(?P&lt;</a:t>
            </a:r>
            <a:r>
              <a:rPr lang="en-US" altLang="uk-UA" sz="1800" dirty="0" err="1">
                <a:solidFill>
                  <a:srgbClr val="C5000B"/>
                </a:solidFill>
                <a:latin typeface="Verdana" pitchFamily="32" charset="0"/>
              </a:rPr>
              <a:t>poll_id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&gt;\d+)/vote/$'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, 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</a:t>
            </a:r>
            <a:r>
              <a:rPr lang="en-US" altLang="uk-UA" sz="1800" dirty="0" err="1">
                <a:solidFill>
                  <a:srgbClr val="C5000B"/>
                </a:solidFill>
                <a:latin typeface="Verdana" pitchFamily="32" charset="0"/>
              </a:rPr>
              <a:t>mysite.polls.views.vote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),</a:t>
            </a:r>
          </a:p>
          <a:p>
            <a:pPr marL="0" lvl="0" indent="0" defTabSz="457200" fontAlgn="base">
              <a:lnSpc>
                <a:spcPct val="150000"/>
              </a:lnSpc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(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r</a:t>
            </a:r>
            <a:r>
              <a:rPr lang="en-US" altLang="uk-UA" sz="1800" dirty="0" err="1">
                <a:solidFill>
                  <a:srgbClr val="C5000B"/>
                </a:solidFill>
                <a:latin typeface="Verdana" pitchFamily="32" charset="0"/>
              </a:rPr>
              <a:t>'^admin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/'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, include(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admin.site.urls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)),</a:t>
            </a:r>
          </a:p>
          <a:p>
            <a:pPr marL="0" lvl="0" indent="0" defTabSz="457200" fontAlgn="base">
              <a:lnSpc>
                <a:spcPct val="150000"/>
              </a:lnSpc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 smtClean="0">
                <a:solidFill>
                  <a:srgbClr val="333333"/>
                </a:solidFill>
                <a:latin typeface="Verdana" pitchFamily="32" charset="0"/>
              </a:rPr>
              <a:t>)</a:t>
            </a:r>
            <a:endParaRPr lang="en-US" altLang="uk-UA" sz="1800" dirty="0">
              <a:solidFill>
                <a:srgbClr val="333333"/>
              </a:solidFill>
              <a:latin typeface="Verdana" pitchFamily="3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33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Object-relational mapper</a:t>
            </a:r>
          </a:p>
          <a:p>
            <a:r>
              <a:rPr lang="en-US" dirty="0"/>
              <a:t>Database-agnostic schema definitions in Python code</a:t>
            </a:r>
          </a:p>
          <a:p>
            <a:r>
              <a:rPr lang="en-US" dirty="0"/>
              <a:t>Tables are created for you using the ‘install’ tool</a:t>
            </a:r>
          </a:p>
          <a:p>
            <a:r>
              <a:rPr lang="en-US" dirty="0"/>
              <a:t>Handles many-to-many, many-to-one, one-to-one relationships</a:t>
            </a:r>
          </a:p>
          <a:p>
            <a:r>
              <a:rPr lang="en-US" dirty="0"/>
              <a:t>Provides a pleasant API for CRUD operations and most SELECTs</a:t>
            </a:r>
          </a:p>
          <a:p>
            <a:r>
              <a:rPr lang="en-US" dirty="0"/>
              <a:t>Encourages custom SQL where it makes sense</a:t>
            </a:r>
          </a:p>
          <a:p>
            <a:r>
              <a:rPr lang="en-US" dirty="0"/>
              <a:t>Can hold extra information for Magic Admin </a:t>
            </a:r>
            <a:r>
              <a:rPr lang="en-US" dirty="0" smtClean="0"/>
              <a:t>stuff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65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</a:t>
            </a:r>
            <a:r>
              <a:rPr lang="en-US" dirty="0" smtClean="0"/>
              <a:t>definitions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FF950E"/>
                </a:solidFill>
                <a:latin typeface="Verdana" pitchFamily="32" charset="0"/>
              </a:rPr>
              <a:t>from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django.db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</a:t>
            </a:r>
            <a:r>
              <a:rPr lang="en-US" altLang="uk-UA" sz="1800" dirty="0">
                <a:solidFill>
                  <a:srgbClr val="FF950E"/>
                </a:solidFill>
                <a:latin typeface="Verdana" pitchFamily="32" charset="0"/>
              </a:rPr>
              <a:t>import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models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endParaRPr lang="en-US" altLang="uk-UA" sz="1800" dirty="0">
              <a:solidFill>
                <a:srgbClr val="333333"/>
              </a:solidFill>
              <a:latin typeface="Verdana" pitchFamily="32" charset="0"/>
            </a:endParaRP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FF950E"/>
                </a:solidFill>
                <a:latin typeface="Verdana" pitchFamily="32" charset="0"/>
              </a:rPr>
              <a:t>class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Poll(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models.Model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):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question =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models.CharField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(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max_length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=</a:t>
            </a:r>
            <a:r>
              <a:rPr lang="en-US" altLang="uk-UA" sz="1800" dirty="0">
                <a:solidFill>
                  <a:srgbClr val="0000FF"/>
                </a:solidFill>
                <a:latin typeface="Verdana" pitchFamily="32" charset="0"/>
              </a:rPr>
              <a:t>200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pub_date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=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models.DateTimeField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(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'date published'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endParaRPr lang="en-US" altLang="uk-UA" sz="1800" dirty="0">
              <a:solidFill>
                <a:srgbClr val="333333"/>
              </a:solidFill>
              <a:latin typeface="Verdana" pitchFamily="32" charset="0"/>
            </a:endParaRP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FF950E"/>
                </a:solidFill>
                <a:latin typeface="Verdana" pitchFamily="32" charset="0"/>
              </a:rPr>
              <a:t>class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Choice(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models.Model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):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poll =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models.ForeignKey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(Poll)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choice =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models.CharField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(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max_length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=</a:t>
            </a:r>
            <a:r>
              <a:rPr lang="en-US" altLang="uk-UA" sz="1800" dirty="0">
                <a:solidFill>
                  <a:srgbClr val="0000FF"/>
                </a:solidFill>
                <a:latin typeface="Verdana" pitchFamily="32" charset="0"/>
              </a:rPr>
              <a:t>200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votes =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models.IntegerField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()</a:t>
            </a: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45702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</a:t>
            </a:r>
            <a:r>
              <a:rPr lang="en-US" dirty="0" smtClean="0"/>
              <a:t>API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from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mysite.polls.models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 import Poll, Choice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Poll.objects.all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()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b="1" dirty="0">
                <a:solidFill>
                  <a:srgbClr val="4C1900"/>
                </a:solidFill>
                <a:latin typeface="Verdana" pitchFamily="32" charset="0"/>
              </a:rPr>
              <a:t>[]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import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datetime</a:t>
            </a:r>
            <a:endParaRPr lang="en-US" altLang="uk-UA" sz="1500" dirty="0">
              <a:solidFill>
                <a:srgbClr val="333333"/>
              </a:solidFill>
              <a:latin typeface="Verdana" pitchFamily="32" charset="0"/>
            </a:endParaRP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p = Poll(question="What's up?",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pub_date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=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datetime.datetime.now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())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p.save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()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p.id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b="1" dirty="0">
                <a:solidFill>
                  <a:srgbClr val="4C1900"/>
                </a:solidFill>
                <a:latin typeface="Verdana" pitchFamily="32" charset="0"/>
              </a:rPr>
              <a:t>1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p.question</a:t>
            </a:r>
            <a:endParaRPr lang="en-US" altLang="uk-UA" sz="1500" dirty="0">
              <a:solidFill>
                <a:srgbClr val="333333"/>
              </a:solidFill>
              <a:latin typeface="Verdana" pitchFamily="32" charset="0"/>
            </a:endParaRP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b="1" dirty="0">
                <a:solidFill>
                  <a:srgbClr val="4C1900"/>
                </a:solidFill>
                <a:latin typeface="Verdana" pitchFamily="32" charset="0"/>
              </a:rPr>
              <a:t>"What's up?"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p.pub_date</a:t>
            </a:r>
            <a:endParaRPr lang="en-US" altLang="uk-UA" sz="1500" dirty="0">
              <a:solidFill>
                <a:srgbClr val="333333"/>
              </a:solidFill>
              <a:latin typeface="Verdana" pitchFamily="32" charset="0"/>
            </a:endParaRP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b="1" dirty="0" err="1">
                <a:solidFill>
                  <a:srgbClr val="4C1900"/>
                </a:solidFill>
                <a:latin typeface="Verdana" pitchFamily="32" charset="0"/>
              </a:rPr>
              <a:t>datetime.datetime</a:t>
            </a:r>
            <a:r>
              <a:rPr lang="en-US" altLang="uk-UA" sz="1500" b="1" dirty="0">
                <a:solidFill>
                  <a:srgbClr val="4C1900"/>
                </a:solidFill>
                <a:latin typeface="Verdana" pitchFamily="32" charset="0"/>
              </a:rPr>
              <a:t>(2007, 7, 15, 12, 00, 53)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p.pub_date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 =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datetime.datetime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(2007, 4, 1, 0, 0)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p.save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()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Poll.objects.all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()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b="1" dirty="0">
                <a:solidFill>
                  <a:srgbClr val="4C1900"/>
                </a:solidFill>
                <a:latin typeface="Verdana" pitchFamily="32" charset="0"/>
              </a:rPr>
              <a:t>[&lt;Poll: Poll object</a:t>
            </a:r>
            <a:r>
              <a:rPr lang="en-US" altLang="uk-UA" sz="1500" b="1" dirty="0" smtClean="0">
                <a:solidFill>
                  <a:srgbClr val="4C1900"/>
                </a:solidFill>
                <a:latin typeface="Verdana" pitchFamily="32" charset="0"/>
              </a:rPr>
              <a:t>&gt;]</a:t>
            </a:r>
            <a:endParaRPr lang="en-US" altLang="uk-UA" sz="1500" b="1" dirty="0">
              <a:solidFill>
                <a:srgbClr val="4C1900"/>
              </a:solidFill>
              <a:latin typeface="Verdana" pitchFamily="3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68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Model </a:t>
            </a:r>
            <a:r>
              <a:rPr lang="en-US" dirty="0" smtClean="0"/>
              <a:t>API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from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mysite.polls.models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 import Poll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Poll.objects.all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()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b="1" dirty="0">
                <a:solidFill>
                  <a:srgbClr val="4C1900"/>
                </a:solidFill>
                <a:latin typeface="Verdana" pitchFamily="32" charset="0"/>
              </a:rPr>
              <a:t>[&lt;Poll: What's up?&gt;]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Poll.objects.filter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(id=1)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b="1" dirty="0">
                <a:solidFill>
                  <a:srgbClr val="4C1900"/>
                </a:solidFill>
                <a:latin typeface="Verdana" pitchFamily="32" charset="0"/>
              </a:rPr>
              <a:t>[&lt;Poll: What's up?&gt;]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Poll.objects.filter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(question__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startswith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='What')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b="1" dirty="0">
                <a:solidFill>
                  <a:srgbClr val="4C1900"/>
                </a:solidFill>
                <a:latin typeface="Verdana" pitchFamily="32" charset="0"/>
              </a:rPr>
              <a:t>[&lt;Poll: What's up?&gt;]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Poll.objects.get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(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pub_date__year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=2007)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b="1" dirty="0">
                <a:solidFill>
                  <a:srgbClr val="4C1900"/>
                </a:solidFill>
                <a:latin typeface="Verdana" pitchFamily="32" charset="0"/>
              </a:rPr>
              <a:t>&lt;Poll: What's up?&gt;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Poll.objects.get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(id=2)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b="1" dirty="0" err="1">
                <a:solidFill>
                  <a:srgbClr val="4C1900"/>
                </a:solidFill>
                <a:latin typeface="Verdana" pitchFamily="32" charset="0"/>
              </a:rPr>
              <a:t>Traceback</a:t>
            </a:r>
            <a:r>
              <a:rPr lang="en-US" altLang="uk-UA" sz="1500" b="1" dirty="0">
                <a:solidFill>
                  <a:srgbClr val="4C1900"/>
                </a:solidFill>
                <a:latin typeface="Verdana" pitchFamily="32" charset="0"/>
              </a:rPr>
              <a:t> (most recent call last)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b="1" dirty="0" err="1">
                <a:solidFill>
                  <a:srgbClr val="4C1900"/>
                </a:solidFill>
                <a:latin typeface="Verdana" pitchFamily="32" charset="0"/>
              </a:rPr>
              <a:t>DoesNotExist</a:t>
            </a:r>
            <a:r>
              <a:rPr lang="en-US" altLang="uk-UA" sz="1500" b="1" dirty="0">
                <a:solidFill>
                  <a:srgbClr val="4C1900"/>
                </a:solidFill>
                <a:latin typeface="Verdana" pitchFamily="32" charset="0"/>
              </a:rPr>
              <a:t>: Poll matching query does not exist.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&gt;&gt;&gt; 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Poll.objects.get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(</a:t>
            </a:r>
            <a:r>
              <a:rPr lang="en-US" altLang="uk-UA" sz="1500" dirty="0" err="1">
                <a:solidFill>
                  <a:srgbClr val="333333"/>
                </a:solidFill>
                <a:latin typeface="Verdana" pitchFamily="32" charset="0"/>
              </a:rPr>
              <a:t>pk</a:t>
            </a:r>
            <a:r>
              <a:rPr lang="en-US" altLang="uk-UA" sz="1500" dirty="0">
                <a:solidFill>
                  <a:srgbClr val="333333"/>
                </a:solidFill>
                <a:latin typeface="Verdana" pitchFamily="32" charset="0"/>
              </a:rPr>
              <a:t>=1)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500" b="1" dirty="0">
                <a:solidFill>
                  <a:srgbClr val="4C1900"/>
                </a:solidFill>
                <a:latin typeface="Verdana" pitchFamily="32" charset="0"/>
              </a:rPr>
              <a:t>&lt;Poll: What's up</a:t>
            </a:r>
            <a:r>
              <a:rPr lang="en-US" altLang="uk-UA" sz="1500" b="1" dirty="0" smtClean="0">
                <a:solidFill>
                  <a:srgbClr val="4C1900"/>
                </a:solidFill>
                <a:latin typeface="Verdana" pitchFamily="32" charset="0"/>
              </a:rPr>
              <a:t>?&gt;</a:t>
            </a:r>
            <a:endParaRPr lang="en-US" altLang="uk-UA" sz="1500" b="1" dirty="0">
              <a:solidFill>
                <a:srgbClr val="4C1900"/>
              </a:solidFill>
              <a:latin typeface="Verdana" pitchFamily="3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57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View </a:t>
            </a:r>
            <a:r>
              <a:rPr lang="en-US" dirty="0" smtClean="0"/>
              <a:t>functions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Developers spend most of their time writing view functions and templates</a:t>
            </a:r>
          </a:p>
          <a:p>
            <a:r>
              <a:rPr lang="en-US" dirty="0"/>
              <a:t>A view function takes a response object and one or more named parameters (extracted from the URL) as arguments, and either returns a response object or raises an HTTP error exception of some sort</a:t>
            </a:r>
          </a:p>
          <a:p>
            <a:r>
              <a:rPr lang="en-US" dirty="0"/>
              <a:t>Which view is executed depends on a list of regular expressions against which incoming requests are </a:t>
            </a:r>
            <a:r>
              <a:rPr lang="en-US" dirty="0" smtClean="0"/>
              <a:t>compared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66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view </a:t>
            </a:r>
            <a:r>
              <a:rPr lang="en-US" dirty="0" smtClean="0"/>
              <a:t>function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FF950E"/>
                </a:solidFill>
                <a:latin typeface="Verdana" pitchFamily="32" charset="0"/>
              </a:rPr>
              <a:t>from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django.template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</a:t>
            </a:r>
            <a:r>
              <a:rPr lang="en-US" altLang="uk-UA" sz="1800" dirty="0">
                <a:solidFill>
                  <a:srgbClr val="FF950E"/>
                </a:solidFill>
                <a:latin typeface="Verdana" pitchFamily="32" charset="0"/>
              </a:rPr>
              <a:t>import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Context, loader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FF950E"/>
                </a:solidFill>
                <a:latin typeface="Verdana" pitchFamily="32" charset="0"/>
              </a:rPr>
              <a:t>from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mysite.polls.models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</a:t>
            </a:r>
            <a:r>
              <a:rPr lang="en-US" altLang="uk-UA" sz="1800" dirty="0">
                <a:solidFill>
                  <a:srgbClr val="FF950E"/>
                </a:solidFill>
                <a:latin typeface="Verdana" pitchFamily="32" charset="0"/>
              </a:rPr>
              <a:t>import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Poll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FF950E"/>
                </a:solidFill>
                <a:latin typeface="Verdana" pitchFamily="32" charset="0"/>
              </a:rPr>
              <a:t>from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django.http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</a:t>
            </a:r>
            <a:r>
              <a:rPr lang="en-US" altLang="uk-UA" sz="1800" dirty="0">
                <a:solidFill>
                  <a:srgbClr val="FF950E"/>
                </a:solidFill>
                <a:latin typeface="Verdana" pitchFamily="32" charset="0"/>
              </a:rPr>
              <a:t>import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HttpResponse</a:t>
            </a:r>
            <a:endParaRPr lang="en-US" altLang="uk-UA" sz="1800" dirty="0">
              <a:solidFill>
                <a:srgbClr val="333333"/>
              </a:solidFill>
              <a:latin typeface="Verdana" pitchFamily="32" charset="0"/>
            </a:endParaRP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endParaRPr lang="en-US" altLang="uk-UA" sz="1800" dirty="0">
              <a:solidFill>
                <a:srgbClr val="333333"/>
              </a:solidFill>
              <a:latin typeface="Verdana" pitchFamily="32" charset="0"/>
            </a:endParaRP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 err="1">
                <a:solidFill>
                  <a:srgbClr val="FF950E"/>
                </a:solidFill>
                <a:latin typeface="Verdana" pitchFamily="32" charset="0"/>
              </a:rPr>
              <a:t>def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index(request):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latest_poll_list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=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Poll.objects.all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().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order_by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(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'-</a:t>
            </a:r>
            <a:r>
              <a:rPr lang="en-US" altLang="uk-UA" sz="1800" dirty="0" err="1">
                <a:solidFill>
                  <a:srgbClr val="C5000B"/>
                </a:solidFill>
                <a:latin typeface="Verdana" pitchFamily="32" charset="0"/>
              </a:rPr>
              <a:t>pub_date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)[:</a:t>
            </a:r>
            <a:r>
              <a:rPr lang="en-US" altLang="uk-UA" sz="1800" dirty="0">
                <a:solidFill>
                  <a:srgbClr val="0000FF"/>
                </a:solidFill>
                <a:latin typeface="Verdana" pitchFamily="32" charset="0"/>
              </a:rPr>
              <a:t>5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]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t =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loader.get_template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(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'polls/index.html'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c = Context({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    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</a:t>
            </a:r>
            <a:r>
              <a:rPr lang="en-US" altLang="uk-UA" sz="1800" dirty="0" err="1">
                <a:solidFill>
                  <a:srgbClr val="C5000B"/>
                </a:solidFill>
                <a:latin typeface="Verdana" pitchFamily="32" charset="0"/>
              </a:rPr>
              <a:t>latest_poll_list</a:t>
            </a:r>
            <a:r>
              <a:rPr lang="en-US" altLang="uk-UA" sz="1800" dirty="0">
                <a:solidFill>
                  <a:srgbClr val="C5000B"/>
                </a:solidFill>
                <a:latin typeface="Verdana" pitchFamily="32" charset="0"/>
              </a:rPr>
              <a:t>'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: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latest_poll_list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,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})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   </a:t>
            </a:r>
            <a:r>
              <a:rPr lang="en-US" altLang="uk-UA" sz="1800" dirty="0">
                <a:solidFill>
                  <a:srgbClr val="FF950E"/>
                </a:solidFill>
                <a:latin typeface="Verdana" pitchFamily="32" charset="0"/>
              </a:rPr>
              <a:t>return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 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HttpResponse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(</a:t>
            </a:r>
            <a:r>
              <a:rPr lang="en-US" altLang="uk-UA" sz="1800" dirty="0" err="1">
                <a:solidFill>
                  <a:srgbClr val="333333"/>
                </a:solidFill>
                <a:latin typeface="Verdana" pitchFamily="32" charset="0"/>
              </a:rPr>
              <a:t>t.render</a:t>
            </a:r>
            <a:r>
              <a:rPr lang="en-US" altLang="uk-UA" sz="1800" dirty="0">
                <a:solidFill>
                  <a:srgbClr val="333333"/>
                </a:solidFill>
                <a:latin typeface="Verdana" pitchFamily="32" charset="0"/>
              </a:rPr>
              <a:t>(c</a:t>
            </a:r>
            <a:r>
              <a:rPr lang="en-US" altLang="uk-UA" sz="1800" dirty="0" smtClean="0">
                <a:solidFill>
                  <a:srgbClr val="333333"/>
                </a:solidFill>
                <a:latin typeface="Verdana" pitchFamily="32" charset="0"/>
              </a:rPr>
              <a:t>))</a:t>
            </a:r>
            <a:endParaRPr lang="en-US" altLang="uk-UA" sz="1800" dirty="0">
              <a:solidFill>
                <a:srgbClr val="333333"/>
              </a:solidFill>
              <a:latin typeface="Verdana" pitchFamily="3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67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Generic </a:t>
            </a:r>
            <a:r>
              <a:rPr lang="en-US" dirty="0" smtClean="0"/>
              <a:t>views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view functions are so common that </a:t>
            </a:r>
            <a:r>
              <a:rPr lang="en-US" dirty="0" err="1"/>
              <a:t>Django</a:t>
            </a:r>
            <a:r>
              <a:rPr lang="en-US" dirty="0"/>
              <a:t> includes them as generic views - easily reused components</a:t>
            </a:r>
          </a:p>
          <a:p>
            <a:r>
              <a:rPr lang="en-US" dirty="0"/>
              <a:t>With models and generic views, it’s possible to create an entire application without writing any application code at all</a:t>
            </a:r>
            <a:r>
              <a:rPr lang="en-US" dirty="0" smtClean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48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Templates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Template language design goals:</a:t>
            </a:r>
          </a:p>
          <a:p>
            <a:pPr lvl="1"/>
            <a:r>
              <a:rPr lang="en-US" dirty="0"/>
              <a:t>Safe and secure</a:t>
            </a:r>
          </a:p>
          <a:p>
            <a:pPr lvl="1"/>
            <a:r>
              <a:rPr lang="en-US" dirty="0"/>
              <a:t>Not just for HTML/XML</a:t>
            </a:r>
          </a:p>
          <a:p>
            <a:pPr lvl="1"/>
            <a:r>
              <a:rPr lang="en-US" dirty="0"/>
              <a:t>Extensible</a:t>
            </a:r>
          </a:p>
          <a:p>
            <a:pPr lvl="2"/>
            <a:r>
              <a:rPr lang="en-US" dirty="0"/>
              <a:t>Easy creation of custom template tags / filters</a:t>
            </a:r>
          </a:p>
          <a:p>
            <a:pPr lvl="1"/>
            <a:r>
              <a:rPr lang="en-US" dirty="0"/>
              <a:t>Decoupled</a:t>
            </a:r>
          </a:p>
          <a:p>
            <a:pPr lvl="1"/>
            <a:r>
              <a:rPr lang="en-US" dirty="0"/>
              <a:t>Easy to bypass or swap for something else </a:t>
            </a:r>
            <a:r>
              <a:rPr lang="en-US" dirty="0" smtClean="0"/>
              <a:t>entirely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0669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Template </a:t>
            </a:r>
            <a:r>
              <a:rPr lang="en-US" dirty="0" smtClean="0"/>
              <a:t>concepts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Replacement variables</a:t>
            </a:r>
          </a:p>
          <a:p>
            <a:pPr marL="400050" lvl="1" indent="0">
              <a:buNone/>
            </a:pPr>
            <a:r>
              <a:rPr lang="en-US" sz="2400" dirty="0"/>
              <a:t>{{ </a:t>
            </a:r>
            <a:r>
              <a:rPr lang="en-US" sz="2400" dirty="0" err="1"/>
              <a:t>article.title</a:t>
            </a:r>
            <a:r>
              <a:rPr lang="en-US" sz="2400" dirty="0"/>
              <a:t> }}</a:t>
            </a:r>
          </a:p>
          <a:p>
            <a:r>
              <a:rPr lang="en-US" dirty="0"/>
              <a:t>Tags</a:t>
            </a:r>
          </a:p>
          <a:p>
            <a:pPr marL="400050" lvl="1" indent="0">
              <a:buNone/>
            </a:pPr>
            <a:r>
              <a:rPr lang="en-US" sz="2400" dirty="0"/>
              <a:t>{% if </a:t>
            </a:r>
            <a:r>
              <a:rPr lang="en-US" sz="2400" dirty="0" err="1"/>
              <a:t>article.published</a:t>
            </a:r>
            <a:r>
              <a:rPr lang="en-US" sz="2400" dirty="0"/>
              <a:t> %}...{% </a:t>
            </a:r>
            <a:r>
              <a:rPr lang="en-US" sz="2400" dirty="0" err="1"/>
              <a:t>endif</a:t>
            </a:r>
            <a:r>
              <a:rPr lang="en-US" sz="2400" dirty="0"/>
              <a:t> %}</a:t>
            </a:r>
          </a:p>
          <a:p>
            <a:r>
              <a:rPr lang="en-US" dirty="0"/>
              <a:t>Filters</a:t>
            </a:r>
          </a:p>
          <a:p>
            <a:pPr marL="400050" lvl="1" indent="0">
              <a:buNone/>
            </a:pPr>
            <a:r>
              <a:rPr lang="en-US" sz="2400" dirty="0"/>
              <a:t>{{ </a:t>
            </a:r>
            <a:r>
              <a:rPr lang="en-US" sz="2400" dirty="0" err="1"/>
              <a:t>article.title|upper</a:t>
            </a:r>
            <a:r>
              <a:rPr lang="en-US" sz="2400" dirty="0"/>
              <a:t> }}</a:t>
            </a:r>
          </a:p>
          <a:p>
            <a:pPr marL="400050" lvl="1" indent="0">
              <a:buNone/>
            </a:pPr>
            <a:r>
              <a:rPr lang="en-US" sz="2400" dirty="0"/>
              <a:t>{{ article.body|truncatewords:”50”|escape }}</a:t>
            </a:r>
          </a:p>
          <a:p>
            <a:r>
              <a:rPr lang="en-US" dirty="0"/>
              <a:t>Template inheritance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5020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</a:t>
            </a:r>
            <a:r>
              <a:rPr lang="en-US" dirty="0" smtClean="0"/>
              <a:t>template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&lt;h1&gt;</a:t>
            </a:r>
            <a:r>
              <a:rPr lang="en-US" altLang="uk-UA" sz="1200" dirty="0">
                <a:solidFill>
                  <a:srgbClr val="FF6633"/>
                </a:solidFill>
                <a:latin typeface="Verdana" pitchFamily="32" charset="0"/>
              </a:rPr>
              <a:t>{{ </a:t>
            </a:r>
            <a:r>
              <a:rPr lang="en-US" altLang="uk-UA" sz="1200" dirty="0" err="1">
                <a:solidFill>
                  <a:srgbClr val="FF6633"/>
                </a:solidFill>
                <a:latin typeface="Verdana" pitchFamily="32" charset="0"/>
              </a:rPr>
              <a:t>poll.question</a:t>
            </a:r>
            <a:r>
              <a:rPr lang="en-US" altLang="uk-UA" sz="1200" dirty="0">
                <a:solidFill>
                  <a:srgbClr val="FF6633"/>
                </a:solidFill>
                <a:latin typeface="Verdana" pitchFamily="32" charset="0"/>
              </a:rPr>
              <a:t> }}</a:t>
            </a: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&lt;/h1&gt;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{% if </a:t>
            </a:r>
            <a:r>
              <a:rPr lang="en-US" altLang="uk-UA" sz="1200" dirty="0" err="1">
                <a:solidFill>
                  <a:srgbClr val="FF6309"/>
                </a:solidFill>
                <a:latin typeface="Verdana" pitchFamily="32" charset="0"/>
              </a:rPr>
              <a:t>error_message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 %}</a:t>
            </a: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&lt;p&gt;&lt;strong&gt;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{{ </a:t>
            </a:r>
            <a:r>
              <a:rPr lang="en-US" altLang="uk-UA" sz="1200" dirty="0" err="1">
                <a:solidFill>
                  <a:srgbClr val="FF6309"/>
                </a:solidFill>
                <a:latin typeface="Verdana" pitchFamily="32" charset="0"/>
              </a:rPr>
              <a:t>error_message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 }}</a:t>
            </a: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&lt;/strong&gt;&lt;/p&gt;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{% </a:t>
            </a:r>
            <a:r>
              <a:rPr lang="en-US" altLang="uk-UA" sz="1200" dirty="0" err="1">
                <a:solidFill>
                  <a:srgbClr val="FF6309"/>
                </a:solidFill>
                <a:latin typeface="Verdana" pitchFamily="32" charset="0"/>
              </a:rPr>
              <a:t>endif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 %}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&lt;form action="/polls/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{{ poll.id }}</a:t>
            </a: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/vote/" method="post"&gt;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{% </a:t>
            </a:r>
            <a:r>
              <a:rPr lang="en-US" altLang="uk-UA" sz="1200" dirty="0" err="1">
                <a:solidFill>
                  <a:srgbClr val="FF6309"/>
                </a:solidFill>
                <a:latin typeface="Verdana" pitchFamily="32" charset="0"/>
              </a:rPr>
              <a:t>csrf_token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 %}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{% for choice in </a:t>
            </a:r>
            <a:r>
              <a:rPr lang="en-US" altLang="uk-UA" sz="1200" dirty="0" err="1">
                <a:solidFill>
                  <a:srgbClr val="FF6309"/>
                </a:solidFill>
                <a:latin typeface="Verdana" pitchFamily="32" charset="0"/>
              </a:rPr>
              <a:t>poll.choice_set.all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 %}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    &lt;input type="radio" name="choice" id="choice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{{ </a:t>
            </a:r>
            <a:r>
              <a:rPr lang="en-US" altLang="uk-UA" sz="1200" dirty="0" err="1">
                <a:solidFill>
                  <a:srgbClr val="FF6309"/>
                </a:solidFill>
                <a:latin typeface="Verdana" pitchFamily="32" charset="0"/>
              </a:rPr>
              <a:t>forloop.counter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 }}</a:t>
            </a: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" value="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{{ choice.id }}</a:t>
            </a: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" /&gt;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    &lt;label for="choice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{{ </a:t>
            </a:r>
            <a:r>
              <a:rPr lang="en-US" altLang="uk-UA" sz="1200" dirty="0" err="1">
                <a:solidFill>
                  <a:srgbClr val="FF6309"/>
                </a:solidFill>
                <a:latin typeface="Verdana" pitchFamily="32" charset="0"/>
              </a:rPr>
              <a:t>forloop.counter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 }}</a:t>
            </a: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"&gt;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{{ </a:t>
            </a:r>
            <a:r>
              <a:rPr lang="en-US" altLang="uk-UA" sz="1200" dirty="0" err="1">
                <a:solidFill>
                  <a:srgbClr val="FF6309"/>
                </a:solidFill>
                <a:latin typeface="Verdana" pitchFamily="32" charset="0"/>
              </a:rPr>
              <a:t>choice.choice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 }}</a:t>
            </a: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&lt;/label&gt;&lt;</a:t>
            </a:r>
            <a:r>
              <a:rPr lang="en-US" altLang="uk-UA" sz="1200" dirty="0" err="1">
                <a:solidFill>
                  <a:srgbClr val="333333"/>
                </a:solidFill>
                <a:latin typeface="Verdana" pitchFamily="32" charset="0"/>
              </a:rPr>
              <a:t>br</a:t>
            </a: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 /&gt;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{% </a:t>
            </a:r>
            <a:r>
              <a:rPr lang="en-US" altLang="uk-UA" sz="1200" dirty="0" err="1">
                <a:solidFill>
                  <a:srgbClr val="FF6309"/>
                </a:solidFill>
                <a:latin typeface="Verdana" pitchFamily="32" charset="0"/>
              </a:rPr>
              <a:t>endfor</a:t>
            </a:r>
            <a:r>
              <a:rPr lang="en-US" altLang="uk-UA" sz="1200" dirty="0">
                <a:solidFill>
                  <a:srgbClr val="FF6309"/>
                </a:solidFill>
                <a:latin typeface="Verdana" pitchFamily="32" charset="0"/>
              </a:rPr>
              <a:t> %}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&lt;input type="submit" value="Vote" /&gt;</a:t>
            </a:r>
          </a:p>
          <a:p>
            <a:pPr marL="0" lvl="0" indent="0" defTabSz="457200" fontAlgn="base">
              <a:spcBef>
                <a:spcPts val="45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altLang="uk-UA" sz="1200" dirty="0">
                <a:solidFill>
                  <a:srgbClr val="333333"/>
                </a:solidFill>
                <a:latin typeface="Verdana" pitchFamily="32" charset="0"/>
              </a:rPr>
              <a:t>&lt;/form</a:t>
            </a:r>
            <a:r>
              <a:rPr lang="en-US" altLang="uk-UA" sz="1200" dirty="0" smtClean="0">
                <a:solidFill>
                  <a:srgbClr val="333333"/>
                </a:solidFill>
                <a:latin typeface="Verdana" pitchFamily="32" charset="0"/>
              </a:rPr>
              <a:t>&gt;</a:t>
            </a:r>
            <a:endParaRPr lang="en-US" altLang="uk-UA" sz="1200" dirty="0">
              <a:solidFill>
                <a:srgbClr val="333333"/>
              </a:solidFill>
              <a:latin typeface="Verdana" pitchFamily="3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69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Middleware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Classes that modify the request handling process</a:t>
            </a:r>
          </a:p>
          <a:p>
            <a:r>
              <a:rPr lang="en-US" dirty="0" err="1"/>
              <a:t>Django</a:t>
            </a:r>
            <a:r>
              <a:rPr lang="en-US" dirty="0"/>
              <a:t> ships with a number of middleware classes:</a:t>
            </a:r>
          </a:p>
          <a:p>
            <a:pPr lvl="1"/>
            <a:r>
              <a:rPr lang="en-US" dirty="0"/>
              <a:t>Locale detection (part of i18n)</a:t>
            </a:r>
          </a:p>
          <a:p>
            <a:pPr lvl="1"/>
            <a:r>
              <a:rPr lang="en-US" dirty="0" err="1"/>
              <a:t>GZip</a:t>
            </a:r>
            <a:r>
              <a:rPr lang="en-US" dirty="0"/>
              <a:t> compression</a:t>
            </a:r>
          </a:p>
          <a:p>
            <a:pPr lvl="1"/>
            <a:r>
              <a:rPr lang="en-US" dirty="0"/>
              <a:t>etc...</a:t>
            </a:r>
          </a:p>
          <a:p>
            <a:endParaRPr lang="en-US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6122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S_Presentation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SS_Presentation Template</Template>
  <TotalTime>37</TotalTime>
  <Words>818</Words>
  <Application>Microsoft Office PowerPoint</Application>
  <PresentationFormat>On-screen Show (4:3)</PresentationFormat>
  <Paragraphs>152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SS_Presentation Template</vt:lpstr>
      <vt:lpstr>Django</vt:lpstr>
      <vt:lpstr>What's Django?</vt:lpstr>
      <vt:lpstr>This talk...</vt:lpstr>
      <vt:lpstr>Quick look</vt:lpstr>
      <vt:lpstr>Django philosophy</vt:lpstr>
      <vt:lpstr>Django components</vt:lpstr>
      <vt:lpstr>PowerPoint Presentation</vt:lpstr>
      <vt:lpstr>Django core</vt:lpstr>
      <vt:lpstr>URL mapping</vt:lpstr>
      <vt:lpstr>Models</vt:lpstr>
      <vt:lpstr>Model definitions</vt:lpstr>
      <vt:lpstr>Model API</vt:lpstr>
      <vt:lpstr>More Model API</vt:lpstr>
      <vt:lpstr>View functions</vt:lpstr>
      <vt:lpstr>Example view function</vt:lpstr>
      <vt:lpstr>Generic views</vt:lpstr>
      <vt:lpstr>Templates</vt:lpstr>
      <vt:lpstr>Template concepts</vt:lpstr>
      <vt:lpstr>Example template</vt:lpstr>
      <vt:lpstr>Middleware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</dc:title>
  <dc:creator>Liubomyr Halamaha</dc:creator>
  <cp:lastModifiedBy>Liubomyr Halamaha</cp:lastModifiedBy>
  <cp:revision>11</cp:revision>
  <dcterms:created xsi:type="dcterms:W3CDTF">2014-03-19T14:16:51Z</dcterms:created>
  <dcterms:modified xsi:type="dcterms:W3CDTF">2014-03-19T14:54:39Z</dcterms:modified>
</cp:coreProperties>
</file>