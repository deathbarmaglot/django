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60" r:id="rId2"/>
    <p:sldId id="306" r:id="rId3"/>
    <p:sldId id="316" r:id="rId4"/>
    <p:sldId id="317" r:id="rId5"/>
    <p:sldId id="318" r:id="rId6"/>
    <p:sldId id="319" r:id="rId7"/>
    <p:sldId id="346" r:id="rId8"/>
    <p:sldId id="315" r:id="rId9"/>
    <p:sldId id="310" r:id="rId10"/>
    <p:sldId id="330" r:id="rId11"/>
    <p:sldId id="322" r:id="rId12"/>
    <p:sldId id="321" r:id="rId13"/>
    <p:sldId id="320" r:id="rId14"/>
    <p:sldId id="323" r:id="rId15"/>
    <p:sldId id="324" r:id="rId16"/>
    <p:sldId id="325" r:id="rId17"/>
    <p:sldId id="326" r:id="rId18"/>
    <p:sldId id="327" r:id="rId19"/>
    <p:sldId id="328" r:id="rId20"/>
    <p:sldId id="329" r:id="rId21"/>
    <p:sldId id="331" r:id="rId22"/>
    <p:sldId id="311" r:id="rId23"/>
    <p:sldId id="332" r:id="rId24"/>
    <p:sldId id="333" r:id="rId25"/>
    <p:sldId id="334" r:id="rId26"/>
    <p:sldId id="335" r:id="rId27"/>
    <p:sldId id="336" r:id="rId28"/>
    <p:sldId id="337" r:id="rId29"/>
    <p:sldId id="338" r:id="rId30"/>
    <p:sldId id="339" r:id="rId31"/>
    <p:sldId id="341" r:id="rId32"/>
    <p:sldId id="344" r:id="rId33"/>
    <p:sldId id="345" r:id="rId34"/>
    <p:sldId id="312" r:id="rId35"/>
    <p:sldId id="340" r:id="rId36"/>
    <p:sldId id="343" r:id="rId37"/>
    <p:sldId id="288" r:id="rId38"/>
  </p:sldIdLst>
  <p:sldSz cx="9144000" cy="6858000" type="screen4x3"/>
  <p:notesSz cx="6669088"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467" autoAdjust="0"/>
  </p:normalViewPr>
  <p:slideViewPr>
    <p:cSldViewPr>
      <p:cViewPr varScale="1">
        <p:scale>
          <a:sx n="62" d="100"/>
          <a:sy n="62" d="100"/>
        </p:scale>
        <p:origin x="-726"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777607" y="0"/>
            <a:ext cx="2889938" cy="496332"/>
          </a:xfrm>
          <a:prstGeom prst="rect">
            <a:avLst/>
          </a:prstGeom>
        </p:spPr>
        <p:txBody>
          <a:bodyPr vert="horz" lIns="91440" tIns="45720" rIns="91440" bIns="45720" rtlCol="0"/>
          <a:lstStyle>
            <a:lvl1pPr algn="r">
              <a:defRPr sz="1200"/>
            </a:lvl1pPr>
          </a:lstStyle>
          <a:p>
            <a:fld id="{BE56D99E-C6D5-4E37-998F-434449DFD517}" type="datetimeFigureOut">
              <a:rPr lang="en-US" smtClean="0"/>
              <a:pPr/>
              <a:t>4/20/2012</a:t>
            </a:fld>
            <a:endParaRPr lang="en-US" dirty="0"/>
          </a:p>
        </p:txBody>
      </p:sp>
      <p:sp>
        <p:nvSpPr>
          <p:cNvPr id="4" name="Slide Image Placeholder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66909" y="4715153"/>
            <a:ext cx="5335270" cy="446698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8583"/>
            <a:ext cx="2889938" cy="496332"/>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777607" y="9428583"/>
            <a:ext cx="2889938" cy="496332"/>
          </a:xfrm>
          <a:prstGeom prst="rect">
            <a:avLst/>
          </a:prstGeom>
        </p:spPr>
        <p:txBody>
          <a:bodyPr vert="horz" lIns="91440" tIns="45720" rIns="91440" bIns="45720" rtlCol="0" anchor="b"/>
          <a:lstStyle>
            <a:lvl1pPr algn="r">
              <a:defRPr sz="1200"/>
            </a:lvl1pPr>
          </a:lstStyle>
          <a:p>
            <a:fld id="{A5BA4919-15E4-4E35-BCA7-8B3F16CCD66F}" type="slidenum">
              <a:rPr lang="en-US" smtClean="0"/>
              <a:pPr/>
              <a:t>‹#›</a:t>
            </a:fld>
            <a:endParaRPr lang="en-US" dirty="0"/>
          </a:p>
        </p:txBody>
      </p:sp>
    </p:spTree>
    <p:extLst>
      <p:ext uri="{BB962C8B-B14F-4D97-AF65-F5344CB8AC3E}">
        <p14:creationId xmlns="" xmlns:p14="http://schemas.microsoft.com/office/powerpoint/2010/main" val="1796175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p:spPr>
      </p:sp>
      <p:sp>
        <p:nvSpPr>
          <p:cNvPr id="358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
        <p:nvSpPr>
          <p:cNvPr id="6349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F15B1D7-BD12-436D-91B8-4E9339709C7A}" type="slidenum">
              <a:rPr lang="en-US" smtClean="0"/>
              <a:pPr fontAlgn="base">
                <a:spcBef>
                  <a:spcPct val="0"/>
                </a:spcBef>
                <a:spcAft>
                  <a:spcPct val="0"/>
                </a:spcAft>
                <a:defRPr/>
              </a:pPr>
              <a:t>1</a:t>
            </a:fld>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2CD948B4-9A84-4BDD-8558-24D1CF0EFAAD}" type="slidenum">
              <a:rPr lang="uk-UA" smtClean="0"/>
              <a:pPr/>
              <a:t>37</a:t>
            </a:fld>
            <a:endParaRPr lang="uk-UA" smtClean="0"/>
          </a:p>
        </p:txBody>
      </p:sp>
      <p:sp>
        <p:nvSpPr>
          <p:cNvPr id="49155" name="Rectangle 2"/>
          <p:cNvSpPr>
            <a:spLocks noGrp="1" noRot="1" noChangeAspect="1" noChangeArrowheads="1" noTextEdit="1"/>
          </p:cNvSpPr>
          <p:nvPr>
            <p:ph type="sldImg"/>
          </p:nvPr>
        </p:nvSpPr>
        <p:spPr>
          <a:xfrm>
            <a:off x="855663" y="744538"/>
            <a:ext cx="4960937" cy="3722687"/>
          </a:xfrm>
          <a:ln/>
        </p:spPr>
      </p:sp>
      <p:sp>
        <p:nvSpPr>
          <p:cNvPr id="4915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9" name="Picture 8" descr="GettyImages_98064892.jpg"/>
          <p:cNvPicPr>
            <a:picLocks noChangeAspect="1"/>
          </p:cNvPicPr>
          <p:nvPr userDrawn="1"/>
        </p:nvPicPr>
        <p:blipFill>
          <a:blip r:embed="rId3" cstate="print"/>
          <a:stretch>
            <a:fillRect/>
          </a:stretch>
        </p:blipFill>
        <p:spPr>
          <a:xfrm>
            <a:off x="0" y="3685245"/>
            <a:ext cx="2058299" cy="1447800"/>
          </a:xfrm>
          <a:prstGeom prst="rect">
            <a:avLst/>
          </a:prstGeom>
        </p:spPr>
      </p:pic>
      <p:grpSp>
        <p:nvGrpSpPr>
          <p:cNvPr id="10"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20" name="Picture 19" descr="GettyImages_95469335.jpg"/>
          <p:cNvPicPr>
            <a:picLocks noChangeAspect="1"/>
          </p:cNvPicPr>
          <p:nvPr userDrawn="1"/>
        </p:nvPicPr>
        <p:blipFill>
          <a:blip r:embed="rId3" cstate="print"/>
          <a:stretch>
            <a:fillRect/>
          </a:stretch>
        </p:blipFill>
        <p:spPr>
          <a:xfrm>
            <a:off x="0" y="3695700"/>
            <a:ext cx="2036064" cy="1597152"/>
          </a:xfrm>
          <a:prstGeom prst="rect">
            <a:avLst/>
          </a:prstGeom>
        </p:spPr>
      </p:pic>
      <p:grpSp>
        <p:nvGrpSpPr>
          <p:cNvPr id="8"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15" name="Picture 14" descr="GettyImages_97541937.jpg"/>
          <p:cNvPicPr>
            <a:picLocks noChangeAspect="1"/>
          </p:cNvPicPr>
          <p:nvPr userDrawn="1"/>
        </p:nvPicPr>
        <p:blipFill>
          <a:blip r:embed="rId3" cstate="print"/>
          <a:stretch>
            <a:fillRect/>
          </a:stretch>
        </p:blipFill>
        <p:spPr>
          <a:xfrm>
            <a:off x="1" y="3694463"/>
            <a:ext cx="1981199" cy="1320223"/>
          </a:xfrm>
          <a:prstGeom prst="rect">
            <a:avLst/>
          </a:prstGeom>
        </p:spPr>
      </p:pic>
      <p:grpSp>
        <p:nvGrpSpPr>
          <p:cNvPr id="8"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14" name="Picture 13" descr="UP.jpg"/>
          <p:cNvPicPr>
            <a:picLocks noChangeAspect="1"/>
          </p:cNvPicPr>
          <p:nvPr userDrawn="1"/>
        </p:nvPicPr>
        <p:blipFill>
          <a:blip r:embed="rId3" cstate="print"/>
          <a:srcRect l="1220" t="2137" r="1300" b="1973"/>
          <a:stretch>
            <a:fillRect/>
          </a:stretch>
        </p:blipFill>
        <p:spPr>
          <a:xfrm>
            <a:off x="0" y="3695700"/>
            <a:ext cx="2133600" cy="1198351"/>
          </a:xfrm>
          <a:prstGeom prst="rect">
            <a:avLst/>
          </a:prstGeom>
          <a:ln>
            <a:noFill/>
          </a:ln>
          <a:effectLst/>
        </p:spPr>
      </p:pic>
      <p:grpSp>
        <p:nvGrpSpPr>
          <p:cNvPr id="8"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3074" name="Picture 2" descr="C:\Documents and Settings\rmash\Desktop\GettyImages_stk80021cor.jpg"/>
          <p:cNvPicPr>
            <a:picLocks noChangeAspect="1" noChangeArrowheads="1"/>
          </p:cNvPicPr>
          <p:nvPr userDrawn="1"/>
        </p:nvPicPr>
        <p:blipFill>
          <a:blip r:embed="rId3" cstate="print"/>
          <a:srcRect/>
          <a:stretch>
            <a:fillRect/>
          </a:stretch>
        </p:blipFill>
        <p:spPr bwMode="auto">
          <a:xfrm>
            <a:off x="0" y="3693885"/>
            <a:ext cx="1981200" cy="1981200"/>
          </a:xfrm>
          <a:prstGeom prst="rect">
            <a:avLst/>
          </a:prstGeom>
          <a:noFill/>
        </p:spPr>
      </p:pic>
      <p:grpSp>
        <p:nvGrpSpPr>
          <p:cNvPr id="2"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4098" name="Picture 2" descr="C:\Documents and Settings\rmash\Desktop\GettyImages_80281950.jpg"/>
          <p:cNvPicPr>
            <a:picLocks noChangeAspect="1" noChangeArrowheads="1"/>
          </p:cNvPicPr>
          <p:nvPr userDrawn="1"/>
        </p:nvPicPr>
        <p:blipFill>
          <a:blip r:embed="rId3" cstate="print"/>
          <a:srcRect/>
          <a:stretch>
            <a:fillRect/>
          </a:stretch>
        </p:blipFill>
        <p:spPr bwMode="auto">
          <a:xfrm>
            <a:off x="765" y="3693884"/>
            <a:ext cx="2132835" cy="1420947"/>
          </a:xfrm>
          <a:prstGeom prst="rect">
            <a:avLst/>
          </a:prstGeom>
          <a:noFill/>
        </p:spPr>
      </p:pic>
      <p:grpSp>
        <p:nvGrpSpPr>
          <p:cNvPr id="2"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5122" name="Picture 2" descr="C:\Documents and Settings\rmash\Desktop\GettyImages_102756315.jpg"/>
          <p:cNvPicPr>
            <a:picLocks noChangeAspect="1" noChangeArrowheads="1"/>
          </p:cNvPicPr>
          <p:nvPr userDrawn="1"/>
        </p:nvPicPr>
        <p:blipFill>
          <a:blip r:embed="rId3" cstate="print"/>
          <a:srcRect/>
          <a:stretch>
            <a:fillRect/>
          </a:stretch>
        </p:blipFill>
        <p:spPr bwMode="auto">
          <a:xfrm>
            <a:off x="-1777" y="3693885"/>
            <a:ext cx="2160778" cy="1439863"/>
          </a:xfrm>
          <a:prstGeom prst="rect">
            <a:avLst/>
          </a:prstGeom>
          <a:noFill/>
        </p:spPr>
      </p:pic>
      <p:grpSp>
        <p:nvGrpSpPr>
          <p:cNvPr id="2"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 name="TextBox 6"/>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3" name="Subtitle 2"/>
          <p:cNvSpPr>
            <a:spLocks noGrp="1"/>
          </p:cNvSpPr>
          <p:nvPr>
            <p:ph type="subTitle" idx="1"/>
          </p:nvPr>
        </p:nvSpPr>
        <p:spPr>
          <a:xfrm>
            <a:off x="2209800" y="3962400"/>
            <a:ext cx="6400800" cy="1752600"/>
          </a:xfrm>
        </p:spPr>
        <p:txBody>
          <a:bodyPr>
            <a:normAutofit/>
          </a:bodyPr>
          <a:lstStyle>
            <a:lvl1pPr marL="0" indent="0" algn="l">
              <a:buNone/>
              <a:defRPr sz="3200">
                <a:solidFill>
                  <a:schemeClr val="tx1">
                    <a:lumMod val="75000"/>
                    <a:lumOff val="25000"/>
                  </a:schemeClr>
                </a:solidFill>
                <a:latin typeface="Verdan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Verdana" pitchFamily="34" charset="0"/>
              </a:defRPr>
            </a:lvl1pPr>
          </a:lstStyle>
          <a:p>
            <a:fld id="{3805B254-F9CB-41C5-B120-F4B38BF2206D}" type="slidenum">
              <a:rPr lang="en-US" smtClean="0"/>
              <a:pPr/>
              <a:t>‹#›</a:t>
            </a:fld>
            <a:endParaRPr lang="en-US" dirty="0"/>
          </a:p>
        </p:txBody>
      </p:sp>
      <p:pic>
        <p:nvPicPr>
          <p:cNvPr id="17" name="Picture 16" descr="softserve-logo-white-for-blue.gif"/>
          <p:cNvPicPr>
            <a:picLocks noChangeAspect="1"/>
          </p:cNvPicPr>
          <p:nvPr userDrawn="1"/>
        </p:nvPicPr>
        <p:blipFill>
          <a:blip r:embed="rId2" cstate="print"/>
          <a:stretch>
            <a:fillRect/>
          </a:stretch>
        </p:blipFill>
        <p:spPr>
          <a:xfrm>
            <a:off x="685800" y="838201"/>
            <a:ext cx="3260034" cy="914400"/>
          </a:xfrm>
          <a:prstGeom prst="rect">
            <a:avLst/>
          </a:prstGeom>
        </p:spPr>
      </p:pic>
      <p:pic>
        <p:nvPicPr>
          <p:cNvPr id="6146" name="Picture 2" descr="C:\Documents and Settings\rmash\Desktop\GettyImages_96502260.jpg"/>
          <p:cNvPicPr>
            <a:picLocks noChangeAspect="1" noChangeArrowheads="1"/>
          </p:cNvPicPr>
          <p:nvPr userDrawn="1"/>
        </p:nvPicPr>
        <p:blipFill>
          <a:blip r:embed="rId3" cstate="print"/>
          <a:srcRect/>
          <a:stretch>
            <a:fillRect/>
          </a:stretch>
        </p:blipFill>
        <p:spPr bwMode="auto">
          <a:xfrm>
            <a:off x="0" y="3701144"/>
            <a:ext cx="2133600" cy="1599814"/>
          </a:xfrm>
          <a:prstGeom prst="rect">
            <a:avLst/>
          </a:prstGeom>
          <a:noFill/>
        </p:spPr>
      </p:pic>
      <p:grpSp>
        <p:nvGrpSpPr>
          <p:cNvPr id="2" name="Group 9"/>
          <p:cNvGrpSpPr/>
          <p:nvPr userDrawn="1"/>
        </p:nvGrpSpPr>
        <p:grpSpPr>
          <a:xfrm>
            <a:off x="0" y="152400"/>
            <a:ext cx="9144000" cy="6553200"/>
            <a:chOff x="0" y="152400"/>
            <a:chExt cx="9144000" cy="6553200"/>
          </a:xfrm>
        </p:grpSpPr>
        <p:sp>
          <p:nvSpPr>
            <p:cNvPr id="11" name="Rectangle 10"/>
            <p:cNvSpPr/>
            <p:nvPr/>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p:cNvSpPr/>
            <p:nvPr/>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solidFill>
                  <a:schemeClr val="bg1"/>
                </a:solidFill>
                <a:latin typeface="Verdana"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Font typeface="Wingdings" pitchFamily="2" charset="2"/>
              <a:buChar char="§"/>
              <a:defRPr sz="2400">
                <a:solidFill>
                  <a:schemeClr val="tx1">
                    <a:lumMod val="75000"/>
                    <a:lumOff val="25000"/>
                  </a:schemeClr>
                </a:solidFill>
                <a:latin typeface="Verdana" pitchFamily="34" charset="0"/>
              </a:defRPr>
            </a:lvl1pPr>
            <a:lvl2pPr>
              <a:defRPr sz="2000">
                <a:solidFill>
                  <a:schemeClr val="tx1">
                    <a:lumMod val="75000"/>
                    <a:lumOff val="25000"/>
                  </a:schemeClr>
                </a:solidFill>
                <a:latin typeface="Verdana" pitchFamily="34" charset="0"/>
              </a:defRPr>
            </a:lvl2pPr>
            <a:lvl3pPr>
              <a:defRPr sz="1800">
                <a:solidFill>
                  <a:schemeClr val="tx1">
                    <a:lumMod val="75000"/>
                    <a:lumOff val="25000"/>
                  </a:schemeClr>
                </a:solidFill>
                <a:latin typeface="Verdana" pitchFamily="34" charset="0"/>
              </a:defRPr>
            </a:lvl3pPr>
            <a:lvl4pPr>
              <a:defRPr sz="1600">
                <a:solidFill>
                  <a:schemeClr val="tx1">
                    <a:lumMod val="75000"/>
                    <a:lumOff val="25000"/>
                  </a:schemeClr>
                </a:solidFill>
                <a:latin typeface="Verdana" pitchFamily="34" charset="0"/>
              </a:defRPr>
            </a:lvl4pPr>
            <a:lvl5pPr>
              <a:defRPr sz="1400">
                <a:solidFill>
                  <a:schemeClr val="tx1">
                    <a:lumMod val="75000"/>
                    <a:lumOff val="25000"/>
                  </a:schemeClr>
                </a:solidFill>
                <a:latin typeface="Verdan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805B254-F9CB-41C5-B120-F4B38BF2206D}" type="slidenum">
              <a:rPr lang="en-US" smtClean="0"/>
              <a:pPr/>
              <a:t>‹#›</a:t>
            </a:fld>
            <a:endParaRPr lang="en-US" dirty="0"/>
          </a:p>
        </p:txBody>
      </p:sp>
      <p:pic>
        <p:nvPicPr>
          <p:cNvPr id="7" name="Picture 6" descr="softserve logo.gif"/>
          <p:cNvPicPr>
            <a:picLocks noChangeAspect="1"/>
          </p:cNvPicPr>
          <p:nvPr userDrawn="1"/>
        </p:nvPicPr>
        <p:blipFill>
          <a:blip r:embed="rId2" cstate="print"/>
          <a:stretch>
            <a:fillRect/>
          </a:stretch>
        </p:blipFill>
        <p:spPr>
          <a:xfrm>
            <a:off x="7315200" y="6324600"/>
            <a:ext cx="1428750" cy="40005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normAutofit/>
          </a:bodyPr>
          <a:lstStyle>
            <a:lvl1pPr algn="l">
              <a:defRPr sz="2800" b="0" cap="all">
                <a:solidFill>
                  <a:schemeClr val="tx1">
                    <a:lumMod val="75000"/>
                    <a:lumOff val="25000"/>
                  </a:schemeClr>
                </a:solidFill>
                <a:latin typeface="Verdana" pitchFamily="34" charset="0"/>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3962400"/>
            <a:ext cx="7772400" cy="444500"/>
          </a:xfrm>
        </p:spPr>
        <p:txBody>
          <a:bodyPr anchor="b"/>
          <a:lstStyle>
            <a:lvl1pPr marL="0" indent="0">
              <a:buNone/>
              <a:defRPr sz="2000">
                <a:solidFill>
                  <a:schemeClr val="tx1">
                    <a:tint val="75000"/>
                  </a:schemeClr>
                </a:solidFill>
                <a:latin typeface="Verdana"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4" name="Date Placeholder 3"/>
          <p:cNvSpPr>
            <a:spLocks noGrp="1"/>
          </p:cNvSpPr>
          <p:nvPr>
            <p:ph type="dt" sz="half" idx="10"/>
          </p:nvPr>
        </p:nvSpPr>
        <p:spPr/>
        <p:txBody>
          <a:bodyPr/>
          <a:lstStyle>
            <a:lvl1pPr>
              <a:defRPr>
                <a:latin typeface="Verdana" pitchFamily="34" charset="0"/>
              </a:defRPr>
            </a:lvl1p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lvl1pPr>
              <a:defRPr>
                <a:latin typeface="Verdana" pitchFamily="34" charset="0"/>
              </a:defRPr>
            </a:lvl1pPr>
          </a:lstStyle>
          <a:p>
            <a:endParaRPr lang="en-US" dirty="0"/>
          </a:p>
        </p:txBody>
      </p:sp>
      <p:sp>
        <p:nvSpPr>
          <p:cNvPr id="6" name="Slide Number Placeholder 5"/>
          <p:cNvSpPr>
            <a:spLocks noGrp="1"/>
          </p:cNvSpPr>
          <p:nvPr>
            <p:ph type="sldNum" sz="quarter" idx="12"/>
          </p:nvPr>
        </p:nvSpPr>
        <p:spPr/>
        <p:txBody>
          <a:bodyPr/>
          <a:lstStyle/>
          <a:p>
            <a:fld id="{3805B254-F9CB-41C5-B120-F4B38BF2206D}" type="slidenum">
              <a:rPr lang="en-US" smtClean="0"/>
              <a:pPr/>
              <a:t>‹#›</a:t>
            </a:fld>
            <a:endParaRPr lang="en-US" dirty="0"/>
          </a:p>
        </p:txBody>
      </p:sp>
      <p:sp>
        <p:nvSpPr>
          <p:cNvPr id="8" name="TextBox 7"/>
          <p:cNvSpPr txBox="1"/>
          <p:nvPr userDrawn="1"/>
        </p:nvSpPr>
        <p:spPr>
          <a:xfrm>
            <a:off x="0" y="1"/>
            <a:ext cx="9144000" cy="3693319"/>
          </a:xfrm>
          <a:prstGeom prst="rect">
            <a:avLst/>
          </a:prstGeom>
          <a:solidFill>
            <a:schemeClr val="bg1">
              <a:lumMod val="65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
        <p:nvSpPr>
          <p:cNvPr id="10" name="Rectangle 9"/>
          <p:cNvSpPr/>
          <p:nvPr userDrawn="1"/>
        </p:nvSpPr>
        <p:spPr>
          <a:xfrm>
            <a:off x="0" y="228600"/>
            <a:ext cx="152400" cy="6324600"/>
          </a:xfrm>
          <a:prstGeom prst="rect">
            <a:avLst/>
          </a:prstGeom>
          <a:solidFill>
            <a:schemeClr val="accent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76200" y="152400"/>
            <a:ext cx="533400" cy="65532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userDrawn="1"/>
        </p:nvSpPr>
        <p:spPr>
          <a:xfrm rot="5400000">
            <a:off x="4381500" y="-876301"/>
            <a:ext cx="380999" cy="9144000"/>
          </a:xfrm>
          <a:prstGeom prst="rect">
            <a:avLst/>
          </a:prstGeom>
          <a:solidFill>
            <a:schemeClr val="tx2">
              <a:lumMod val="20000"/>
              <a:lumOff val="8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softserve logo.gif"/>
          <p:cNvPicPr>
            <a:picLocks noChangeAspect="1"/>
          </p:cNvPicPr>
          <p:nvPr userDrawn="1"/>
        </p:nvPicPr>
        <p:blipFill>
          <a:blip r:embed="rId2" cstate="print"/>
          <a:stretch>
            <a:fillRect/>
          </a:stretch>
        </p:blipFill>
        <p:spPr>
          <a:xfrm>
            <a:off x="7315200" y="6324600"/>
            <a:ext cx="1428750" cy="40005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solidFill>
                  <a:schemeClr val="bg1"/>
                </a:solidFill>
                <a:latin typeface="Verdana" pitchFamily="34" charset="0"/>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000">
                <a:solidFill>
                  <a:schemeClr val="tx1">
                    <a:lumMod val="65000"/>
                    <a:lumOff val="35000"/>
                  </a:schemeClr>
                </a:solidFill>
                <a:latin typeface="Verdana" pitchFamily="34" charset="0"/>
              </a:defRPr>
            </a:lvl1pPr>
            <a:lvl2pPr>
              <a:defRPr sz="2000">
                <a:solidFill>
                  <a:schemeClr val="tx1">
                    <a:lumMod val="65000"/>
                    <a:lumOff val="35000"/>
                  </a:schemeClr>
                </a:solidFill>
                <a:latin typeface="Verdana" pitchFamily="34" charset="0"/>
              </a:defRPr>
            </a:lvl2pPr>
            <a:lvl3pPr>
              <a:defRPr sz="1800">
                <a:solidFill>
                  <a:schemeClr val="tx1">
                    <a:lumMod val="65000"/>
                    <a:lumOff val="35000"/>
                  </a:schemeClr>
                </a:solidFill>
                <a:latin typeface="Verdana" pitchFamily="34" charset="0"/>
              </a:defRPr>
            </a:lvl3pPr>
            <a:lvl4pPr>
              <a:defRPr sz="1600">
                <a:solidFill>
                  <a:schemeClr val="tx1">
                    <a:lumMod val="65000"/>
                    <a:lumOff val="35000"/>
                  </a:schemeClr>
                </a:solidFill>
                <a:latin typeface="Verdana" pitchFamily="34" charset="0"/>
              </a:defRPr>
            </a:lvl4pPr>
            <a:lvl5pPr>
              <a:defRPr sz="1400">
                <a:solidFill>
                  <a:schemeClr val="tx1">
                    <a:lumMod val="65000"/>
                    <a:lumOff val="35000"/>
                  </a:schemeClr>
                </a:solidFill>
                <a:latin typeface="Verdana" pitchFamily="34" charset="0"/>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000">
                <a:solidFill>
                  <a:schemeClr val="tx1">
                    <a:lumMod val="65000"/>
                    <a:lumOff val="35000"/>
                  </a:schemeClr>
                </a:solidFill>
                <a:latin typeface="Verdana" pitchFamily="34" charset="0"/>
              </a:defRPr>
            </a:lvl1pPr>
            <a:lvl2pPr>
              <a:defRPr sz="2000">
                <a:solidFill>
                  <a:schemeClr val="tx1">
                    <a:lumMod val="65000"/>
                    <a:lumOff val="35000"/>
                  </a:schemeClr>
                </a:solidFill>
                <a:latin typeface="Verdana" pitchFamily="34" charset="0"/>
              </a:defRPr>
            </a:lvl2pPr>
            <a:lvl3pPr>
              <a:defRPr sz="1800">
                <a:solidFill>
                  <a:schemeClr val="tx1">
                    <a:lumMod val="65000"/>
                    <a:lumOff val="35000"/>
                  </a:schemeClr>
                </a:solidFill>
                <a:latin typeface="Verdana" pitchFamily="34" charset="0"/>
              </a:defRPr>
            </a:lvl3pPr>
            <a:lvl4pPr>
              <a:defRPr sz="1600">
                <a:solidFill>
                  <a:schemeClr val="tx1">
                    <a:lumMod val="65000"/>
                    <a:lumOff val="35000"/>
                  </a:schemeClr>
                </a:solidFill>
                <a:latin typeface="Verdana" pitchFamily="34" charset="0"/>
              </a:defRPr>
            </a:lvl4pPr>
            <a:lvl5pPr>
              <a:defRPr sz="1600">
                <a:solidFill>
                  <a:schemeClr val="tx1">
                    <a:lumMod val="65000"/>
                    <a:lumOff val="35000"/>
                  </a:schemeClr>
                </a:solidFill>
                <a:latin typeface="Verdana" pitchFamily="34" charset="0"/>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fld id="{A126ED19-93A4-45AB-9AB4-151D3539CCFC}" type="datetimeFigureOut">
              <a:rPr lang="en-US" smtClean="0"/>
              <a:pPr/>
              <a:t>4/20/2012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805B254-F9CB-41C5-B120-F4B38BF2206D}" type="slidenum">
              <a:rPr lang="en-US" smtClean="0"/>
              <a:pPr/>
              <a:t>‹#›</a:t>
            </a:fld>
            <a:endParaRPr lang="en-US" dirty="0"/>
          </a:p>
        </p:txBody>
      </p:sp>
      <p:pic>
        <p:nvPicPr>
          <p:cNvPr id="8" name="Picture 7" descr="softserve logo.gif"/>
          <p:cNvPicPr>
            <a:picLocks noChangeAspect="1"/>
          </p:cNvPicPr>
          <p:nvPr userDrawn="1"/>
        </p:nvPicPr>
        <p:blipFill>
          <a:blip r:embed="rId2" cstate="print"/>
          <a:stretch>
            <a:fillRect/>
          </a:stretch>
        </p:blipFill>
        <p:spPr>
          <a:xfrm>
            <a:off x="7315200" y="6324600"/>
            <a:ext cx="1428750" cy="40005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600">
                <a:solidFill>
                  <a:schemeClr val="bg1"/>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noAutofit/>
          </a:bodyPr>
          <a:lstStyle>
            <a:lvl1pPr marL="0" indent="0">
              <a:buNone/>
              <a:defRPr sz="1800" b="1">
                <a:solidFill>
                  <a:schemeClr val="tx1">
                    <a:lumMod val="65000"/>
                    <a:lumOff val="35000"/>
                  </a:schemeClr>
                </a:solidFill>
                <a:latin typeface="Verdana"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buFont typeface="Wingdings" pitchFamily="2" charset="2"/>
              <a:buChar char="§"/>
              <a:defRPr sz="2400">
                <a:solidFill>
                  <a:schemeClr val="tx1">
                    <a:lumMod val="65000"/>
                    <a:lumOff val="35000"/>
                  </a:schemeClr>
                </a:solidFill>
              </a:defRPr>
            </a:lvl1pPr>
            <a:lvl2pPr>
              <a:defRPr sz="2000">
                <a:solidFill>
                  <a:schemeClr val="tx1">
                    <a:lumMod val="65000"/>
                    <a:lumOff val="35000"/>
                  </a:schemeClr>
                </a:solidFill>
              </a:defRPr>
            </a:lvl2pPr>
            <a:lvl3pPr>
              <a:defRPr sz="1800">
                <a:solidFill>
                  <a:schemeClr val="tx1">
                    <a:lumMod val="65000"/>
                    <a:lumOff val="35000"/>
                  </a:schemeClr>
                </a:solidFill>
              </a:defRPr>
            </a:lvl3pPr>
            <a:lvl4pPr>
              <a:defRPr sz="1600">
                <a:solidFill>
                  <a:schemeClr val="tx1">
                    <a:lumMod val="65000"/>
                    <a:lumOff val="35000"/>
                  </a:schemeClr>
                </a:solidFill>
              </a:defRPr>
            </a:lvl4pPr>
            <a:lvl5pPr>
              <a:defRPr sz="1600">
                <a:solidFill>
                  <a:schemeClr val="tx1">
                    <a:lumMod val="65000"/>
                    <a:lumOff val="35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1800" b="1">
                <a:solidFill>
                  <a:schemeClr val="tx1">
                    <a:lumMod val="65000"/>
                    <a:lumOff val="35000"/>
                  </a:schemeClr>
                </a:solidFill>
                <a:latin typeface="Verdana"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buFont typeface="Wingdings" pitchFamily="2" charset="2"/>
              <a:buChar char="§"/>
              <a:defRPr sz="2400">
                <a:solidFill>
                  <a:schemeClr val="tx1">
                    <a:lumMod val="65000"/>
                    <a:lumOff val="35000"/>
                  </a:schemeClr>
                </a:solidFill>
              </a:defRPr>
            </a:lvl1pPr>
            <a:lvl2pPr>
              <a:defRPr sz="2000">
                <a:solidFill>
                  <a:schemeClr val="tx1">
                    <a:lumMod val="65000"/>
                    <a:lumOff val="35000"/>
                  </a:schemeClr>
                </a:solidFill>
              </a:defRPr>
            </a:lvl2pPr>
            <a:lvl3pPr>
              <a:defRPr sz="1800">
                <a:solidFill>
                  <a:schemeClr val="tx1">
                    <a:lumMod val="65000"/>
                    <a:lumOff val="35000"/>
                  </a:schemeClr>
                </a:solidFill>
              </a:defRPr>
            </a:lvl3pPr>
            <a:lvl4pPr>
              <a:defRPr sz="1600">
                <a:solidFill>
                  <a:schemeClr val="tx1">
                    <a:lumMod val="65000"/>
                    <a:lumOff val="35000"/>
                  </a:schemeClr>
                </a:solidFill>
              </a:defRPr>
            </a:lvl4pPr>
            <a:lvl5pPr>
              <a:defRPr sz="1600">
                <a:solidFill>
                  <a:schemeClr val="tx1">
                    <a:lumMod val="65000"/>
                    <a:lumOff val="35000"/>
                  </a:schemeClr>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A126ED19-93A4-45AB-9AB4-151D3539CCFC}" type="datetimeFigureOut">
              <a:rPr lang="en-US" smtClean="0"/>
              <a:pPr/>
              <a:t>4/20/2012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805B254-F9CB-41C5-B120-F4B38BF2206D}"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solidFill>
                  <a:schemeClr val="bg1"/>
                </a:solidFill>
                <a:latin typeface="Verdana" pitchFamily="34" charset="0"/>
              </a:defRPr>
            </a:lvl1p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A126ED19-93A4-45AB-9AB4-151D3539CCFC}" type="datetimeFigureOut">
              <a:rPr lang="en-US" smtClean="0"/>
              <a:pPr/>
              <a:t>4/20/2012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805B254-F9CB-41C5-B120-F4B38BF2206D}"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26ED19-93A4-45AB-9AB4-151D3539CCFC}" type="datetimeFigureOut">
              <a:rPr lang="en-US" smtClean="0"/>
              <a:pPr/>
              <a:t>4/20/2012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805B254-F9CB-41C5-B120-F4B38BF2206D}" type="slidenum">
              <a:rPr lang="en-US" smtClean="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1">
                <a:solidFill>
                  <a:schemeClr val="bg1"/>
                </a:solidFill>
                <a:latin typeface="Verdana"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latin typeface="Verdana" pitchFamily="34" charset="0"/>
              </a:defRPr>
            </a:lvl1pPr>
            <a:lvl2pPr>
              <a:defRPr sz="2800">
                <a:solidFill>
                  <a:schemeClr val="tx1">
                    <a:lumMod val="65000"/>
                    <a:lumOff val="35000"/>
                  </a:schemeClr>
                </a:solidFill>
                <a:latin typeface="Verdana" pitchFamily="34" charset="0"/>
              </a:defRPr>
            </a:lvl2pPr>
            <a:lvl3pPr>
              <a:defRPr sz="2400">
                <a:solidFill>
                  <a:schemeClr val="tx1">
                    <a:lumMod val="65000"/>
                    <a:lumOff val="35000"/>
                  </a:schemeClr>
                </a:solidFill>
                <a:latin typeface="Verdana" pitchFamily="34" charset="0"/>
              </a:defRPr>
            </a:lvl3pPr>
            <a:lvl4pPr>
              <a:defRPr sz="2000">
                <a:solidFill>
                  <a:schemeClr val="tx1">
                    <a:lumMod val="65000"/>
                    <a:lumOff val="35000"/>
                  </a:schemeClr>
                </a:solidFill>
                <a:latin typeface="Verdana" pitchFamily="34" charset="0"/>
              </a:defRPr>
            </a:lvl4pPr>
            <a:lvl5pPr>
              <a:defRPr sz="2000">
                <a:solidFill>
                  <a:schemeClr val="tx1">
                    <a:lumMod val="65000"/>
                    <a:lumOff val="35000"/>
                  </a:schemeClr>
                </a:solidFill>
                <a:latin typeface="Verdana"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normAutofit/>
          </a:bodyPr>
          <a:lstStyle>
            <a:lvl1pPr marL="0" indent="0">
              <a:buNone/>
              <a:defRPr sz="2000">
                <a:solidFill>
                  <a:schemeClr val="tx1">
                    <a:lumMod val="65000"/>
                    <a:lumOff val="35000"/>
                  </a:schemeClr>
                </a:solidFill>
                <a:latin typeface="Verdan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A126ED19-93A4-45AB-9AB4-151D3539CCFC}" type="datetimeFigureOut">
              <a:rPr lang="en-US" smtClean="0"/>
              <a:pPr/>
              <a:t>4/20/2012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805B254-F9CB-41C5-B120-F4B38BF2206D}"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Verdana" pitchFamily="34" charset="0"/>
              </a:defRPr>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Verdana"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A126ED19-93A4-45AB-9AB4-151D3539CCFC}" type="datetimeFigureOut">
              <a:rPr lang="en-US" smtClean="0"/>
              <a:pPr/>
              <a:t>4/20/2012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805B254-F9CB-41C5-B120-F4B38BF2206D}"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solidFill>
                  <a:schemeClr val="bg1"/>
                </a:solidFill>
                <a:latin typeface="Verdana" pitchFamily="34" charset="0"/>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805B254-F9CB-41C5-B120-F4B38BF2206D}"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26ED19-93A4-45AB-9AB4-151D3539CCFC}" type="datetimeFigureOut">
              <a:rPr lang="en-US" smtClean="0"/>
              <a:pPr/>
              <a:t>4/20/2012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05B254-F9CB-41C5-B120-F4B38BF2206D}" type="slidenum">
              <a:rPr lang="en-US" smtClean="0"/>
              <a:pPr/>
              <a:t>‹#›</a:t>
            </a:fld>
            <a:endParaRPr lang="en-US" dirty="0"/>
          </a:p>
        </p:txBody>
      </p:sp>
      <p:sp>
        <p:nvSpPr>
          <p:cNvPr id="7" name="Rectangle 6"/>
          <p:cNvSpPr/>
          <p:nvPr userDrawn="1"/>
        </p:nvSpPr>
        <p:spPr>
          <a:xfrm>
            <a:off x="0" y="0"/>
            <a:ext cx="9144000" cy="12954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p:cNvSpPr/>
          <p:nvPr userDrawn="1"/>
        </p:nvSpPr>
        <p:spPr>
          <a:xfrm rot="16200000">
            <a:off x="-2781300" y="3771900"/>
            <a:ext cx="5867400" cy="304800"/>
          </a:xfrm>
          <a:prstGeom prst="rect">
            <a:avLst/>
          </a:prstGeom>
          <a:solidFill>
            <a:schemeClr val="accent6">
              <a:lumMod val="75000"/>
              <a:alpha val="3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userDrawn="1"/>
        </p:nvSpPr>
        <p:spPr>
          <a:xfrm>
            <a:off x="152400" y="1600200"/>
            <a:ext cx="228600" cy="4953000"/>
          </a:xfrm>
          <a:prstGeom prst="rect">
            <a:avLst/>
          </a:prstGeom>
          <a:solidFill>
            <a:schemeClr val="accent1">
              <a:lumMod val="20000"/>
              <a:lumOff val="80000"/>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9" r:id="rId2"/>
    <p:sldLayoutId id="2147483661" r:id="rId3"/>
    <p:sldLayoutId id="2147483660" r:id="rId4"/>
    <p:sldLayoutId id="2147483662" r:id="rId5"/>
    <p:sldLayoutId id="2147483663" r:id="rId6"/>
    <p:sldLayoutId id="2147483664" r:id="rId7"/>
    <p:sldLayoutId id="2147483665" r:id="rId8"/>
    <p:sldLayoutId id="2147483650" r:id="rId9"/>
    <p:sldLayoutId id="2147483651" r:id="rId10"/>
    <p:sldLayoutId id="2147483652" r:id="rId11"/>
    <p:sldLayoutId id="2147483653" r:id="rId12"/>
    <p:sldLayoutId id="2147483654" r:id="rId13"/>
    <p:sldLayoutId id="2147483655" r:id="rId14"/>
    <p:sldLayoutId id="2147483656" r:id="rId15"/>
    <p:sldLayoutId id="2147483657" r:id="rId16"/>
    <p:sldLayoutId id="2147483658" r:id="rId1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Wingdings" pitchFamily="2" charset="2"/>
        <a:buChar char="§"/>
        <a:defRPr sz="2400" kern="1200">
          <a:solidFill>
            <a:schemeClr val="tx1"/>
          </a:solidFill>
          <a:latin typeface="Verdana" pitchFamily="34"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Verdana" pitchFamily="34" charset="0"/>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Verdana" pitchFamily="34" charset="0"/>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Verdana" pitchFamily="34" charset="0"/>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Verdan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hyperlink" Target="http://en.wikipedia.org/wiki/Database_normalization" TargetMode="Externa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hyperlink" Target="http://en.wikipedia.org/wiki/Join_(SQL)" TargetMode="Externa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www.w3schools.com/sql/sql_func_sum.asp" TargetMode="Externa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hyperlink" Target="http://en.wikipedia.org/wiki/Index_(database)" TargetMode="Externa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hyperlink" Target="http://www.sql.ru/docs/sql/u_sql/ch20.shtml" TargetMode="External"/><Relationship Id="rId2" Type="http://schemas.openxmlformats.org/officeDocument/2006/relationships/hyperlink" Target="http://en.wikipedia.org/wiki/View_(database)" TargetMode="Externa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620000" y="6096000"/>
            <a:ext cx="1295400" cy="646331"/>
          </a:xfrm>
          <a:prstGeom prst="rect">
            <a:avLst/>
          </a:prstGeom>
          <a:noFill/>
        </p:spPr>
        <p:txBody>
          <a:bodyPr wrap="square" rtlCol="0">
            <a:spAutoFit/>
          </a:bodyPr>
          <a:lstStyle/>
          <a:p>
            <a:endParaRPr lang="en-US" sz="1200" dirty="0" smtClean="0"/>
          </a:p>
          <a:p>
            <a:pPr algn="r"/>
            <a:r>
              <a:rPr lang="en-US" sz="1200" dirty="0" smtClean="0"/>
              <a:t>Ruslan Vasylyshyn</a:t>
            </a:r>
          </a:p>
          <a:p>
            <a:pPr algn="r"/>
            <a:r>
              <a:rPr lang="en-US" sz="1200" dirty="0" smtClean="0"/>
              <a:t>11.04.2011</a:t>
            </a:r>
            <a:endParaRPr lang="en-US" sz="1200" dirty="0"/>
          </a:p>
        </p:txBody>
      </p:sp>
      <p:sp>
        <p:nvSpPr>
          <p:cNvPr id="2" name="Subtitle 1"/>
          <p:cNvSpPr>
            <a:spLocks noGrp="1"/>
          </p:cNvSpPr>
          <p:nvPr>
            <p:ph type="subTitle" idx="1"/>
          </p:nvPr>
        </p:nvSpPr>
        <p:spPr>
          <a:xfrm>
            <a:off x="2209800" y="3962400"/>
            <a:ext cx="3581400" cy="762000"/>
          </a:xfrm>
        </p:spPr>
        <p:txBody>
          <a:bodyPr/>
          <a:lstStyle/>
          <a:p>
            <a:r>
              <a:rPr lang="en-US" dirty="0" smtClean="0"/>
              <a:t>SQL basics</a:t>
            </a:r>
          </a:p>
          <a:p>
            <a:endParaRPr lang="en-US" dirty="0"/>
          </a:p>
        </p:txBody>
      </p:sp>
    </p:spTree>
  </p:cSld>
  <p:clrMapOvr>
    <a:masterClrMapping/>
  </p:clrMapOvr>
  <p:transition spd="slow">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Normalization</a:t>
            </a:r>
            <a:endParaRPr lang="en-US" dirty="0"/>
          </a:p>
        </p:txBody>
      </p:sp>
      <p:sp>
        <p:nvSpPr>
          <p:cNvPr id="5" name="Content Placeholder 4"/>
          <p:cNvSpPr>
            <a:spLocks noGrp="1"/>
          </p:cNvSpPr>
          <p:nvPr>
            <p:ph sz="half" idx="1"/>
          </p:nvPr>
        </p:nvSpPr>
        <p:spPr>
          <a:xfrm>
            <a:off x="457200" y="1600201"/>
            <a:ext cx="8229600" cy="3124200"/>
          </a:xfrm>
        </p:spPr>
        <p:txBody>
          <a:bodyPr>
            <a:normAutofit/>
          </a:bodyPr>
          <a:lstStyle/>
          <a:p>
            <a:pPr>
              <a:buNone/>
            </a:pPr>
            <a:r>
              <a:rPr lang="en-US" dirty="0" smtClean="0"/>
              <a:t>Process of organizing data to minimize redundancy is called</a:t>
            </a:r>
          </a:p>
          <a:p>
            <a:pPr>
              <a:buNone/>
            </a:pPr>
            <a:r>
              <a:rPr lang="en-US" b="1" dirty="0" smtClean="0"/>
              <a:t>Normalization.</a:t>
            </a:r>
            <a:br>
              <a:rPr lang="en-US" b="1" dirty="0" smtClean="0"/>
            </a:br>
            <a:endParaRPr lang="en-US" b="1" dirty="0" smtClean="0"/>
          </a:p>
          <a:p>
            <a:r>
              <a:rPr lang="en-US" dirty="0" smtClean="0"/>
              <a:t>First normal form.</a:t>
            </a:r>
          </a:p>
          <a:p>
            <a:r>
              <a:rPr lang="en-US" dirty="0" smtClean="0"/>
              <a:t>Second normal form.</a:t>
            </a:r>
          </a:p>
          <a:p>
            <a:r>
              <a:rPr lang="en-US" dirty="0" smtClean="0"/>
              <a:t>Third normal form.</a:t>
            </a:r>
          </a:p>
          <a:p>
            <a:r>
              <a:rPr lang="en-US" dirty="0" smtClean="0"/>
              <a:t>Other normal forms.</a:t>
            </a:r>
          </a:p>
          <a:p>
            <a:endParaRPr lang="en-US" dirty="0" smtClean="0"/>
          </a:p>
          <a:p>
            <a:endParaRPr lang="en-US" dirty="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First</a:t>
            </a:r>
            <a:r>
              <a:rPr lang="uk-UA" b="1" dirty="0" smtClean="0"/>
              <a:t> </a:t>
            </a:r>
            <a:r>
              <a:rPr lang="en-US" b="1" dirty="0" smtClean="0"/>
              <a:t>normal form</a:t>
            </a:r>
            <a:endParaRPr lang="en-US" dirty="0"/>
          </a:p>
        </p:txBody>
      </p:sp>
      <p:sp>
        <p:nvSpPr>
          <p:cNvPr id="8" name="Content Placeholder 4"/>
          <p:cNvSpPr>
            <a:spLocks noGrp="1"/>
          </p:cNvSpPr>
          <p:nvPr>
            <p:ph sz="half" idx="1"/>
          </p:nvPr>
        </p:nvSpPr>
        <p:spPr>
          <a:xfrm>
            <a:off x="457200" y="1600200"/>
            <a:ext cx="8229600" cy="4343399"/>
          </a:xfrm>
        </p:spPr>
        <p:txBody>
          <a:bodyPr>
            <a:normAutofit/>
          </a:bodyPr>
          <a:lstStyle/>
          <a:p>
            <a:r>
              <a:rPr lang="en-US" dirty="0" smtClean="0"/>
              <a:t>First normal form.</a:t>
            </a:r>
            <a:br>
              <a:rPr lang="en-US" dirty="0" smtClean="0"/>
            </a:br>
            <a:r>
              <a:rPr lang="en-US" dirty="0" smtClean="0"/>
              <a:t>- Eliminate repeating groups by defining key and non-key attributes appropriately.</a:t>
            </a:r>
            <a:br>
              <a:rPr lang="en-US" dirty="0" smtClean="0"/>
            </a:br>
            <a:r>
              <a:rPr lang="en-US" dirty="0" smtClean="0"/>
              <a:t>- Each table has a primary key.</a:t>
            </a:r>
            <a:br>
              <a:rPr lang="en-US" dirty="0" smtClean="0"/>
            </a:br>
            <a:r>
              <a:rPr lang="en-US" dirty="0" smtClean="0"/>
              <a:t>- Each attribute must contain a single value, not a set of values.</a:t>
            </a:r>
          </a:p>
          <a:p>
            <a:endParaRPr lang="en-US" dirty="0"/>
          </a:p>
        </p:txBody>
      </p:sp>
      <p:pic>
        <p:nvPicPr>
          <p:cNvPr id="4100" name="Picture 4"/>
          <p:cNvPicPr>
            <a:picLocks noChangeAspect="1" noChangeArrowheads="1"/>
          </p:cNvPicPr>
          <p:nvPr/>
        </p:nvPicPr>
        <p:blipFill>
          <a:blip r:embed="rId2" cstate="print"/>
          <a:srcRect/>
          <a:stretch>
            <a:fillRect/>
          </a:stretch>
        </p:blipFill>
        <p:spPr bwMode="auto">
          <a:xfrm>
            <a:off x="2971800" y="3352800"/>
            <a:ext cx="2000250" cy="1581150"/>
          </a:xfrm>
          <a:prstGeom prst="rect">
            <a:avLst/>
          </a:prstGeom>
          <a:noFill/>
          <a:ln w="9525">
            <a:noFill/>
            <a:miter lim="800000"/>
            <a:headEnd/>
            <a:tailEnd/>
          </a:ln>
        </p:spPr>
      </p:pic>
      <p:pic>
        <p:nvPicPr>
          <p:cNvPr id="4101" name="Picture 5"/>
          <p:cNvPicPr>
            <a:picLocks noChangeAspect="1" noChangeArrowheads="1"/>
          </p:cNvPicPr>
          <p:nvPr/>
        </p:nvPicPr>
        <p:blipFill>
          <a:blip r:embed="rId3" cstate="print"/>
          <a:srcRect/>
          <a:stretch>
            <a:fillRect/>
          </a:stretch>
        </p:blipFill>
        <p:spPr bwMode="auto">
          <a:xfrm>
            <a:off x="561975" y="5029200"/>
            <a:ext cx="8582025" cy="742950"/>
          </a:xfrm>
          <a:prstGeom prst="rect">
            <a:avLst/>
          </a:prstGeom>
          <a:noFill/>
          <a:ln w="9525">
            <a:noFill/>
            <a:miter lim="800000"/>
            <a:headEnd/>
            <a:tailEnd/>
          </a:ln>
        </p:spPr>
      </p:pic>
    </p:spTree>
    <p:extLst>
      <p:ext uri="{BB962C8B-B14F-4D97-AF65-F5344CB8AC3E}">
        <p14:creationId xmlns="" xmlns:p14="http://schemas.microsoft.com/office/powerpoint/2010/main" val="3358941577"/>
      </p:ext>
    </p:extLst>
  </p:cSld>
  <p:clrMapOvr>
    <a:masterClrMapping/>
  </p:clrMapOvr>
  <p:transition spd="slow">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Second normal form</a:t>
            </a:r>
            <a:endParaRPr lang="en-US" dirty="0"/>
          </a:p>
        </p:txBody>
      </p:sp>
      <p:sp>
        <p:nvSpPr>
          <p:cNvPr id="8" name="Content Placeholder 4"/>
          <p:cNvSpPr>
            <a:spLocks noGrp="1"/>
          </p:cNvSpPr>
          <p:nvPr>
            <p:ph sz="half" idx="1"/>
          </p:nvPr>
        </p:nvSpPr>
        <p:spPr>
          <a:xfrm>
            <a:off x="457200" y="1600200"/>
            <a:ext cx="8229600" cy="4343399"/>
          </a:xfrm>
        </p:spPr>
        <p:txBody>
          <a:bodyPr>
            <a:normAutofit/>
          </a:bodyPr>
          <a:lstStyle/>
          <a:p>
            <a:r>
              <a:rPr lang="en-US" dirty="0" smtClean="0"/>
              <a:t>Second normal form.</a:t>
            </a:r>
            <a:br>
              <a:rPr lang="en-US" dirty="0" smtClean="0"/>
            </a:br>
            <a:r>
              <a:rPr lang="en-US" dirty="0" smtClean="0"/>
              <a:t>- The database must meet all the requirements of the first normal form.</a:t>
            </a:r>
            <a:br>
              <a:rPr lang="en-US" dirty="0" smtClean="0"/>
            </a:br>
            <a:r>
              <a:rPr lang="en-US" dirty="0" smtClean="0"/>
              <a:t>- Data which is redundantly duplicated across multiple rows of a table is moved out to a separate table.</a:t>
            </a:r>
            <a:br>
              <a:rPr lang="en-US" dirty="0" smtClean="0"/>
            </a:br>
            <a:r>
              <a:rPr lang="en-US" dirty="0" smtClean="0"/>
              <a:t/>
            </a:r>
            <a:br>
              <a:rPr lang="en-US" dirty="0" smtClean="0"/>
            </a:br>
            <a:r>
              <a:rPr lang="en-US" dirty="0" smtClean="0"/>
              <a:t/>
            </a:r>
            <a:br>
              <a:rPr lang="en-US" dirty="0" smtClean="0"/>
            </a:br>
            <a:endParaRPr lang="en-US" dirty="0" smtClean="0"/>
          </a:p>
          <a:p>
            <a:endParaRPr lang="en-US" dirty="0" smtClean="0"/>
          </a:p>
          <a:p>
            <a:endParaRPr lang="en-US" dirty="0"/>
          </a:p>
        </p:txBody>
      </p:sp>
      <p:pic>
        <p:nvPicPr>
          <p:cNvPr id="3075" name="Picture 3"/>
          <p:cNvPicPr>
            <a:picLocks noChangeAspect="1" noChangeArrowheads="1"/>
          </p:cNvPicPr>
          <p:nvPr/>
        </p:nvPicPr>
        <p:blipFill>
          <a:blip r:embed="rId2" cstate="print"/>
          <a:srcRect/>
          <a:stretch>
            <a:fillRect/>
          </a:stretch>
        </p:blipFill>
        <p:spPr bwMode="auto">
          <a:xfrm>
            <a:off x="3124200" y="3352800"/>
            <a:ext cx="2190750" cy="2619375"/>
          </a:xfrm>
          <a:prstGeom prst="rect">
            <a:avLst/>
          </a:prstGeom>
          <a:noFill/>
          <a:ln w="9525">
            <a:noFill/>
            <a:miter lim="800000"/>
            <a:headEnd/>
            <a:tailEnd/>
          </a:ln>
        </p:spPr>
      </p:pic>
    </p:spTree>
    <p:extLst>
      <p:ext uri="{BB962C8B-B14F-4D97-AF65-F5344CB8AC3E}">
        <p14:creationId xmlns="" xmlns:p14="http://schemas.microsoft.com/office/powerpoint/2010/main" val="3358941577"/>
      </p:ext>
    </p:extLst>
  </p:cSld>
  <p:clrMapOvr>
    <a:masterClrMapping/>
  </p:clrMapOvr>
  <p:transition spd="slow">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Third normal form</a:t>
            </a:r>
            <a:endParaRPr lang="en-US" dirty="0"/>
          </a:p>
        </p:txBody>
      </p:sp>
      <p:sp>
        <p:nvSpPr>
          <p:cNvPr id="8" name="Content Placeholder 4"/>
          <p:cNvSpPr>
            <a:spLocks noGrp="1"/>
          </p:cNvSpPr>
          <p:nvPr>
            <p:ph sz="half" idx="1"/>
          </p:nvPr>
        </p:nvSpPr>
        <p:spPr>
          <a:xfrm>
            <a:off x="457200" y="1600200"/>
            <a:ext cx="8229600" cy="4343399"/>
          </a:xfrm>
        </p:spPr>
        <p:txBody>
          <a:bodyPr>
            <a:normAutofit/>
          </a:bodyPr>
          <a:lstStyle/>
          <a:p>
            <a:r>
              <a:rPr lang="en-US" dirty="0" smtClean="0"/>
              <a:t>Third normal form.</a:t>
            </a:r>
            <a:br>
              <a:rPr lang="en-US" dirty="0" smtClean="0"/>
            </a:br>
            <a:r>
              <a:rPr lang="en-US" dirty="0" smtClean="0"/>
              <a:t>- The database must meet all the requirements of the second normal form.</a:t>
            </a:r>
            <a:br>
              <a:rPr lang="en-US" dirty="0" smtClean="0"/>
            </a:br>
            <a:r>
              <a:rPr lang="en-US" dirty="0" smtClean="0"/>
              <a:t>- Any field which is dependent not only on the primary key but also on another field is moved out to a separate table.</a:t>
            </a:r>
          </a:p>
          <a:p>
            <a:pPr>
              <a:buNone/>
            </a:pPr>
            <a:r>
              <a:rPr lang="en-US" dirty="0" smtClean="0"/>
              <a:t/>
            </a:r>
            <a:br>
              <a:rPr lang="en-US" dirty="0" smtClean="0"/>
            </a:br>
            <a:r>
              <a:rPr lang="en-US" dirty="0" smtClean="0"/>
              <a:t/>
            </a:r>
            <a:br>
              <a:rPr lang="en-US" dirty="0" smtClean="0"/>
            </a:br>
            <a:r>
              <a:rPr lang="en-US" dirty="0" smtClean="0"/>
              <a:t/>
            </a:r>
            <a:br>
              <a:rPr lang="en-US" dirty="0" smtClean="0"/>
            </a:br>
            <a:endParaRPr lang="en-US" dirty="0" smtClean="0"/>
          </a:p>
          <a:p>
            <a:pPr>
              <a:buNone/>
            </a:pPr>
            <a:endParaRPr lang="en-US" dirty="0" smtClean="0"/>
          </a:p>
        </p:txBody>
      </p:sp>
      <p:pic>
        <p:nvPicPr>
          <p:cNvPr id="4098" name="Picture 2"/>
          <p:cNvPicPr>
            <a:picLocks noChangeAspect="1" noChangeArrowheads="1"/>
          </p:cNvPicPr>
          <p:nvPr/>
        </p:nvPicPr>
        <p:blipFill>
          <a:blip r:embed="rId2" cstate="print"/>
          <a:srcRect/>
          <a:stretch>
            <a:fillRect/>
          </a:stretch>
        </p:blipFill>
        <p:spPr bwMode="auto">
          <a:xfrm>
            <a:off x="2819400" y="3352800"/>
            <a:ext cx="2190750" cy="2028825"/>
          </a:xfrm>
          <a:prstGeom prst="rect">
            <a:avLst/>
          </a:prstGeom>
          <a:noFill/>
          <a:ln w="9525">
            <a:noFill/>
            <a:miter lim="800000"/>
            <a:headEnd/>
            <a:tailEnd/>
          </a:ln>
        </p:spPr>
      </p:pic>
    </p:spTree>
    <p:extLst>
      <p:ext uri="{BB962C8B-B14F-4D97-AF65-F5344CB8AC3E}">
        <p14:creationId xmlns="" xmlns:p14="http://schemas.microsoft.com/office/powerpoint/2010/main" val="3358941577"/>
      </p:ext>
    </p:extLst>
  </p:cSld>
  <p:clrMapOvr>
    <a:masterClrMapping/>
  </p:clrMapOvr>
  <p:transition spd="slow">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Other normal forms</a:t>
            </a:r>
            <a:endParaRPr lang="en-US" dirty="0"/>
          </a:p>
        </p:txBody>
      </p:sp>
      <p:sp>
        <p:nvSpPr>
          <p:cNvPr id="8" name="Content Placeholder 4"/>
          <p:cNvSpPr>
            <a:spLocks noGrp="1"/>
          </p:cNvSpPr>
          <p:nvPr>
            <p:ph sz="half" idx="1"/>
          </p:nvPr>
        </p:nvSpPr>
        <p:spPr>
          <a:xfrm>
            <a:off x="457200" y="1600200"/>
            <a:ext cx="8229600" cy="4343399"/>
          </a:xfrm>
        </p:spPr>
        <p:txBody>
          <a:bodyPr>
            <a:normAutofit/>
          </a:bodyPr>
          <a:lstStyle/>
          <a:p>
            <a:pPr>
              <a:buNone/>
            </a:pPr>
            <a:r>
              <a:rPr lang="en-US" dirty="0" smtClean="0"/>
              <a:t>All other normal forms:</a:t>
            </a:r>
          </a:p>
          <a:p>
            <a:pPr>
              <a:buFontTx/>
              <a:buChar char="-"/>
            </a:pPr>
            <a:r>
              <a:rPr lang="en-US" dirty="0" smtClean="0"/>
              <a:t>Boyce-Codd normal form.</a:t>
            </a:r>
          </a:p>
          <a:p>
            <a:pPr>
              <a:buFontTx/>
              <a:buChar char="-"/>
            </a:pPr>
            <a:r>
              <a:rPr lang="en-US" dirty="0" smtClean="0"/>
              <a:t>Fourth normal form.</a:t>
            </a:r>
          </a:p>
          <a:p>
            <a:pPr>
              <a:buFontTx/>
              <a:buChar char="-"/>
            </a:pPr>
            <a:r>
              <a:rPr lang="en-US" dirty="0" smtClean="0"/>
              <a:t>Fifth normal form.</a:t>
            </a:r>
          </a:p>
          <a:p>
            <a:pPr>
              <a:buFontTx/>
              <a:buChar char="-"/>
            </a:pPr>
            <a:r>
              <a:rPr lang="en-US" dirty="0" smtClean="0"/>
              <a:t>Domain/key normal form.</a:t>
            </a:r>
          </a:p>
          <a:p>
            <a:pPr>
              <a:buFontTx/>
              <a:buChar char="-"/>
            </a:pPr>
            <a:r>
              <a:rPr lang="en-US" dirty="0" smtClean="0"/>
              <a:t>Sixth normal form.</a:t>
            </a:r>
            <a:br>
              <a:rPr lang="en-US" dirty="0" smtClean="0"/>
            </a:br>
            <a:endParaRPr lang="en-US" dirty="0" smtClean="0"/>
          </a:p>
          <a:p>
            <a:pPr>
              <a:buNone/>
            </a:pPr>
            <a:r>
              <a:rPr lang="en-US" dirty="0" smtClean="0"/>
              <a:t/>
            </a:r>
            <a:br>
              <a:rPr lang="en-US" dirty="0" smtClean="0"/>
            </a:br>
            <a:r>
              <a:rPr lang="en-US" sz="1800" dirty="0" smtClean="0">
                <a:hlinkClick r:id="rId2"/>
              </a:rPr>
              <a:t>http://en.wikipedia.org/wiki/Database_normalization</a:t>
            </a:r>
            <a:endParaRPr lang="en-US" sz="1800" dirty="0" smtClean="0"/>
          </a:p>
          <a:p>
            <a:endParaRPr lang="en-US" dirty="0" smtClean="0"/>
          </a:p>
          <a:p>
            <a:endParaRPr lang="en-US" dirty="0"/>
          </a:p>
        </p:txBody>
      </p:sp>
    </p:spTree>
    <p:extLst>
      <p:ext uri="{BB962C8B-B14F-4D97-AF65-F5344CB8AC3E}">
        <p14:creationId xmlns="" xmlns:p14="http://schemas.microsoft.com/office/powerpoint/2010/main" val="3358941577"/>
      </p:ext>
    </p:extLst>
  </p:cSld>
  <p:clrMapOvr>
    <a:masterClrMapping/>
  </p:clrMapOvr>
  <p:transition spd="slow">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Relations</a:t>
            </a:r>
            <a:endParaRPr lang="en-US" dirty="0"/>
          </a:p>
        </p:txBody>
      </p:sp>
      <p:sp>
        <p:nvSpPr>
          <p:cNvPr id="5" name="Content Placeholder 4"/>
          <p:cNvSpPr>
            <a:spLocks noGrp="1"/>
          </p:cNvSpPr>
          <p:nvPr>
            <p:ph sz="half" idx="1"/>
          </p:nvPr>
        </p:nvSpPr>
        <p:spPr>
          <a:xfrm>
            <a:off x="457200" y="1600200"/>
            <a:ext cx="8229600" cy="4572000"/>
          </a:xfrm>
        </p:spPr>
        <p:txBody>
          <a:bodyPr>
            <a:normAutofit/>
          </a:bodyPr>
          <a:lstStyle/>
          <a:p>
            <a:pPr>
              <a:buFontTx/>
              <a:buChar char="-"/>
            </a:pPr>
            <a:r>
              <a:rPr lang="en-US" dirty="0" smtClean="0"/>
              <a:t>One-to-One</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endParaRPr lang="en-US" dirty="0" smtClean="0"/>
          </a:p>
          <a:p>
            <a:pPr>
              <a:buFontTx/>
              <a:buChar char="-"/>
            </a:pPr>
            <a:r>
              <a:rPr lang="en-US" dirty="0" smtClean="0"/>
              <a:t>One-to-Many</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endParaRPr lang="en-US" dirty="0" smtClean="0"/>
          </a:p>
        </p:txBody>
      </p:sp>
      <p:pic>
        <p:nvPicPr>
          <p:cNvPr id="1027" name="Picture 3"/>
          <p:cNvPicPr>
            <a:picLocks noChangeAspect="1" noChangeArrowheads="1"/>
          </p:cNvPicPr>
          <p:nvPr/>
        </p:nvPicPr>
        <p:blipFill>
          <a:blip r:embed="rId2" cstate="print"/>
          <a:srcRect/>
          <a:stretch>
            <a:fillRect/>
          </a:stretch>
        </p:blipFill>
        <p:spPr bwMode="auto">
          <a:xfrm>
            <a:off x="685800" y="1981200"/>
            <a:ext cx="4791075" cy="1247775"/>
          </a:xfrm>
          <a:prstGeom prst="rect">
            <a:avLst/>
          </a:prstGeom>
          <a:noFill/>
          <a:ln w="9525">
            <a:noFill/>
            <a:miter lim="800000"/>
            <a:headEnd/>
            <a:tailEnd/>
          </a:ln>
        </p:spPr>
      </p:pic>
      <p:pic>
        <p:nvPicPr>
          <p:cNvPr id="1026" name="Picture 2"/>
          <p:cNvPicPr>
            <a:picLocks noChangeAspect="1" noChangeArrowheads="1"/>
          </p:cNvPicPr>
          <p:nvPr/>
        </p:nvPicPr>
        <p:blipFill>
          <a:blip r:embed="rId3" cstate="print"/>
          <a:srcRect/>
          <a:stretch>
            <a:fillRect/>
          </a:stretch>
        </p:blipFill>
        <p:spPr bwMode="auto">
          <a:xfrm>
            <a:off x="762000" y="3886200"/>
            <a:ext cx="5181600" cy="1571625"/>
          </a:xfrm>
          <a:prstGeom prst="rect">
            <a:avLst/>
          </a:prstGeom>
          <a:noFill/>
          <a:ln w="9525">
            <a:noFill/>
            <a:miter lim="800000"/>
            <a:headEnd/>
            <a:tailEnd/>
          </a:ln>
        </p:spPr>
      </p:pic>
    </p:spTree>
    <p:extLst>
      <p:ext uri="{BB962C8B-B14F-4D97-AF65-F5344CB8AC3E}">
        <p14:creationId xmlns="" xmlns:p14="http://schemas.microsoft.com/office/powerpoint/2010/main" val="539076273"/>
      </p:ext>
    </p:extLst>
  </p:cSld>
  <p:clrMapOvr>
    <a:masterClrMapping/>
  </p:clrMapOvr>
  <p:transition spd="slow">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Relations</a:t>
            </a:r>
            <a:endParaRPr lang="en-US" dirty="0"/>
          </a:p>
        </p:txBody>
      </p:sp>
      <p:sp>
        <p:nvSpPr>
          <p:cNvPr id="5" name="Content Placeholder 4"/>
          <p:cNvSpPr>
            <a:spLocks noGrp="1"/>
          </p:cNvSpPr>
          <p:nvPr>
            <p:ph sz="half" idx="1"/>
          </p:nvPr>
        </p:nvSpPr>
        <p:spPr>
          <a:xfrm>
            <a:off x="457200" y="1600200"/>
            <a:ext cx="8229600" cy="2286000"/>
          </a:xfrm>
        </p:spPr>
        <p:txBody>
          <a:bodyPr>
            <a:normAutofit/>
          </a:bodyPr>
          <a:lstStyle/>
          <a:p>
            <a:pPr>
              <a:buFontTx/>
              <a:buChar char="-"/>
            </a:pPr>
            <a:r>
              <a:rPr lang="en-US" dirty="0" smtClean="0"/>
              <a:t>Many-to-Many</a:t>
            </a:r>
            <a:br>
              <a:rPr lang="en-US" dirty="0" smtClean="0"/>
            </a:br>
            <a:r>
              <a:rPr lang="en-US" dirty="0" smtClean="0"/>
              <a:t/>
            </a:r>
            <a:br>
              <a:rPr lang="en-US" dirty="0" smtClean="0"/>
            </a:b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838200" y="2133600"/>
            <a:ext cx="7277100" cy="1466850"/>
          </a:xfrm>
          <a:prstGeom prst="rect">
            <a:avLst/>
          </a:prstGeom>
          <a:noFill/>
          <a:ln w="9525">
            <a:noFill/>
            <a:miter lim="800000"/>
            <a:headEnd/>
            <a:tailEnd/>
          </a:ln>
        </p:spPr>
      </p:pic>
    </p:spTree>
    <p:extLst>
      <p:ext uri="{BB962C8B-B14F-4D97-AF65-F5344CB8AC3E}">
        <p14:creationId xmlns="" xmlns:p14="http://schemas.microsoft.com/office/powerpoint/2010/main" val="539076273"/>
      </p:ext>
    </p:extLst>
  </p:cSld>
  <p:clrMapOvr>
    <a:masterClrMapping/>
  </p:clrMapOvr>
  <p:transition spd="slow">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Constraints</a:t>
            </a:r>
            <a:endParaRPr lang="en-US" dirty="0"/>
          </a:p>
        </p:txBody>
      </p:sp>
      <p:sp>
        <p:nvSpPr>
          <p:cNvPr id="5" name="Content Placeholder 4"/>
          <p:cNvSpPr>
            <a:spLocks noGrp="1"/>
          </p:cNvSpPr>
          <p:nvPr>
            <p:ph sz="half" idx="1"/>
          </p:nvPr>
        </p:nvSpPr>
        <p:spPr>
          <a:xfrm>
            <a:off x="457200" y="1600200"/>
            <a:ext cx="8229600" cy="4114800"/>
          </a:xfrm>
        </p:spPr>
        <p:txBody>
          <a:bodyPr>
            <a:normAutofit/>
          </a:bodyPr>
          <a:lstStyle/>
          <a:p>
            <a:r>
              <a:rPr lang="en-US" dirty="0" smtClean="0"/>
              <a:t>PRIMARY KEY - uniquely identify each record in a table.</a:t>
            </a:r>
          </a:p>
          <a:p>
            <a:r>
              <a:rPr lang="en-US" dirty="0" smtClean="0"/>
              <a:t>FOREIGN KEY - referential constraint between two tables.</a:t>
            </a:r>
          </a:p>
          <a:p>
            <a:r>
              <a:rPr lang="en-US" dirty="0" smtClean="0"/>
              <a:t>NOT NULL – constraint that doesn’t allow insert NULL value inside field.</a:t>
            </a:r>
          </a:p>
          <a:p>
            <a:r>
              <a:rPr lang="en-US" dirty="0" smtClean="0"/>
              <a:t>UNIQUE - constraint that defines all values inside field must be unique.</a:t>
            </a:r>
          </a:p>
          <a:p>
            <a:r>
              <a:rPr lang="en-US" dirty="0" smtClean="0"/>
              <a:t>CHECK - condition that defines valid data when adding or updating an entry in a table.</a:t>
            </a:r>
          </a:p>
          <a:p>
            <a:endParaRPr lang="en-US" dirty="0"/>
          </a:p>
        </p:txBody>
      </p:sp>
    </p:spTree>
    <p:extLst>
      <p:ext uri="{BB962C8B-B14F-4D97-AF65-F5344CB8AC3E}">
        <p14:creationId xmlns="" xmlns:p14="http://schemas.microsoft.com/office/powerpoint/2010/main" val="3358941577"/>
      </p:ext>
    </p:extLst>
  </p:cSld>
  <p:clrMapOvr>
    <a:masterClrMapping/>
  </p:clrMapOvr>
  <p:transition spd="slow">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Joins</a:t>
            </a:r>
            <a:endParaRPr lang="en-US" dirty="0"/>
          </a:p>
        </p:txBody>
      </p:sp>
      <p:sp>
        <p:nvSpPr>
          <p:cNvPr id="5" name="Content Placeholder 4"/>
          <p:cNvSpPr>
            <a:spLocks noGrp="1"/>
          </p:cNvSpPr>
          <p:nvPr>
            <p:ph sz="half" idx="1"/>
          </p:nvPr>
        </p:nvSpPr>
        <p:spPr>
          <a:xfrm>
            <a:off x="457200" y="1600201"/>
            <a:ext cx="8229600" cy="2590800"/>
          </a:xfrm>
        </p:spPr>
        <p:txBody>
          <a:bodyPr>
            <a:normAutofit/>
          </a:bodyPr>
          <a:lstStyle/>
          <a:p>
            <a:r>
              <a:rPr lang="en-US" dirty="0" smtClean="0"/>
              <a:t>Inner join.</a:t>
            </a:r>
          </a:p>
          <a:p>
            <a:r>
              <a:rPr lang="en-US" dirty="0" smtClean="0"/>
              <a:t>Outer join.</a:t>
            </a:r>
            <a:br>
              <a:rPr lang="en-US" dirty="0" smtClean="0"/>
            </a:br>
            <a:r>
              <a:rPr lang="en-US" dirty="0" smtClean="0"/>
              <a:t>- Left outer join.</a:t>
            </a:r>
            <a:br>
              <a:rPr lang="en-US" dirty="0" smtClean="0"/>
            </a:br>
            <a:r>
              <a:rPr lang="en-US" dirty="0" smtClean="0"/>
              <a:t>- Right outer join.</a:t>
            </a:r>
            <a:br>
              <a:rPr lang="en-US" dirty="0" smtClean="0"/>
            </a:br>
            <a:r>
              <a:rPr lang="en-US" dirty="0" smtClean="0"/>
              <a:t>- Full outer join.</a:t>
            </a:r>
          </a:p>
          <a:p>
            <a:r>
              <a:rPr lang="en-US" dirty="0" smtClean="0"/>
              <a:t>Cross join.</a:t>
            </a:r>
          </a:p>
          <a:p>
            <a:r>
              <a:rPr lang="en-US" dirty="0" smtClean="0"/>
              <a:t>Other joins.</a:t>
            </a:r>
          </a:p>
          <a:p>
            <a:endParaRPr lang="en-US" dirty="0" smtClean="0"/>
          </a:p>
          <a:p>
            <a:endParaRPr lang="en-US" dirty="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Inner join</a:t>
            </a:r>
            <a:endParaRPr lang="en-US" b="1" dirty="0"/>
          </a:p>
        </p:txBody>
      </p:sp>
      <p:sp>
        <p:nvSpPr>
          <p:cNvPr id="5" name="Content Placeholder 4"/>
          <p:cNvSpPr>
            <a:spLocks noGrp="1"/>
          </p:cNvSpPr>
          <p:nvPr>
            <p:ph sz="half" idx="1"/>
          </p:nvPr>
        </p:nvSpPr>
        <p:spPr>
          <a:xfrm>
            <a:off x="457200" y="1600201"/>
            <a:ext cx="8229600" cy="2667000"/>
          </a:xfrm>
        </p:spPr>
        <p:txBody>
          <a:bodyPr>
            <a:normAutofit/>
          </a:bodyPr>
          <a:lstStyle/>
          <a:p>
            <a:r>
              <a:rPr lang="en-US" b="1" dirty="0" smtClean="0"/>
              <a:t>Inner join </a:t>
            </a:r>
            <a:r>
              <a:rPr lang="en-US" dirty="0" smtClean="0"/>
              <a:t>- creates a new result table by combining column values of two tables (A and B) based upon the join-predicate.</a:t>
            </a:r>
          </a:p>
          <a:p>
            <a:pPr>
              <a:buNone/>
            </a:pPr>
            <a:endParaRPr lang="en-US" dirty="0" smtClean="0"/>
          </a:p>
          <a:p>
            <a:pPr marL="0">
              <a:buNone/>
            </a:pPr>
            <a:r>
              <a:rPr lang="en-US" b="1" dirty="0" smtClean="0"/>
              <a:t>SELECT</a:t>
            </a:r>
            <a:r>
              <a:rPr lang="en-US" dirty="0" smtClean="0"/>
              <a:t> FIELD [,... n] </a:t>
            </a:r>
            <a:r>
              <a:rPr lang="en-US" b="1" dirty="0" smtClean="0"/>
              <a:t>FROM</a:t>
            </a:r>
            <a:r>
              <a:rPr lang="en-US" dirty="0" smtClean="0"/>
              <a:t> MainTable </a:t>
            </a:r>
            <a:r>
              <a:rPr lang="en-US" b="1" dirty="0" smtClean="0"/>
              <a:t>INNER JOIN</a:t>
            </a:r>
            <a:r>
              <a:rPr lang="en-US" dirty="0" smtClean="0"/>
              <a:t> JoinTable </a:t>
            </a:r>
            <a:r>
              <a:rPr lang="en-US" b="1" dirty="0" smtClean="0"/>
              <a:t>ON</a:t>
            </a:r>
            <a:r>
              <a:rPr lang="en-US" dirty="0" smtClean="0"/>
              <a:t> &lt;condition&gt; </a:t>
            </a:r>
          </a:p>
          <a:p>
            <a:endParaRPr lang="en-US" dirty="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Inner join example</a:t>
            </a:r>
            <a:endParaRPr lang="en-US" dirty="0"/>
          </a:p>
        </p:txBody>
      </p:sp>
      <p:sp>
        <p:nvSpPr>
          <p:cNvPr id="5" name="Content Placeholder 4"/>
          <p:cNvSpPr>
            <a:spLocks noGrp="1"/>
          </p:cNvSpPr>
          <p:nvPr>
            <p:ph sz="half" idx="1"/>
          </p:nvPr>
        </p:nvSpPr>
        <p:spPr>
          <a:xfrm>
            <a:off x="457200" y="1600201"/>
            <a:ext cx="8229600" cy="4343400"/>
          </a:xfrm>
        </p:spPr>
        <p:txBody>
          <a:bodyPr>
            <a:normAutofit/>
          </a:bodyPr>
          <a:lstStyle/>
          <a:p>
            <a:pPr>
              <a:buNone/>
            </a:pPr>
            <a:endParaRPr lang="en-US" dirty="0" smtClean="0"/>
          </a:p>
          <a:p>
            <a:pPr>
              <a:buNone/>
            </a:pPr>
            <a:endParaRPr lang="en-US" b="1" dirty="0" smtClean="0"/>
          </a:p>
          <a:p>
            <a:pPr>
              <a:buNone/>
            </a:pPr>
            <a:endParaRPr lang="en-US" b="1" dirty="0" smtClean="0"/>
          </a:p>
          <a:p>
            <a:pPr>
              <a:buNone/>
            </a:pPr>
            <a:endParaRPr lang="en-US" b="1" dirty="0" smtClean="0"/>
          </a:p>
          <a:p>
            <a:pPr marL="0">
              <a:buNone/>
            </a:pPr>
            <a:r>
              <a:rPr lang="en-US" b="1" dirty="0" smtClean="0"/>
              <a:t>SELECT</a:t>
            </a:r>
            <a:r>
              <a:rPr lang="en-US" dirty="0" smtClean="0"/>
              <a:t> * </a:t>
            </a:r>
            <a:r>
              <a:rPr lang="en-US" b="1" dirty="0" smtClean="0"/>
              <a:t>FROM</a:t>
            </a:r>
            <a:r>
              <a:rPr lang="en-US" dirty="0" smtClean="0"/>
              <a:t> Films </a:t>
            </a:r>
            <a:r>
              <a:rPr lang="en-US" b="1" dirty="0" smtClean="0"/>
              <a:t>INNER JOIN</a:t>
            </a:r>
            <a:r>
              <a:rPr lang="en-US" dirty="0" smtClean="0"/>
              <a:t> Category </a:t>
            </a:r>
          </a:p>
          <a:p>
            <a:pPr marL="0">
              <a:buNone/>
            </a:pPr>
            <a:r>
              <a:rPr lang="en-US" b="1" dirty="0" smtClean="0"/>
              <a:t>ON</a:t>
            </a:r>
            <a:r>
              <a:rPr lang="en-US" dirty="0" smtClean="0"/>
              <a:t> Films.CategoryID = Category.CategoryID</a:t>
            </a:r>
          </a:p>
          <a:p>
            <a:endParaRPr lang="en-US" dirty="0" smtClean="0"/>
          </a:p>
          <a:p>
            <a:endParaRPr lang="en-US" dirty="0"/>
          </a:p>
        </p:txBody>
      </p:sp>
      <p:pic>
        <p:nvPicPr>
          <p:cNvPr id="6147" name="Picture 3"/>
          <p:cNvPicPr>
            <a:picLocks noChangeAspect="1" noChangeArrowheads="1"/>
          </p:cNvPicPr>
          <p:nvPr/>
        </p:nvPicPr>
        <p:blipFill>
          <a:blip r:embed="rId2" cstate="print"/>
          <a:srcRect/>
          <a:stretch>
            <a:fillRect/>
          </a:stretch>
        </p:blipFill>
        <p:spPr bwMode="auto">
          <a:xfrm>
            <a:off x="533400" y="4267200"/>
            <a:ext cx="6934200" cy="1143000"/>
          </a:xfrm>
          <a:prstGeom prst="rect">
            <a:avLst/>
          </a:prstGeom>
          <a:noFill/>
          <a:ln w="9525">
            <a:noFill/>
            <a:miter lim="800000"/>
            <a:headEnd/>
            <a:tailEnd/>
          </a:ln>
        </p:spPr>
      </p:pic>
      <p:pic>
        <p:nvPicPr>
          <p:cNvPr id="6148" name="Picture 4"/>
          <p:cNvPicPr>
            <a:picLocks noChangeAspect="1" noChangeArrowheads="1"/>
          </p:cNvPicPr>
          <p:nvPr/>
        </p:nvPicPr>
        <p:blipFill>
          <a:blip r:embed="rId3" cstate="print"/>
          <a:srcRect/>
          <a:stretch>
            <a:fillRect/>
          </a:stretch>
        </p:blipFill>
        <p:spPr bwMode="auto">
          <a:xfrm>
            <a:off x="5638800" y="1524000"/>
            <a:ext cx="2667000" cy="1366838"/>
          </a:xfrm>
          <a:prstGeom prst="rect">
            <a:avLst/>
          </a:prstGeom>
          <a:noFill/>
          <a:ln w="9525">
            <a:noFill/>
            <a:miter lim="800000"/>
            <a:headEnd/>
            <a:tailEnd/>
          </a:ln>
        </p:spPr>
      </p:pic>
      <p:pic>
        <p:nvPicPr>
          <p:cNvPr id="6149" name="Picture 5"/>
          <p:cNvPicPr>
            <a:picLocks noChangeAspect="1" noChangeArrowheads="1"/>
          </p:cNvPicPr>
          <p:nvPr/>
        </p:nvPicPr>
        <p:blipFill>
          <a:blip r:embed="rId4" cstate="print"/>
          <a:srcRect/>
          <a:stretch>
            <a:fillRect/>
          </a:stretch>
        </p:blipFill>
        <p:spPr bwMode="auto">
          <a:xfrm>
            <a:off x="533400" y="1524000"/>
            <a:ext cx="4724400" cy="1305142"/>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Outer join. Left outer join</a:t>
            </a:r>
            <a:endParaRPr lang="en-US" b="1" dirty="0"/>
          </a:p>
        </p:txBody>
      </p:sp>
      <p:sp>
        <p:nvSpPr>
          <p:cNvPr id="5" name="Content Placeholder 4"/>
          <p:cNvSpPr>
            <a:spLocks noGrp="1"/>
          </p:cNvSpPr>
          <p:nvPr>
            <p:ph sz="half" idx="1"/>
          </p:nvPr>
        </p:nvSpPr>
        <p:spPr>
          <a:xfrm>
            <a:off x="457200" y="1600200"/>
            <a:ext cx="8229600" cy="4343399"/>
          </a:xfrm>
        </p:spPr>
        <p:txBody>
          <a:bodyPr>
            <a:normAutofit/>
          </a:bodyPr>
          <a:lstStyle/>
          <a:p>
            <a:pPr marL="0">
              <a:buNone/>
            </a:pPr>
            <a:r>
              <a:rPr lang="en-US" dirty="0" smtClean="0"/>
              <a:t>An </a:t>
            </a:r>
            <a:r>
              <a:rPr lang="en-US" b="1" dirty="0" smtClean="0"/>
              <a:t>outer join</a:t>
            </a:r>
            <a:r>
              <a:rPr lang="en-US" dirty="0" smtClean="0"/>
              <a:t> does not require each record in the two joined tables to have a matching record.</a:t>
            </a:r>
          </a:p>
          <a:p>
            <a:pPr>
              <a:buNone/>
            </a:pPr>
            <a:endParaRPr lang="en-US" dirty="0" smtClean="0"/>
          </a:p>
          <a:p>
            <a:r>
              <a:rPr lang="en-US" b="1" dirty="0" smtClean="0"/>
              <a:t>Left outer </a:t>
            </a:r>
            <a:r>
              <a:rPr lang="en-US" dirty="0" smtClean="0"/>
              <a:t>join for table A and B always contains all records of the "left" table (A), even if the join-condition does not find any matching record in the "right" table (B).</a:t>
            </a:r>
            <a:br>
              <a:rPr lang="en-US" dirty="0" smtClean="0"/>
            </a:br>
            <a:endParaRPr lang="en-US" dirty="0" smtClean="0"/>
          </a:p>
          <a:p>
            <a:pPr marL="0">
              <a:buNone/>
            </a:pPr>
            <a:r>
              <a:rPr lang="en-US" b="1" dirty="0" smtClean="0"/>
              <a:t>SELECT</a:t>
            </a:r>
            <a:r>
              <a:rPr lang="en-US" dirty="0" smtClean="0"/>
              <a:t> FIELD [,... n] </a:t>
            </a:r>
            <a:r>
              <a:rPr lang="en-US" b="1" dirty="0" smtClean="0"/>
              <a:t>FROM</a:t>
            </a:r>
            <a:r>
              <a:rPr lang="en-US" dirty="0" smtClean="0"/>
              <a:t> MainTable </a:t>
            </a:r>
            <a:r>
              <a:rPr lang="en-US" b="1" dirty="0" smtClean="0"/>
              <a:t>LEFT OUTER JOIN</a:t>
            </a:r>
            <a:r>
              <a:rPr lang="en-US" dirty="0" smtClean="0"/>
              <a:t> JoinTable </a:t>
            </a:r>
            <a:r>
              <a:rPr lang="en-US" b="1" dirty="0" smtClean="0"/>
              <a:t>ON</a:t>
            </a:r>
            <a:r>
              <a:rPr lang="en-US" dirty="0" smtClean="0"/>
              <a:t> &lt;condition&gt; </a:t>
            </a:r>
          </a:p>
          <a:p>
            <a:endParaRPr lang="en-US" dirty="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Left outer join example</a:t>
            </a:r>
            <a:endParaRPr lang="en-US" dirty="0"/>
          </a:p>
        </p:txBody>
      </p:sp>
      <p:sp>
        <p:nvSpPr>
          <p:cNvPr id="5" name="Content Placeholder 4"/>
          <p:cNvSpPr>
            <a:spLocks noGrp="1"/>
          </p:cNvSpPr>
          <p:nvPr>
            <p:ph sz="half" idx="1"/>
          </p:nvPr>
        </p:nvSpPr>
        <p:spPr>
          <a:xfrm>
            <a:off x="457200" y="1600201"/>
            <a:ext cx="8229600" cy="4343400"/>
          </a:xfrm>
        </p:spPr>
        <p:txBody>
          <a:bodyPr>
            <a:normAutofit/>
          </a:bodyPr>
          <a:lstStyle/>
          <a:p>
            <a:pPr>
              <a:buNone/>
            </a:pPr>
            <a:endParaRPr lang="en-US" dirty="0" smtClean="0"/>
          </a:p>
          <a:p>
            <a:pPr>
              <a:buNone/>
            </a:pPr>
            <a:endParaRPr lang="en-US" b="1" dirty="0" smtClean="0"/>
          </a:p>
          <a:p>
            <a:pPr>
              <a:buNone/>
            </a:pPr>
            <a:endParaRPr lang="en-US" b="1" dirty="0" smtClean="0"/>
          </a:p>
          <a:p>
            <a:pPr>
              <a:buNone/>
            </a:pPr>
            <a:endParaRPr lang="en-US" b="1" dirty="0" smtClean="0"/>
          </a:p>
          <a:p>
            <a:pPr marL="0">
              <a:buNone/>
            </a:pPr>
            <a:r>
              <a:rPr lang="en-US" b="1" dirty="0" smtClean="0"/>
              <a:t>SELECT</a:t>
            </a:r>
            <a:r>
              <a:rPr lang="en-US" dirty="0" smtClean="0"/>
              <a:t> * </a:t>
            </a:r>
            <a:r>
              <a:rPr lang="en-US" b="1" dirty="0" smtClean="0"/>
              <a:t>FROM</a:t>
            </a:r>
            <a:r>
              <a:rPr lang="en-US" dirty="0" smtClean="0"/>
              <a:t> Films </a:t>
            </a:r>
            <a:r>
              <a:rPr lang="en-US" b="1" dirty="0" smtClean="0"/>
              <a:t>LEFT OUTER JOIN</a:t>
            </a:r>
            <a:r>
              <a:rPr lang="en-US" dirty="0" smtClean="0"/>
              <a:t> Category </a:t>
            </a:r>
          </a:p>
          <a:p>
            <a:pPr marL="0">
              <a:buNone/>
            </a:pPr>
            <a:r>
              <a:rPr lang="en-US" b="1" dirty="0" smtClean="0"/>
              <a:t>ON</a:t>
            </a:r>
            <a:r>
              <a:rPr lang="en-US" dirty="0" smtClean="0"/>
              <a:t> Films.CategoryID = Category.CategoryID</a:t>
            </a:r>
          </a:p>
          <a:p>
            <a:endParaRPr lang="en-US" dirty="0" smtClean="0"/>
          </a:p>
          <a:p>
            <a:endParaRPr lang="en-US" dirty="0"/>
          </a:p>
        </p:txBody>
      </p:sp>
      <p:pic>
        <p:nvPicPr>
          <p:cNvPr id="6148" name="Picture 4"/>
          <p:cNvPicPr>
            <a:picLocks noChangeAspect="1" noChangeArrowheads="1"/>
          </p:cNvPicPr>
          <p:nvPr/>
        </p:nvPicPr>
        <p:blipFill>
          <a:blip r:embed="rId2" cstate="print"/>
          <a:srcRect/>
          <a:stretch>
            <a:fillRect/>
          </a:stretch>
        </p:blipFill>
        <p:spPr bwMode="auto">
          <a:xfrm>
            <a:off x="5638800" y="1524000"/>
            <a:ext cx="2667000" cy="1366838"/>
          </a:xfrm>
          <a:prstGeom prst="rect">
            <a:avLst/>
          </a:prstGeom>
          <a:noFill/>
          <a:ln w="9525">
            <a:noFill/>
            <a:miter lim="800000"/>
            <a:headEnd/>
            <a:tailEnd/>
          </a:ln>
        </p:spPr>
      </p:pic>
      <p:pic>
        <p:nvPicPr>
          <p:cNvPr id="6149" name="Picture 5"/>
          <p:cNvPicPr>
            <a:picLocks noChangeAspect="1" noChangeArrowheads="1"/>
          </p:cNvPicPr>
          <p:nvPr/>
        </p:nvPicPr>
        <p:blipFill>
          <a:blip r:embed="rId3" cstate="print"/>
          <a:srcRect/>
          <a:stretch>
            <a:fillRect/>
          </a:stretch>
        </p:blipFill>
        <p:spPr bwMode="auto">
          <a:xfrm>
            <a:off x="533400" y="1524000"/>
            <a:ext cx="4724400" cy="1305142"/>
          </a:xfrm>
          <a:prstGeom prst="rect">
            <a:avLst/>
          </a:prstGeom>
          <a:noFill/>
          <a:ln w="9525">
            <a:noFill/>
            <a:miter lim="800000"/>
            <a:headEnd/>
            <a:tailEnd/>
          </a:ln>
        </p:spPr>
      </p:pic>
      <p:pic>
        <p:nvPicPr>
          <p:cNvPr id="7170" name="Picture 2"/>
          <p:cNvPicPr>
            <a:picLocks noChangeAspect="1" noChangeArrowheads="1"/>
          </p:cNvPicPr>
          <p:nvPr/>
        </p:nvPicPr>
        <p:blipFill>
          <a:blip r:embed="rId4" cstate="print"/>
          <a:srcRect/>
          <a:stretch>
            <a:fillRect/>
          </a:stretch>
        </p:blipFill>
        <p:spPr bwMode="auto">
          <a:xfrm>
            <a:off x="609600" y="4191000"/>
            <a:ext cx="6781800" cy="1434037"/>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Right outer join</a:t>
            </a:r>
            <a:endParaRPr lang="en-US" b="1" dirty="0"/>
          </a:p>
        </p:txBody>
      </p:sp>
      <p:sp>
        <p:nvSpPr>
          <p:cNvPr id="5" name="Content Placeholder 4"/>
          <p:cNvSpPr>
            <a:spLocks noGrp="1"/>
          </p:cNvSpPr>
          <p:nvPr>
            <p:ph sz="half" idx="1"/>
          </p:nvPr>
        </p:nvSpPr>
        <p:spPr>
          <a:xfrm>
            <a:off x="457200" y="1600200"/>
            <a:ext cx="8229600" cy="4343399"/>
          </a:xfrm>
        </p:spPr>
        <p:txBody>
          <a:bodyPr>
            <a:normAutofit/>
          </a:bodyPr>
          <a:lstStyle/>
          <a:p>
            <a:r>
              <a:rPr lang="en-US" b="1" dirty="0" smtClean="0"/>
              <a:t>Right outer </a:t>
            </a:r>
            <a:r>
              <a:rPr lang="en-US" dirty="0" smtClean="0"/>
              <a:t>join for table A and B always contains all records of the “right" table (B), even if the join-condition does not find any matching record in the “left" table (A).</a:t>
            </a:r>
            <a:br>
              <a:rPr lang="en-US" dirty="0" smtClean="0"/>
            </a:br>
            <a:endParaRPr lang="en-US" dirty="0" smtClean="0"/>
          </a:p>
          <a:p>
            <a:pPr marL="0">
              <a:buNone/>
            </a:pPr>
            <a:r>
              <a:rPr lang="en-US" b="1" dirty="0" smtClean="0"/>
              <a:t>SELECT</a:t>
            </a:r>
            <a:r>
              <a:rPr lang="en-US" dirty="0" smtClean="0"/>
              <a:t> FIELD [,... n] </a:t>
            </a:r>
            <a:r>
              <a:rPr lang="en-US" b="1" dirty="0" smtClean="0"/>
              <a:t>FROM</a:t>
            </a:r>
            <a:r>
              <a:rPr lang="en-US" dirty="0" smtClean="0"/>
              <a:t> MainTable </a:t>
            </a:r>
            <a:r>
              <a:rPr lang="en-US" b="1" dirty="0" smtClean="0"/>
              <a:t>RIGHT OUTER JOIN</a:t>
            </a:r>
            <a:r>
              <a:rPr lang="en-US" dirty="0" smtClean="0"/>
              <a:t> JoinTable </a:t>
            </a:r>
            <a:r>
              <a:rPr lang="en-US" b="1" dirty="0" smtClean="0"/>
              <a:t>ON</a:t>
            </a:r>
            <a:r>
              <a:rPr lang="en-US" dirty="0" smtClean="0"/>
              <a:t> &lt;condition&gt;</a:t>
            </a:r>
          </a:p>
          <a:p>
            <a:endParaRPr lang="en-US" dirty="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Right outer join example</a:t>
            </a:r>
            <a:endParaRPr lang="en-US" dirty="0"/>
          </a:p>
        </p:txBody>
      </p:sp>
      <p:sp>
        <p:nvSpPr>
          <p:cNvPr id="5" name="Content Placeholder 4"/>
          <p:cNvSpPr>
            <a:spLocks noGrp="1"/>
          </p:cNvSpPr>
          <p:nvPr>
            <p:ph sz="half" idx="1"/>
          </p:nvPr>
        </p:nvSpPr>
        <p:spPr>
          <a:xfrm>
            <a:off x="457200" y="1600201"/>
            <a:ext cx="8229600" cy="4343400"/>
          </a:xfrm>
        </p:spPr>
        <p:txBody>
          <a:bodyPr>
            <a:normAutofit/>
          </a:bodyPr>
          <a:lstStyle/>
          <a:p>
            <a:pPr>
              <a:buNone/>
            </a:pPr>
            <a:endParaRPr lang="en-US" dirty="0" smtClean="0"/>
          </a:p>
          <a:p>
            <a:pPr>
              <a:buNone/>
            </a:pPr>
            <a:endParaRPr lang="en-US" b="1" dirty="0" smtClean="0"/>
          </a:p>
          <a:p>
            <a:pPr>
              <a:buNone/>
            </a:pPr>
            <a:endParaRPr lang="en-US" b="1" dirty="0" smtClean="0"/>
          </a:p>
          <a:p>
            <a:pPr>
              <a:buNone/>
            </a:pPr>
            <a:endParaRPr lang="en-US" b="1" dirty="0" smtClean="0"/>
          </a:p>
          <a:p>
            <a:pPr marL="0">
              <a:buNone/>
            </a:pPr>
            <a:r>
              <a:rPr lang="en-US" b="1" dirty="0" smtClean="0"/>
              <a:t>SELECT</a:t>
            </a:r>
            <a:r>
              <a:rPr lang="en-US" dirty="0" smtClean="0"/>
              <a:t> * </a:t>
            </a:r>
            <a:r>
              <a:rPr lang="en-US" b="1" dirty="0" smtClean="0"/>
              <a:t>FROM</a:t>
            </a:r>
            <a:r>
              <a:rPr lang="en-US" dirty="0" smtClean="0"/>
              <a:t> Films </a:t>
            </a:r>
            <a:r>
              <a:rPr lang="en-US" b="1" dirty="0" smtClean="0"/>
              <a:t>RIGHT OUTER JOIN</a:t>
            </a:r>
            <a:r>
              <a:rPr lang="en-US" dirty="0" smtClean="0"/>
              <a:t> Category </a:t>
            </a:r>
          </a:p>
          <a:p>
            <a:pPr marL="0">
              <a:buNone/>
            </a:pPr>
            <a:r>
              <a:rPr lang="en-US" b="1" dirty="0" smtClean="0"/>
              <a:t>ON</a:t>
            </a:r>
            <a:r>
              <a:rPr lang="en-US" dirty="0" smtClean="0"/>
              <a:t> Films.CategoryID = Category.CategoryID</a:t>
            </a:r>
          </a:p>
          <a:p>
            <a:endParaRPr lang="en-US" dirty="0" smtClean="0"/>
          </a:p>
          <a:p>
            <a:endParaRPr lang="en-US" dirty="0"/>
          </a:p>
        </p:txBody>
      </p:sp>
      <p:pic>
        <p:nvPicPr>
          <p:cNvPr id="6148" name="Picture 4"/>
          <p:cNvPicPr>
            <a:picLocks noChangeAspect="1" noChangeArrowheads="1"/>
          </p:cNvPicPr>
          <p:nvPr/>
        </p:nvPicPr>
        <p:blipFill>
          <a:blip r:embed="rId2" cstate="print"/>
          <a:srcRect/>
          <a:stretch>
            <a:fillRect/>
          </a:stretch>
        </p:blipFill>
        <p:spPr bwMode="auto">
          <a:xfrm>
            <a:off x="5638800" y="1524000"/>
            <a:ext cx="2667000" cy="1366838"/>
          </a:xfrm>
          <a:prstGeom prst="rect">
            <a:avLst/>
          </a:prstGeom>
          <a:noFill/>
          <a:ln w="9525">
            <a:noFill/>
            <a:miter lim="800000"/>
            <a:headEnd/>
            <a:tailEnd/>
          </a:ln>
        </p:spPr>
      </p:pic>
      <p:pic>
        <p:nvPicPr>
          <p:cNvPr id="6149" name="Picture 5"/>
          <p:cNvPicPr>
            <a:picLocks noChangeAspect="1" noChangeArrowheads="1"/>
          </p:cNvPicPr>
          <p:nvPr/>
        </p:nvPicPr>
        <p:blipFill>
          <a:blip r:embed="rId3" cstate="print"/>
          <a:srcRect/>
          <a:stretch>
            <a:fillRect/>
          </a:stretch>
        </p:blipFill>
        <p:spPr bwMode="auto">
          <a:xfrm>
            <a:off x="533400" y="1524000"/>
            <a:ext cx="4724400" cy="1305142"/>
          </a:xfrm>
          <a:prstGeom prst="rect">
            <a:avLst/>
          </a:prstGeom>
          <a:noFill/>
          <a:ln w="9525">
            <a:noFill/>
            <a:miter lim="800000"/>
            <a:headEnd/>
            <a:tailEnd/>
          </a:ln>
        </p:spPr>
      </p:pic>
      <p:pic>
        <p:nvPicPr>
          <p:cNvPr id="8194" name="Picture 2"/>
          <p:cNvPicPr>
            <a:picLocks noChangeAspect="1" noChangeArrowheads="1"/>
          </p:cNvPicPr>
          <p:nvPr/>
        </p:nvPicPr>
        <p:blipFill>
          <a:blip r:embed="rId4" cstate="print"/>
          <a:srcRect/>
          <a:stretch>
            <a:fillRect/>
          </a:stretch>
        </p:blipFill>
        <p:spPr bwMode="auto">
          <a:xfrm>
            <a:off x="533400" y="4038600"/>
            <a:ext cx="7315200" cy="1527349"/>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Full outer join</a:t>
            </a:r>
            <a:endParaRPr lang="en-US" b="1" dirty="0"/>
          </a:p>
        </p:txBody>
      </p:sp>
      <p:sp>
        <p:nvSpPr>
          <p:cNvPr id="5" name="Content Placeholder 4"/>
          <p:cNvSpPr>
            <a:spLocks noGrp="1"/>
          </p:cNvSpPr>
          <p:nvPr>
            <p:ph sz="half" idx="1"/>
          </p:nvPr>
        </p:nvSpPr>
        <p:spPr>
          <a:xfrm>
            <a:off x="457200" y="1600200"/>
            <a:ext cx="8229600" cy="4343399"/>
          </a:xfrm>
        </p:spPr>
        <p:txBody>
          <a:bodyPr>
            <a:normAutofit/>
          </a:bodyPr>
          <a:lstStyle/>
          <a:p>
            <a:r>
              <a:rPr lang="en-US" b="1" dirty="0" smtClean="0"/>
              <a:t>Full outer </a:t>
            </a:r>
            <a:r>
              <a:rPr lang="en-US" dirty="0" smtClean="0"/>
              <a:t>join combines the effect of applying both left and right outer joins. Where records in the joined tables do not match, the result set will have NULL values for every column of the table that lacks a matching row</a:t>
            </a:r>
            <a:br>
              <a:rPr lang="en-US" dirty="0" smtClean="0"/>
            </a:br>
            <a:endParaRPr lang="en-US" dirty="0" smtClean="0"/>
          </a:p>
          <a:p>
            <a:pPr marL="0">
              <a:buNone/>
            </a:pPr>
            <a:r>
              <a:rPr lang="en-US" b="1" dirty="0" smtClean="0"/>
              <a:t>SELECT</a:t>
            </a:r>
            <a:r>
              <a:rPr lang="en-US" dirty="0" smtClean="0"/>
              <a:t> FIELD [,... n] </a:t>
            </a:r>
            <a:r>
              <a:rPr lang="en-US" b="1" dirty="0" smtClean="0"/>
              <a:t>FROM</a:t>
            </a:r>
            <a:r>
              <a:rPr lang="en-US" dirty="0" smtClean="0"/>
              <a:t> MainTable </a:t>
            </a:r>
            <a:r>
              <a:rPr lang="en-US" b="1" dirty="0" smtClean="0"/>
              <a:t>FULL OUTER JOIN</a:t>
            </a:r>
            <a:r>
              <a:rPr lang="en-US" dirty="0" smtClean="0"/>
              <a:t> JoinTable </a:t>
            </a:r>
            <a:r>
              <a:rPr lang="en-US" b="1" dirty="0" smtClean="0"/>
              <a:t>ON</a:t>
            </a:r>
            <a:r>
              <a:rPr lang="en-US" dirty="0" smtClean="0"/>
              <a:t> &lt;condition&gt;</a:t>
            </a:r>
          </a:p>
          <a:p>
            <a:endParaRPr lang="en-US" dirty="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Right outer join example</a:t>
            </a:r>
            <a:endParaRPr lang="en-US" dirty="0"/>
          </a:p>
        </p:txBody>
      </p:sp>
      <p:sp>
        <p:nvSpPr>
          <p:cNvPr id="5" name="Content Placeholder 4"/>
          <p:cNvSpPr>
            <a:spLocks noGrp="1"/>
          </p:cNvSpPr>
          <p:nvPr>
            <p:ph sz="half" idx="1"/>
          </p:nvPr>
        </p:nvSpPr>
        <p:spPr>
          <a:xfrm>
            <a:off x="457200" y="1600201"/>
            <a:ext cx="8229600" cy="4343400"/>
          </a:xfrm>
        </p:spPr>
        <p:txBody>
          <a:bodyPr>
            <a:normAutofit/>
          </a:bodyPr>
          <a:lstStyle/>
          <a:p>
            <a:pPr>
              <a:buNone/>
            </a:pPr>
            <a:endParaRPr lang="en-US" dirty="0" smtClean="0"/>
          </a:p>
          <a:p>
            <a:pPr>
              <a:buNone/>
            </a:pPr>
            <a:endParaRPr lang="en-US" b="1" dirty="0" smtClean="0"/>
          </a:p>
          <a:p>
            <a:pPr>
              <a:buNone/>
            </a:pPr>
            <a:endParaRPr lang="en-US" b="1" dirty="0" smtClean="0"/>
          </a:p>
          <a:p>
            <a:pPr>
              <a:buNone/>
            </a:pPr>
            <a:endParaRPr lang="en-US" b="1" dirty="0" smtClean="0"/>
          </a:p>
          <a:p>
            <a:pPr marL="0">
              <a:buNone/>
            </a:pPr>
            <a:r>
              <a:rPr lang="en-US" b="1" dirty="0" smtClean="0"/>
              <a:t>SELECT</a:t>
            </a:r>
            <a:r>
              <a:rPr lang="en-US" dirty="0" smtClean="0"/>
              <a:t> * </a:t>
            </a:r>
            <a:r>
              <a:rPr lang="en-US" b="1" dirty="0" smtClean="0"/>
              <a:t>FROM</a:t>
            </a:r>
            <a:r>
              <a:rPr lang="en-US" dirty="0" smtClean="0"/>
              <a:t> Films </a:t>
            </a:r>
            <a:r>
              <a:rPr lang="en-US" b="1" dirty="0" smtClean="0"/>
              <a:t>FULL OUTER JOIN</a:t>
            </a:r>
            <a:r>
              <a:rPr lang="en-US" dirty="0" smtClean="0"/>
              <a:t> Category </a:t>
            </a:r>
          </a:p>
          <a:p>
            <a:pPr marL="0">
              <a:buNone/>
            </a:pPr>
            <a:r>
              <a:rPr lang="en-US" b="1" dirty="0" smtClean="0"/>
              <a:t>ON</a:t>
            </a:r>
            <a:r>
              <a:rPr lang="en-US" dirty="0" smtClean="0"/>
              <a:t> Films.CategoryID = Category.CategoryID</a:t>
            </a:r>
          </a:p>
          <a:p>
            <a:endParaRPr lang="en-US" dirty="0" smtClean="0"/>
          </a:p>
          <a:p>
            <a:endParaRPr lang="en-US" dirty="0"/>
          </a:p>
        </p:txBody>
      </p:sp>
      <p:pic>
        <p:nvPicPr>
          <p:cNvPr id="6148" name="Picture 4"/>
          <p:cNvPicPr>
            <a:picLocks noChangeAspect="1" noChangeArrowheads="1"/>
          </p:cNvPicPr>
          <p:nvPr/>
        </p:nvPicPr>
        <p:blipFill>
          <a:blip r:embed="rId2" cstate="print"/>
          <a:srcRect/>
          <a:stretch>
            <a:fillRect/>
          </a:stretch>
        </p:blipFill>
        <p:spPr bwMode="auto">
          <a:xfrm>
            <a:off x="5638800" y="1524000"/>
            <a:ext cx="2667000" cy="1366838"/>
          </a:xfrm>
          <a:prstGeom prst="rect">
            <a:avLst/>
          </a:prstGeom>
          <a:noFill/>
          <a:ln w="9525">
            <a:noFill/>
            <a:miter lim="800000"/>
            <a:headEnd/>
            <a:tailEnd/>
          </a:ln>
        </p:spPr>
      </p:pic>
      <p:pic>
        <p:nvPicPr>
          <p:cNvPr id="6149" name="Picture 5"/>
          <p:cNvPicPr>
            <a:picLocks noChangeAspect="1" noChangeArrowheads="1"/>
          </p:cNvPicPr>
          <p:nvPr/>
        </p:nvPicPr>
        <p:blipFill>
          <a:blip r:embed="rId3" cstate="print"/>
          <a:srcRect/>
          <a:stretch>
            <a:fillRect/>
          </a:stretch>
        </p:blipFill>
        <p:spPr bwMode="auto">
          <a:xfrm>
            <a:off x="533400" y="1524000"/>
            <a:ext cx="4724400" cy="1305142"/>
          </a:xfrm>
          <a:prstGeom prst="rect">
            <a:avLst/>
          </a:prstGeom>
          <a:noFill/>
          <a:ln w="9525">
            <a:noFill/>
            <a:miter lim="800000"/>
            <a:headEnd/>
            <a:tailEnd/>
          </a:ln>
        </p:spPr>
      </p:pic>
      <p:pic>
        <p:nvPicPr>
          <p:cNvPr id="9218" name="Picture 2"/>
          <p:cNvPicPr>
            <a:picLocks noChangeAspect="1" noChangeArrowheads="1"/>
          </p:cNvPicPr>
          <p:nvPr/>
        </p:nvPicPr>
        <p:blipFill>
          <a:blip r:embed="rId4" cstate="print"/>
          <a:srcRect/>
          <a:stretch>
            <a:fillRect/>
          </a:stretch>
        </p:blipFill>
        <p:spPr bwMode="auto">
          <a:xfrm>
            <a:off x="533400" y="3962400"/>
            <a:ext cx="7010400" cy="1760321"/>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Cross join</a:t>
            </a:r>
            <a:endParaRPr lang="en-US" b="1" dirty="0"/>
          </a:p>
        </p:txBody>
      </p:sp>
      <p:sp>
        <p:nvSpPr>
          <p:cNvPr id="5" name="Content Placeholder 4"/>
          <p:cNvSpPr>
            <a:spLocks noGrp="1"/>
          </p:cNvSpPr>
          <p:nvPr>
            <p:ph sz="half" idx="1"/>
          </p:nvPr>
        </p:nvSpPr>
        <p:spPr>
          <a:xfrm>
            <a:off x="457200" y="1600200"/>
            <a:ext cx="8229600" cy="4343399"/>
          </a:xfrm>
        </p:spPr>
        <p:txBody>
          <a:bodyPr>
            <a:normAutofit/>
          </a:bodyPr>
          <a:lstStyle/>
          <a:p>
            <a:r>
              <a:rPr lang="en-US" b="1" dirty="0" smtClean="0"/>
              <a:t>Cross join </a:t>
            </a:r>
            <a:r>
              <a:rPr lang="en-US" dirty="0" smtClean="0"/>
              <a:t>does not apply any predicate to filter records from the joined table. It returns all possible combination of both tables.</a:t>
            </a:r>
          </a:p>
          <a:p>
            <a:endParaRPr lang="en-US" dirty="0" smtClean="0"/>
          </a:p>
          <a:p>
            <a:pPr marL="0">
              <a:buNone/>
            </a:pPr>
            <a:r>
              <a:rPr lang="en-US" b="1" dirty="0" smtClean="0"/>
              <a:t>SELECT</a:t>
            </a:r>
            <a:r>
              <a:rPr lang="en-US" dirty="0" smtClean="0"/>
              <a:t> FIELD [,... n] </a:t>
            </a:r>
            <a:r>
              <a:rPr lang="en-US" b="1" dirty="0" smtClean="0"/>
              <a:t>FROM</a:t>
            </a:r>
            <a:r>
              <a:rPr lang="en-US" dirty="0" smtClean="0"/>
              <a:t> MainTable </a:t>
            </a:r>
            <a:r>
              <a:rPr lang="en-US" b="1" dirty="0" smtClean="0"/>
              <a:t>CROSS JOIN</a:t>
            </a:r>
            <a:r>
              <a:rPr lang="en-US" dirty="0" smtClean="0"/>
              <a:t> JoinTable</a:t>
            </a:r>
          </a:p>
          <a:p>
            <a:endParaRPr lang="en-US" dirty="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Cross join example</a:t>
            </a:r>
            <a:endParaRPr lang="en-US" dirty="0"/>
          </a:p>
        </p:txBody>
      </p:sp>
      <p:sp>
        <p:nvSpPr>
          <p:cNvPr id="5" name="Content Placeholder 4"/>
          <p:cNvSpPr>
            <a:spLocks noGrp="1"/>
          </p:cNvSpPr>
          <p:nvPr>
            <p:ph sz="half" idx="1"/>
          </p:nvPr>
        </p:nvSpPr>
        <p:spPr>
          <a:xfrm>
            <a:off x="457200" y="1600201"/>
            <a:ext cx="8229600" cy="4343400"/>
          </a:xfrm>
        </p:spPr>
        <p:txBody>
          <a:bodyPr>
            <a:normAutofit/>
          </a:bodyPr>
          <a:lstStyle/>
          <a:p>
            <a:pPr>
              <a:buNone/>
            </a:pPr>
            <a:endParaRPr lang="en-US" dirty="0" smtClean="0"/>
          </a:p>
          <a:p>
            <a:pPr>
              <a:buNone/>
            </a:pPr>
            <a:endParaRPr lang="en-US" b="1" dirty="0" smtClean="0"/>
          </a:p>
          <a:p>
            <a:pPr>
              <a:buNone/>
            </a:pPr>
            <a:endParaRPr lang="en-US" b="1" dirty="0" smtClean="0"/>
          </a:p>
          <a:p>
            <a:pPr>
              <a:buNone/>
            </a:pPr>
            <a:endParaRPr lang="en-US" b="1" dirty="0" smtClean="0"/>
          </a:p>
          <a:p>
            <a:pPr>
              <a:buNone/>
            </a:pPr>
            <a:r>
              <a:rPr lang="en-US" b="1" dirty="0" smtClean="0"/>
              <a:t>SELECT</a:t>
            </a:r>
            <a:r>
              <a:rPr lang="en-US" dirty="0" smtClean="0"/>
              <a:t> * </a:t>
            </a:r>
            <a:r>
              <a:rPr lang="en-US" b="1" dirty="0" smtClean="0"/>
              <a:t>FROM</a:t>
            </a:r>
            <a:r>
              <a:rPr lang="en-US" dirty="0" smtClean="0"/>
              <a:t> Films </a:t>
            </a:r>
            <a:r>
              <a:rPr lang="en-US" b="1" dirty="0" smtClean="0"/>
              <a:t>CROSS JOIN</a:t>
            </a:r>
            <a:r>
              <a:rPr lang="en-US" dirty="0" smtClean="0"/>
              <a:t> Category</a:t>
            </a:r>
          </a:p>
          <a:p>
            <a:endParaRPr lang="en-US" dirty="0" smtClean="0"/>
          </a:p>
          <a:p>
            <a:endParaRPr lang="en-US" dirty="0"/>
          </a:p>
        </p:txBody>
      </p:sp>
      <p:pic>
        <p:nvPicPr>
          <p:cNvPr id="6148" name="Picture 4"/>
          <p:cNvPicPr>
            <a:picLocks noChangeAspect="1" noChangeArrowheads="1"/>
          </p:cNvPicPr>
          <p:nvPr/>
        </p:nvPicPr>
        <p:blipFill>
          <a:blip r:embed="rId2" cstate="print"/>
          <a:srcRect/>
          <a:stretch>
            <a:fillRect/>
          </a:stretch>
        </p:blipFill>
        <p:spPr bwMode="auto">
          <a:xfrm>
            <a:off x="5638800" y="1524000"/>
            <a:ext cx="2667000" cy="1366838"/>
          </a:xfrm>
          <a:prstGeom prst="rect">
            <a:avLst/>
          </a:prstGeom>
          <a:noFill/>
          <a:ln w="9525">
            <a:noFill/>
            <a:miter lim="800000"/>
            <a:headEnd/>
            <a:tailEnd/>
          </a:ln>
        </p:spPr>
      </p:pic>
      <p:pic>
        <p:nvPicPr>
          <p:cNvPr id="6149" name="Picture 5"/>
          <p:cNvPicPr>
            <a:picLocks noChangeAspect="1" noChangeArrowheads="1"/>
          </p:cNvPicPr>
          <p:nvPr/>
        </p:nvPicPr>
        <p:blipFill>
          <a:blip r:embed="rId3" cstate="print"/>
          <a:srcRect/>
          <a:stretch>
            <a:fillRect/>
          </a:stretch>
        </p:blipFill>
        <p:spPr bwMode="auto">
          <a:xfrm>
            <a:off x="533400" y="1524000"/>
            <a:ext cx="4724400" cy="1305142"/>
          </a:xfrm>
          <a:prstGeom prst="rect">
            <a:avLst/>
          </a:prstGeom>
          <a:noFill/>
          <a:ln w="9525">
            <a:noFill/>
            <a:miter lim="800000"/>
            <a:headEnd/>
            <a:tailEnd/>
          </a:ln>
        </p:spPr>
      </p:pic>
      <p:pic>
        <p:nvPicPr>
          <p:cNvPr id="10242" name="Picture 2"/>
          <p:cNvPicPr>
            <a:picLocks noChangeAspect="1" noChangeArrowheads="1"/>
          </p:cNvPicPr>
          <p:nvPr/>
        </p:nvPicPr>
        <p:blipFill>
          <a:blip r:embed="rId4" cstate="print"/>
          <a:srcRect/>
          <a:stretch>
            <a:fillRect/>
          </a:stretch>
        </p:blipFill>
        <p:spPr bwMode="auto">
          <a:xfrm>
            <a:off x="533400" y="3505200"/>
            <a:ext cx="4333875" cy="3076575"/>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Other join</a:t>
            </a:r>
            <a:endParaRPr lang="en-US" b="1" dirty="0"/>
          </a:p>
        </p:txBody>
      </p:sp>
      <p:sp>
        <p:nvSpPr>
          <p:cNvPr id="5" name="Content Placeholder 4"/>
          <p:cNvSpPr>
            <a:spLocks noGrp="1"/>
          </p:cNvSpPr>
          <p:nvPr>
            <p:ph sz="half" idx="1"/>
          </p:nvPr>
        </p:nvSpPr>
        <p:spPr>
          <a:xfrm>
            <a:off x="457200" y="1600200"/>
            <a:ext cx="8229600" cy="4343399"/>
          </a:xfrm>
        </p:spPr>
        <p:txBody>
          <a:bodyPr>
            <a:normAutofit/>
          </a:bodyPr>
          <a:lstStyle/>
          <a:p>
            <a:r>
              <a:rPr lang="en-US" dirty="0" smtClean="0"/>
              <a:t>Equi-join</a:t>
            </a:r>
          </a:p>
          <a:p>
            <a:r>
              <a:rPr lang="en-US" dirty="0" smtClean="0"/>
              <a:t>Natural join</a:t>
            </a:r>
          </a:p>
          <a:p>
            <a:r>
              <a:rPr lang="en-US" dirty="0" smtClean="0"/>
              <a:t>Self-join</a:t>
            </a:r>
          </a:p>
          <a:p>
            <a:endParaRPr lang="en-US" dirty="0" smtClean="0"/>
          </a:p>
          <a:p>
            <a:pPr>
              <a:buNone/>
            </a:pPr>
            <a:r>
              <a:rPr lang="en-US" dirty="0" smtClean="0">
                <a:hlinkClick r:id="rId2"/>
              </a:rPr>
              <a:t>http://en.wikipedia.org/wiki/Join_%28SQL%29</a:t>
            </a:r>
            <a:endParaRPr lang="en-US" dirty="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Group data and</a:t>
            </a:r>
            <a:endParaRPr lang="en-US" dirty="0"/>
          </a:p>
        </p:txBody>
      </p:sp>
      <p:sp>
        <p:nvSpPr>
          <p:cNvPr id="5" name="Content Placeholder 4"/>
          <p:cNvSpPr>
            <a:spLocks noGrp="1"/>
          </p:cNvSpPr>
          <p:nvPr>
            <p:ph sz="half" idx="1"/>
          </p:nvPr>
        </p:nvSpPr>
        <p:spPr>
          <a:xfrm>
            <a:off x="457200" y="1600200"/>
            <a:ext cx="8229600" cy="4876799"/>
          </a:xfrm>
        </p:spPr>
        <p:txBody>
          <a:bodyPr>
            <a:normAutofit/>
          </a:bodyPr>
          <a:lstStyle/>
          <a:p>
            <a:r>
              <a:rPr lang="en-US" dirty="0" smtClean="0"/>
              <a:t>Order by</a:t>
            </a:r>
          </a:p>
          <a:p>
            <a:r>
              <a:rPr lang="en-US" dirty="0" smtClean="0"/>
              <a:t>Group by</a:t>
            </a:r>
          </a:p>
          <a:p>
            <a:r>
              <a:rPr lang="en-US" dirty="0" smtClean="0"/>
              <a:t>Having</a:t>
            </a:r>
          </a:p>
          <a:p>
            <a:r>
              <a:rPr lang="en-US" dirty="0" smtClean="0"/>
              <a:t>Union</a:t>
            </a:r>
          </a:p>
          <a:p>
            <a:endParaRPr lang="en-US" dirty="0" smtClean="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Order by</a:t>
            </a:r>
            <a:endParaRPr lang="en-US" dirty="0"/>
          </a:p>
        </p:txBody>
      </p:sp>
      <p:sp>
        <p:nvSpPr>
          <p:cNvPr id="5" name="Content Placeholder 4"/>
          <p:cNvSpPr>
            <a:spLocks noGrp="1"/>
          </p:cNvSpPr>
          <p:nvPr>
            <p:ph sz="half" idx="1"/>
          </p:nvPr>
        </p:nvSpPr>
        <p:spPr>
          <a:xfrm>
            <a:off x="457200" y="1600201"/>
            <a:ext cx="8229600" cy="3200400"/>
          </a:xfrm>
        </p:spPr>
        <p:txBody>
          <a:bodyPr>
            <a:normAutofit/>
          </a:bodyPr>
          <a:lstStyle/>
          <a:p>
            <a:r>
              <a:rPr lang="en-US" b="1" dirty="0" smtClean="0"/>
              <a:t>Order by </a:t>
            </a:r>
            <a:r>
              <a:rPr lang="en-US" dirty="0" smtClean="0"/>
              <a:t>clause is used to produce sorted (alphabetically or numerically) output.</a:t>
            </a:r>
          </a:p>
          <a:p>
            <a:pPr>
              <a:buNone/>
            </a:pPr>
            <a:endParaRPr lang="en-US" dirty="0" smtClean="0"/>
          </a:p>
          <a:p>
            <a:pPr marL="0">
              <a:buNone/>
            </a:pPr>
            <a:r>
              <a:rPr lang="en-US" b="1" dirty="0" smtClean="0"/>
              <a:t>SELECT</a:t>
            </a:r>
            <a:r>
              <a:rPr lang="en-US" dirty="0" smtClean="0"/>
              <a:t> * </a:t>
            </a:r>
            <a:r>
              <a:rPr lang="en-US" b="1" dirty="0" smtClean="0"/>
              <a:t>FROM</a:t>
            </a:r>
            <a:r>
              <a:rPr lang="en-US" dirty="0" smtClean="0"/>
              <a:t> Table [,... n] </a:t>
            </a:r>
            <a:r>
              <a:rPr lang="en-US" b="1" dirty="0" smtClean="0"/>
              <a:t>ORDER BY</a:t>
            </a:r>
            <a:r>
              <a:rPr lang="en-US" dirty="0" smtClean="0"/>
              <a:t> Table.Column </a:t>
            </a:r>
            <a:br>
              <a:rPr lang="en-US" dirty="0" smtClean="0"/>
            </a:br>
            <a:r>
              <a:rPr lang="en-US" dirty="0" smtClean="0"/>
              <a:t>[,... n] [ ASC | DESC ] </a:t>
            </a:r>
          </a:p>
          <a:p>
            <a:pPr>
              <a:buNone/>
            </a:pPr>
            <a:endParaRPr lang="en-US" dirty="0" smtClean="0"/>
          </a:p>
          <a:p>
            <a:pPr>
              <a:buNone/>
            </a:pPr>
            <a:r>
              <a:rPr lang="en-US" b="1" dirty="0" smtClean="0"/>
              <a:t>ASC</a:t>
            </a:r>
            <a:r>
              <a:rPr lang="en-US" dirty="0" smtClean="0"/>
              <a:t> is used by default and sort results in ascending order.</a:t>
            </a:r>
          </a:p>
          <a:p>
            <a:pPr>
              <a:buNone/>
            </a:pPr>
            <a:r>
              <a:rPr lang="en-US" b="1" dirty="0" smtClean="0"/>
              <a:t>DESC</a:t>
            </a:r>
            <a:r>
              <a:rPr lang="en-US" dirty="0" smtClean="0"/>
              <a:t> is used to sort results in descending order.</a:t>
            </a:r>
          </a:p>
          <a:p>
            <a:pPr>
              <a:buNone/>
            </a:pPr>
            <a:endParaRPr lang="en-US" dirty="0" smtClean="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Group by</a:t>
            </a:r>
            <a:endParaRPr lang="en-US" dirty="0"/>
          </a:p>
        </p:txBody>
      </p:sp>
      <p:sp>
        <p:nvSpPr>
          <p:cNvPr id="5" name="Content Placeholder 4"/>
          <p:cNvSpPr>
            <a:spLocks noGrp="1"/>
          </p:cNvSpPr>
          <p:nvPr>
            <p:ph sz="half" idx="1"/>
          </p:nvPr>
        </p:nvSpPr>
        <p:spPr>
          <a:xfrm>
            <a:off x="457200" y="1600200"/>
            <a:ext cx="8229600" cy="4571999"/>
          </a:xfrm>
        </p:spPr>
        <p:txBody>
          <a:bodyPr>
            <a:normAutofit/>
          </a:bodyPr>
          <a:lstStyle/>
          <a:p>
            <a:r>
              <a:rPr lang="en-US" b="1" dirty="0" smtClean="0"/>
              <a:t>GROUP BY</a:t>
            </a:r>
            <a:r>
              <a:rPr lang="en-US" dirty="0" smtClean="0"/>
              <a:t> clause takes the result set of the SELECT command and reduces it into aggregate rows according to the columns listed. In the other words, it will allow to group identical data and not to show every record in result set.</a:t>
            </a:r>
          </a:p>
          <a:p>
            <a:pPr>
              <a:buNone/>
            </a:pPr>
            <a:endParaRPr lang="en-US" dirty="0" smtClean="0"/>
          </a:p>
          <a:p>
            <a:pPr>
              <a:buNone/>
            </a:pPr>
            <a:r>
              <a:rPr lang="en-US" b="1" dirty="0" smtClean="0"/>
              <a:t>SELECT</a:t>
            </a:r>
            <a:r>
              <a:rPr lang="en-US" dirty="0" smtClean="0"/>
              <a:t> Table.Column </a:t>
            </a:r>
            <a:r>
              <a:rPr lang="en-US" b="1" dirty="0" smtClean="0"/>
              <a:t>FROM</a:t>
            </a:r>
            <a:r>
              <a:rPr lang="en-US" dirty="0" smtClean="0"/>
              <a:t> Table </a:t>
            </a:r>
            <a:r>
              <a:rPr lang="en-US" b="1" dirty="0" smtClean="0"/>
              <a:t>GROUP BY</a:t>
            </a:r>
            <a:r>
              <a:rPr lang="en-US" dirty="0" smtClean="0"/>
              <a:t> Table.Column</a:t>
            </a:r>
          </a:p>
          <a:p>
            <a:pPr>
              <a:buNone/>
            </a:pPr>
            <a:endParaRPr lang="en-US" dirty="0" smtClean="0"/>
          </a:p>
          <a:p>
            <a:pPr>
              <a:buNone/>
            </a:pPr>
            <a:endParaRPr lang="en-US" dirty="0" smtClean="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Group by example</a:t>
            </a:r>
            <a:endParaRPr lang="en-US" dirty="0"/>
          </a:p>
        </p:txBody>
      </p:sp>
      <p:sp>
        <p:nvSpPr>
          <p:cNvPr id="7" name="Content Placeholder 6"/>
          <p:cNvSpPr>
            <a:spLocks noGrp="1"/>
          </p:cNvSpPr>
          <p:nvPr>
            <p:ph sz="half" idx="1"/>
          </p:nvPr>
        </p:nvSpPr>
        <p:spPr>
          <a:xfrm>
            <a:off x="457200" y="1600200"/>
            <a:ext cx="8229600" cy="4525963"/>
          </a:xfrm>
        </p:spPr>
        <p:txBody>
          <a:bodyPr/>
          <a:lstStyle/>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b="1" dirty="0" smtClean="0"/>
              <a:t>SELECT</a:t>
            </a:r>
            <a:r>
              <a:rPr lang="en-US" dirty="0" smtClean="0"/>
              <a:t> CategoryID </a:t>
            </a:r>
            <a:r>
              <a:rPr lang="en-US" b="1" dirty="0" smtClean="0"/>
              <a:t>FROM</a:t>
            </a:r>
            <a:r>
              <a:rPr lang="en-US" dirty="0" smtClean="0"/>
              <a:t> Films </a:t>
            </a:r>
            <a:r>
              <a:rPr lang="en-US" b="1" dirty="0" smtClean="0"/>
              <a:t>GROUP BY</a:t>
            </a:r>
            <a:r>
              <a:rPr lang="en-US" dirty="0" smtClean="0"/>
              <a:t> CategoryID</a:t>
            </a:r>
          </a:p>
          <a:p>
            <a:pPr>
              <a:buNone/>
            </a:pPr>
            <a:endParaRPr lang="en-US" dirty="0" smtClean="0"/>
          </a:p>
        </p:txBody>
      </p:sp>
      <p:pic>
        <p:nvPicPr>
          <p:cNvPr id="1028" name="Picture 4"/>
          <p:cNvPicPr>
            <a:picLocks noGrp="1" noChangeAspect="1" noChangeArrowheads="1"/>
          </p:cNvPicPr>
          <p:nvPr>
            <p:ph sz="half" idx="1"/>
          </p:nvPr>
        </p:nvPicPr>
        <p:blipFill>
          <a:blip r:embed="rId2" cstate="print"/>
          <a:srcRect/>
          <a:stretch>
            <a:fillRect/>
          </a:stretch>
        </p:blipFill>
        <p:spPr bwMode="auto">
          <a:xfrm>
            <a:off x="838199" y="1622424"/>
            <a:ext cx="4531935" cy="1730375"/>
          </a:xfrm>
          <a:prstGeom prst="rect">
            <a:avLst/>
          </a:prstGeom>
          <a:noFill/>
          <a:ln w="9525">
            <a:noFill/>
            <a:miter lim="800000"/>
            <a:headEnd/>
            <a:tailEnd/>
          </a:ln>
        </p:spPr>
      </p:pic>
      <p:pic>
        <p:nvPicPr>
          <p:cNvPr id="1029" name="Picture 5"/>
          <p:cNvPicPr>
            <a:picLocks noChangeAspect="1" noChangeArrowheads="1"/>
          </p:cNvPicPr>
          <p:nvPr/>
        </p:nvPicPr>
        <p:blipFill>
          <a:blip r:embed="rId3" cstate="print"/>
          <a:srcRect/>
          <a:stretch>
            <a:fillRect/>
          </a:stretch>
        </p:blipFill>
        <p:spPr bwMode="auto">
          <a:xfrm>
            <a:off x="838200" y="3962400"/>
            <a:ext cx="1075813" cy="990600"/>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Group by with other SQL statements</a:t>
            </a:r>
            <a:endParaRPr lang="en-US" dirty="0"/>
          </a:p>
        </p:txBody>
      </p:sp>
      <p:sp>
        <p:nvSpPr>
          <p:cNvPr id="5" name="Content Placeholder 4"/>
          <p:cNvSpPr>
            <a:spLocks noGrp="1"/>
          </p:cNvSpPr>
          <p:nvPr>
            <p:ph sz="half" idx="1"/>
          </p:nvPr>
        </p:nvSpPr>
        <p:spPr>
          <a:xfrm>
            <a:off x="457200" y="1600200"/>
            <a:ext cx="8229600" cy="4495800"/>
          </a:xfrm>
        </p:spPr>
        <p:txBody>
          <a:bodyPr>
            <a:normAutofit/>
          </a:bodyPr>
          <a:lstStyle/>
          <a:p>
            <a:pPr>
              <a:buNone/>
            </a:pPr>
            <a:r>
              <a:rPr lang="en-US" b="1" dirty="0" smtClean="0"/>
              <a:t>GROUP BY</a:t>
            </a:r>
            <a:r>
              <a:rPr lang="en-US" dirty="0" smtClean="0"/>
              <a:t> clause works great with such SQL statements:</a:t>
            </a:r>
          </a:p>
          <a:p>
            <a:r>
              <a:rPr lang="en-US" dirty="0" smtClean="0"/>
              <a:t>SUM</a:t>
            </a:r>
          </a:p>
          <a:p>
            <a:r>
              <a:rPr lang="en-US" dirty="0" smtClean="0"/>
              <a:t>AVG</a:t>
            </a:r>
          </a:p>
          <a:p>
            <a:r>
              <a:rPr lang="en-US" dirty="0" smtClean="0"/>
              <a:t>MIN</a:t>
            </a:r>
          </a:p>
          <a:p>
            <a:r>
              <a:rPr lang="en-US" dirty="0" smtClean="0"/>
              <a:t>MAX</a:t>
            </a:r>
          </a:p>
          <a:p>
            <a:r>
              <a:rPr lang="en-US" dirty="0" smtClean="0"/>
              <a:t>COUNT()/COUNT(*)</a:t>
            </a:r>
          </a:p>
          <a:p>
            <a:pPr marL="0">
              <a:buNone/>
            </a:pPr>
            <a:r>
              <a:rPr lang="en-US" b="1" dirty="0" smtClean="0"/>
              <a:t>SELECT</a:t>
            </a:r>
            <a:r>
              <a:rPr lang="en-US" dirty="0" smtClean="0"/>
              <a:t> CategoryID, count(CategoryID) </a:t>
            </a:r>
            <a:r>
              <a:rPr lang="en-US" b="1" dirty="0" smtClean="0"/>
              <a:t>AS</a:t>
            </a:r>
            <a:r>
              <a:rPr lang="en-US" dirty="0" smtClean="0"/>
              <a:t> ItemsNumber </a:t>
            </a:r>
            <a:r>
              <a:rPr lang="en-US" b="1" dirty="0" smtClean="0"/>
              <a:t>FROM</a:t>
            </a:r>
            <a:r>
              <a:rPr lang="en-US" dirty="0" smtClean="0"/>
              <a:t> Films </a:t>
            </a:r>
            <a:r>
              <a:rPr lang="en-US" b="1" dirty="0" smtClean="0"/>
              <a:t>GROUP BY </a:t>
            </a:r>
            <a:r>
              <a:rPr lang="en-US" dirty="0" smtClean="0"/>
              <a:t>CategoryID</a:t>
            </a:r>
          </a:p>
          <a:p>
            <a:pPr>
              <a:buNone/>
            </a:pPr>
            <a:r>
              <a:rPr lang="en-US" dirty="0" smtClean="0"/>
              <a:t>			</a:t>
            </a:r>
          </a:p>
          <a:p>
            <a:pPr>
              <a:buNone/>
            </a:pPr>
            <a:endParaRPr lang="en-US" dirty="0" smtClean="0"/>
          </a:p>
          <a:p>
            <a:pPr>
              <a:buNone/>
            </a:pPr>
            <a:endParaRPr lang="en-US" dirty="0" smtClean="0"/>
          </a:p>
          <a:p>
            <a:pPr>
              <a:buNone/>
            </a:pPr>
            <a:r>
              <a:rPr lang="en-US" dirty="0" smtClean="0"/>
              <a:t> </a:t>
            </a:r>
            <a:r>
              <a:rPr lang="en-US" dirty="0" smtClean="0">
                <a:hlinkClick r:id="rId2"/>
              </a:rPr>
              <a:t>http://www.w3schools.com/sql/sql_func_sum.asp</a:t>
            </a:r>
            <a:endParaRPr lang="en-US" dirty="0" smtClean="0"/>
          </a:p>
          <a:p>
            <a:pPr>
              <a:buNone/>
            </a:pPr>
            <a:endParaRPr lang="en-US" dirty="0" smtClean="0"/>
          </a:p>
        </p:txBody>
      </p:sp>
      <p:pic>
        <p:nvPicPr>
          <p:cNvPr id="2050" name="Picture 2"/>
          <p:cNvPicPr>
            <a:picLocks noChangeAspect="1" noChangeArrowheads="1"/>
          </p:cNvPicPr>
          <p:nvPr/>
        </p:nvPicPr>
        <p:blipFill>
          <a:blip r:embed="rId3" cstate="print"/>
          <a:srcRect/>
          <a:stretch>
            <a:fillRect/>
          </a:stretch>
        </p:blipFill>
        <p:spPr bwMode="auto">
          <a:xfrm>
            <a:off x="838200" y="4572000"/>
            <a:ext cx="1981200" cy="1052866"/>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Having</a:t>
            </a:r>
            <a:endParaRPr lang="en-US" dirty="0"/>
          </a:p>
        </p:txBody>
      </p:sp>
      <p:sp>
        <p:nvSpPr>
          <p:cNvPr id="5" name="Content Placeholder 4"/>
          <p:cNvSpPr>
            <a:spLocks noGrp="1"/>
          </p:cNvSpPr>
          <p:nvPr>
            <p:ph sz="half" idx="1"/>
          </p:nvPr>
        </p:nvSpPr>
        <p:spPr>
          <a:xfrm>
            <a:off x="457200" y="1600200"/>
            <a:ext cx="8229600" cy="4571999"/>
          </a:xfrm>
        </p:spPr>
        <p:txBody>
          <a:bodyPr>
            <a:normAutofit/>
          </a:bodyPr>
          <a:lstStyle/>
          <a:p>
            <a:r>
              <a:rPr lang="en-US" b="1" dirty="0" smtClean="0"/>
              <a:t>Having</a:t>
            </a:r>
            <a:r>
              <a:rPr lang="en-US" dirty="0" smtClean="0"/>
              <a:t> clause in SQL specifies that an SQL SELECT statement should only return rows where aggregate values meet the specified conditions.</a:t>
            </a:r>
          </a:p>
          <a:p>
            <a:pPr>
              <a:buNone/>
            </a:pPr>
            <a:endParaRPr lang="en-US" dirty="0" smtClean="0"/>
          </a:p>
          <a:p>
            <a:pPr>
              <a:buNone/>
            </a:pPr>
            <a:r>
              <a:rPr lang="en-US" b="1" dirty="0" smtClean="0"/>
              <a:t>SELECT</a:t>
            </a:r>
            <a:r>
              <a:rPr lang="en-US" dirty="0" smtClean="0"/>
              <a:t> Table.Column </a:t>
            </a:r>
            <a:r>
              <a:rPr lang="en-US" b="1" dirty="0" smtClean="0"/>
              <a:t>FROM</a:t>
            </a:r>
            <a:r>
              <a:rPr lang="en-US" dirty="0" smtClean="0"/>
              <a:t> Table </a:t>
            </a:r>
            <a:r>
              <a:rPr lang="en-US" b="1" dirty="0" smtClean="0"/>
              <a:t>GROUP BY</a:t>
            </a:r>
            <a:r>
              <a:rPr lang="en-US" dirty="0" smtClean="0"/>
              <a:t> Table.Column</a:t>
            </a:r>
          </a:p>
          <a:p>
            <a:pPr>
              <a:buNone/>
            </a:pPr>
            <a:r>
              <a:rPr lang="en-US" b="1" dirty="0" smtClean="0"/>
              <a:t>HAVING</a:t>
            </a:r>
            <a:r>
              <a:rPr lang="en-US" dirty="0" smtClean="0"/>
              <a:t> &lt;aggregate value&gt;</a:t>
            </a:r>
          </a:p>
          <a:p>
            <a:pPr>
              <a:buNone/>
            </a:pPr>
            <a:endParaRPr lang="en-US" dirty="0" smtClean="0"/>
          </a:p>
          <a:p>
            <a:pPr marL="0">
              <a:buNone/>
            </a:pPr>
            <a:r>
              <a:rPr lang="en-US" dirty="0" smtClean="0"/>
              <a:t>HAVING is like WHERE except one: the rows are selected not from value of column, but from value of column pointed in GROUP BY and values of aggregate functions counter for every group from GROUP BY. </a:t>
            </a:r>
          </a:p>
          <a:p>
            <a:pPr marL="0">
              <a:buNone/>
            </a:pPr>
            <a:r>
              <a:rPr lang="en-US" dirty="0" smtClean="0"/>
              <a:t>In case if GROUP BY isn’t used, the behavior of HAVING is the same like WHERE.</a:t>
            </a:r>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Having example</a:t>
            </a:r>
            <a:endParaRPr lang="en-US" dirty="0"/>
          </a:p>
        </p:txBody>
      </p:sp>
      <p:sp>
        <p:nvSpPr>
          <p:cNvPr id="5" name="Content Placeholder 4"/>
          <p:cNvSpPr>
            <a:spLocks noGrp="1"/>
          </p:cNvSpPr>
          <p:nvPr>
            <p:ph sz="half" idx="1"/>
          </p:nvPr>
        </p:nvSpPr>
        <p:spPr>
          <a:xfrm>
            <a:off x="457200" y="1600200"/>
            <a:ext cx="8229600" cy="4571999"/>
          </a:xfrm>
        </p:spPr>
        <p:txBody>
          <a:bodyPr>
            <a:normAutofit/>
          </a:bodyPr>
          <a:lstStyle/>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marL="0">
              <a:buNone/>
            </a:pPr>
            <a:r>
              <a:rPr lang="en-US" b="1" dirty="0" smtClean="0"/>
              <a:t>SELECT</a:t>
            </a:r>
            <a:r>
              <a:rPr lang="en-US" dirty="0" smtClean="0"/>
              <a:t> CategoryID, count(CategoryID) </a:t>
            </a:r>
            <a:r>
              <a:rPr lang="en-US" b="1" dirty="0" smtClean="0"/>
              <a:t>AS</a:t>
            </a:r>
            <a:r>
              <a:rPr lang="en-US" dirty="0" smtClean="0"/>
              <a:t> ItemsNumber </a:t>
            </a:r>
            <a:r>
              <a:rPr lang="en-US" b="1" dirty="0" smtClean="0"/>
              <a:t>FROM</a:t>
            </a:r>
            <a:r>
              <a:rPr lang="en-US" dirty="0" smtClean="0"/>
              <a:t> Films </a:t>
            </a:r>
            <a:r>
              <a:rPr lang="en-US" b="1" dirty="0" smtClean="0"/>
              <a:t>GROUP BY </a:t>
            </a:r>
            <a:r>
              <a:rPr lang="en-US" dirty="0" smtClean="0"/>
              <a:t>CategoryID </a:t>
            </a:r>
            <a:r>
              <a:rPr lang="en-US" b="1" dirty="0" smtClean="0"/>
              <a:t>HAVING</a:t>
            </a:r>
            <a:r>
              <a:rPr lang="en-US" dirty="0" smtClean="0"/>
              <a:t> count(CategoryID) &gt; 1</a:t>
            </a:r>
          </a:p>
          <a:p>
            <a:pPr marL="0">
              <a:buNone/>
            </a:pPr>
            <a:endParaRPr lang="en-US" dirty="0" smtClean="0"/>
          </a:p>
          <a:p>
            <a:pPr marL="0">
              <a:buNone/>
            </a:pPr>
            <a:r>
              <a:rPr lang="en-US" b="1" dirty="0" smtClean="0"/>
              <a:t>SELECT</a:t>
            </a:r>
            <a:r>
              <a:rPr lang="en-US" dirty="0" smtClean="0"/>
              <a:t> CategoryID, count(CategoryID) </a:t>
            </a:r>
            <a:r>
              <a:rPr lang="en-US" b="1" dirty="0" smtClean="0"/>
              <a:t>AS</a:t>
            </a:r>
            <a:r>
              <a:rPr lang="en-US" dirty="0" smtClean="0"/>
              <a:t> ItemsNumber </a:t>
            </a:r>
            <a:r>
              <a:rPr lang="en-US" b="1" dirty="0" smtClean="0"/>
              <a:t>FROM</a:t>
            </a:r>
            <a:r>
              <a:rPr lang="en-US" dirty="0" smtClean="0"/>
              <a:t> Films </a:t>
            </a:r>
            <a:r>
              <a:rPr lang="en-US" b="1" dirty="0" smtClean="0"/>
              <a:t>GROUP BY </a:t>
            </a:r>
            <a:r>
              <a:rPr lang="en-US" dirty="0" smtClean="0"/>
              <a:t>CategoryID </a:t>
            </a:r>
            <a:r>
              <a:rPr lang="en-US" b="1" dirty="0" smtClean="0"/>
              <a:t>HAVING</a:t>
            </a:r>
            <a:r>
              <a:rPr lang="en-US" dirty="0" smtClean="0"/>
              <a:t> </a:t>
            </a:r>
            <a:br>
              <a:rPr lang="en-US" dirty="0" smtClean="0"/>
            </a:br>
            <a:r>
              <a:rPr lang="en-US" dirty="0" smtClean="0"/>
              <a:t>CategoryID </a:t>
            </a:r>
            <a:r>
              <a:rPr lang="en-US" b="1" dirty="0" smtClean="0"/>
              <a:t>IN</a:t>
            </a:r>
            <a:r>
              <a:rPr lang="en-US" dirty="0" smtClean="0"/>
              <a:t> ('Action', 'Historical')</a:t>
            </a:r>
          </a:p>
        </p:txBody>
      </p:sp>
      <p:pic>
        <p:nvPicPr>
          <p:cNvPr id="3075" name="Picture 3"/>
          <p:cNvPicPr>
            <a:picLocks noChangeAspect="1" noChangeArrowheads="1"/>
          </p:cNvPicPr>
          <p:nvPr/>
        </p:nvPicPr>
        <p:blipFill>
          <a:blip r:embed="rId2" cstate="print"/>
          <a:srcRect/>
          <a:stretch>
            <a:fillRect/>
          </a:stretch>
        </p:blipFill>
        <p:spPr bwMode="auto">
          <a:xfrm>
            <a:off x="6324600" y="4191000"/>
            <a:ext cx="1676400" cy="533400"/>
          </a:xfrm>
          <a:prstGeom prst="rect">
            <a:avLst/>
          </a:prstGeom>
          <a:noFill/>
          <a:ln w="9525">
            <a:noFill/>
            <a:miter lim="800000"/>
            <a:headEnd/>
            <a:tailEnd/>
          </a:ln>
        </p:spPr>
      </p:pic>
      <p:pic>
        <p:nvPicPr>
          <p:cNvPr id="6" name="Picture 4"/>
          <p:cNvPicPr>
            <a:picLocks noGrp="1" noChangeAspect="1" noChangeArrowheads="1"/>
          </p:cNvPicPr>
          <p:nvPr>
            <p:ph sz="half" idx="1"/>
          </p:nvPr>
        </p:nvPicPr>
        <p:blipFill>
          <a:blip r:embed="rId3" cstate="print"/>
          <a:srcRect/>
          <a:stretch>
            <a:fillRect/>
          </a:stretch>
        </p:blipFill>
        <p:spPr bwMode="auto">
          <a:xfrm>
            <a:off x="838199" y="1622424"/>
            <a:ext cx="4531935" cy="1730375"/>
          </a:xfrm>
          <a:prstGeom prst="rect">
            <a:avLst/>
          </a:prstGeom>
          <a:noFill/>
          <a:ln w="9525">
            <a:noFill/>
            <a:miter lim="800000"/>
            <a:headEnd/>
            <a:tailEnd/>
          </a:ln>
        </p:spPr>
      </p:pic>
      <p:pic>
        <p:nvPicPr>
          <p:cNvPr id="3076" name="Picture 4"/>
          <p:cNvPicPr>
            <a:picLocks noChangeAspect="1" noChangeArrowheads="1"/>
          </p:cNvPicPr>
          <p:nvPr/>
        </p:nvPicPr>
        <p:blipFill>
          <a:blip r:embed="rId4" cstate="print"/>
          <a:srcRect/>
          <a:stretch>
            <a:fillRect/>
          </a:stretch>
        </p:blipFill>
        <p:spPr bwMode="auto">
          <a:xfrm>
            <a:off x="6324600" y="5486400"/>
            <a:ext cx="1676400" cy="523875"/>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Union</a:t>
            </a:r>
            <a:endParaRPr lang="en-US" dirty="0"/>
          </a:p>
        </p:txBody>
      </p:sp>
      <p:sp>
        <p:nvSpPr>
          <p:cNvPr id="5" name="Content Placeholder 4"/>
          <p:cNvSpPr>
            <a:spLocks noGrp="1"/>
          </p:cNvSpPr>
          <p:nvPr>
            <p:ph sz="half" idx="1"/>
          </p:nvPr>
        </p:nvSpPr>
        <p:spPr>
          <a:xfrm>
            <a:off x="457200" y="1600200"/>
            <a:ext cx="8229600" cy="4571999"/>
          </a:xfrm>
        </p:spPr>
        <p:txBody>
          <a:bodyPr>
            <a:normAutofit/>
          </a:bodyPr>
          <a:lstStyle/>
          <a:p>
            <a:r>
              <a:rPr lang="en-US" b="1" dirty="0" smtClean="0"/>
              <a:t>UNION</a:t>
            </a:r>
            <a:r>
              <a:rPr lang="en-US" dirty="0" smtClean="0"/>
              <a:t> clause combines the results of two SQL queries into a single table of all matching rows. The two queries must result in the same number of columns and compatible data types in order to unite.</a:t>
            </a:r>
          </a:p>
          <a:p>
            <a:pPr>
              <a:buNone/>
            </a:pPr>
            <a:endParaRPr lang="en-US" dirty="0" smtClean="0"/>
          </a:p>
          <a:p>
            <a:pPr>
              <a:buNone/>
            </a:pPr>
            <a:r>
              <a:rPr lang="en-US" b="1" dirty="0" smtClean="0"/>
              <a:t>SELECT</a:t>
            </a:r>
            <a:r>
              <a:rPr lang="en-US" dirty="0" smtClean="0"/>
              <a:t> Table.Column1.1, Table.Column1.2 </a:t>
            </a:r>
            <a:r>
              <a:rPr lang="en-US" b="1" dirty="0" smtClean="0"/>
              <a:t>FROM</a:t>
            </a:r>
            <a:r>
              <a:rPr lang="en-US" dirty="0" smtClean="0"/>
              <a:t> Table1</a:t>
            </a:r>
          </a:p>
          <a:p>
            <a:pPr>
              <a:buNone/>
            </a:pPr>
            <a:r>
              <a:rPr lang="en-US" b="1" dirty="0" smtClean="0"/>
              <a:t>UNION </a:t>
            </a:r>
            <a:r>
              <a:rPr lang="en-US" dirty="0" smtClean="0"/>
              <a:t>[</a:t>
            </a:r>
            <a:r>
              <a:rPr lang="en-US" b="1" dirty="0" smtClean="0"/>
              <a:t>ALL</a:t>
            </a:r>
            <a:r>
              <a:rPr lang="en-US" dirty="0" smtClean="0"/>
              <a:t>]</a:t>
            </a:r>
          </a:p>
          <a:p>
            <a:pPr>
              <a:buNone/>
            </a:pPr>
            <a:r>
              <a:rPr lang="en-US" b="1" dirty="0" smtClean="0"/>
              <a:t>SELECT</a:t>
            </a:r>
            <a:r>
              <a:rPr lang="en-US" dirty="0" smtClean="0"/>
              <a:t> Table.Column2.1, Table.Column2.2 </a:t>
            </a:r>
            <a:r>
              <a:rPr lang="en-US" b="1" dirty="0" smtClean="0"/>
              <a:t>FROM</a:t>
            </a:r>
            <a:r>
              <a:rPr lang="en-US" dirty="0" smtClean="0"/>
              <a:t> Table2</a:t>
            </a:r>
          </a:p>
          <a:p>
            <a:pPr>
              <a:buNone/>
            </a:pPr>
            <a:endParaRPr lang="en-US" dirty="0" smtClean="0"/>
          </a:p>
          <a:p>
            <a:pPr marL="0">
              <a:buNone/>
            </a:pPr>
            <a:r>
              <a:rPr lang="en-US" dirty="0" smtClean="0"/>
              <a:t>Any duplicate records are automatically removed unless UNION ALL is used.</a:t>
            </a:r>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Union example</a:t>
            </a:r>
            <a:endParaRPr lang="en-US" dirty="0"/>
          </a:p>
        </p:txBody>
      </p:sp>
      <p:sp>
        <p:nvSpPr>
          <p:cNvPr id="5" name="Content Placeholder 4"/>
          <p:cNvSpPr>
            <a:spLocks noGrp="1"/>
          </p:cNvSpPr>
          <p:nvPr>
            <p:ph sz="half" idx="1"/>
          </p:nvPr>
        </p:nvSpPr>
        <p:spPr>
          <a:xfrm>
            <a:off x="457200" y="1600200"/>
            <a:ext cx="8229600" cy="4571999"/>
          </a:xfrm>
        </p:spPr>
        <p:txBody>
          <a:bodyPr>
            <a:normAutofit/>
          </a:bodyPr>
          <a:lstStyle/>
          <a:p>
            <a:pPr>
              <a:buNone/>
            </a:pPr>
            <a:endParaRPr lang="en-US" dirty="0" smtClean="0"/>
          </a:p>
          <a:p>
            <a:pPr>
              <a:buNone/>
            </a:pPr>
            <a:endParaRPr lang="en-US" dirty="0" smtClean="0"/>
          </a:p>
          <a:p>
            <a:pPr>
              <a:buNone/>
            </a:pPr>
            <a:endParaRPr lang="en-US" dirty="0" smtClean="0"/>
          </a:p>
          <a:p>
            <a:pPr>
              <a:buNone/>
            </a:pPr>
            <a:endParaRPr lang="en-US" dirty="0" smtClean="0"/>
          </a:p>
        </p:txBody>
      </p:sp>
      <p:pic>
        <p:nvPicPr>
          <p:cNvPr id="4099" name="Picture 3"/>
          <p:cNvPicPr>
            <a:picLocks noChangeAspect="1" noChangeArrowheads="1"/>
          </p:cNvPicPr>
          <p:nvPr/>
        </p:nvPicPr>
        <p:blipFill>
          <a:blip r:embed="rId2" cstate="print"/>
          <a:srcRect/>
          <a:stretch>
            <a:fillRect/>
          </a:stretch>
        </p:blipFill>
        <p:spPr bwMode="auto">
          <a:xfrm>
            <a:off x="457200" y="1447800"/>
            <a:ext cx="4171950" cy="952500"/>
          </a:xfrm>
          <a:prstGeom prst="rect">
            <a:avLst/>
          </a:prstGeom>
          <a:noFill/>
          <a:ln w="9525">
            <a:noFill/>
            <a:miter lim="800000"/>
            <a:headEnd/>
            <a:tailEnd/>
          </a:ln>
        </p:spPr>
      </p:pic>
      <p:pic>
        <p:nvPicPr>
          <p:cNvPr id="4101" name="Picture 5"/>
          <p:cNvPicPr>
            <a:picLocks noChangeAspect="1" noChangeArrowheads="1"/>
          </p:cNvPicPr>
          <p:nvPr/>
        </p:nvPicPr>
        <p:blipFill>
          <a:blip r:embed="rId3" cstate="print"/>
          <a:srcRect/>
          <a:stretch>
            <a:fillRect/>
          </a:stretch>
        </p:blipFill>
        <p:spPr bwMode="auto">
          <a:xfrm>
            <a:off x="4800600" y="1447800"/>
            <a:ext cx="4162425" cy="962025"/>
          </a:xfrm>
          <a:prstGeom prst="rect">
            <a:avLst/>
          </a:prstGeom>
          <a:noFill/>
          <a:ln w="9525">
            <a:noFill/>
            <a:miter lim="800000"/>
            <a:headEnd/>
            <a:tailEnd/>
          </a:ln>
        </p:spPr>
      </p:pic>
      <p:sp>
        <p:nvSpPr>
          <p:cNvPr id="9" name="Content Placeholder 4"/>
          <p:cNvSpPr>
            <a:spLocks noGrp="1"/>
          </p:cNvSpPr>
          <p:nvPr>
            <p:ph sz="half" idx="1"/>
          </p:nvPr>
        </p:nvSpPr>
        <p:spPr>
          <a:xfrm>
            <a:off x="609600" y="1752600"/>
            <a:ext cx="8229600" cy="4571999"/>
          </a:xfrm>
        </p:spPr>
        <p:txBody>
          <a:bodyPr>
            <a:normAutofit/>
          </a:bodyPr>
          <a:lstStyle/>
          <a:p>
            <a:endParaRPr lang="en-US" dirty="0" smtClean="0"/>
          </a:p>
          <a:p>
            <a:endParaRPr lang="en-US" dirty="0" smtClean="0"/>
          </a:p>
          <a:p>
            <a:pPr>
              <a:buNone/>
            </a:pPr>
            <a:r>
              <a:rPr lang="en-US" b="1" dirty="0" smtClean="0"/>
              <a:t>SELECT</a:t>
            </a:r>
            <a:r>
              <a:rPr lang="en-US" dirty="0" smtClean="0"/>
              <a:t> * </a:t>
            </a:r>
            <a:r>
              <a:rPr lang="en-US" b="1" dirty="0" smtClean="0"/>
              <a:t>FROM</a:t>
            </a:r>
            <a:r>
              <a:rPr lang="en-US" dirty="0" smtClean="0"/>
              <a:t> MemberInfo2010 </a:t>
            </a:r>
            <a:r>
              <a:rPr lang="en-US" b="1" dirty="0" smtClean="0"/>
              <a:t>UNION </a:t>
            </a:r>
          </a:p>
          <a:p>
            <a:pPr>
              <a:buNone/>
            </a:pPr>
            <a:r>
              <a:rPr lang="en-US" b="1" dirty="0" smtClean="0"/>
              <a:t>SELECT</a:t>
            </a:r>
            <a:r>
              <a:rPr lang="en-US" dirty="0" smtClean="0"/>
              <a:t> * </a:t>
            </a:r>
            <a:r>
              <a:rPr lang="en-US" b="1" dirty="0" smtClean="0"/>
              <a:t>FROM</a:t>
            </a:r>
            <a:r>
              <a:rPr lang="en-US" dirty="0" smtClean="0"/>
              <a:t> MemberInfo2011</a:t>
            </a:r>
            <a:br>
              <a:rPr lang="en-US" dirty="0" smtClean="0"/>
            </a:b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Result with </a:t>
            </a:r>
            <a:r>
              <a:rPr lang="en-US" b="1" dirty="0" smtClean="0"/>
              <a:t>UNION ALL</a:t>
            </a:r>
          </a:p>
          <a:p>
            <a:pPr>
              <a:buNone/>
            </a:pPr>
            <a:endParaRPr lang="en-US" dirty="0" smtClean="0"/>
          </a:p>
        </p:txBody>
      </p:sp>
      <p:pic>
        <p:nvPicPr>
          <p:cNvPr id="4103" name="Picture 7"/>
          <p:cNvPicPr>
            <a:picLocks noChangeAspect="1" noChangeArrowheads="1"/>
          </p:cNvPicPr>
          <p:nvPr/>
        </p:nvPicPr>
        <p:blipFill>
          <a:blip r:embed="rId4" cstate="print"/>
          <a:srcRect/>
          <a:stretch>
            <a:fillRect/>
          </a:stretch>
        </p:blipFill>
        <p:spPr bwMode="auto">
          <a:xfrm>
            <a:off x="457200" y="5105400"/>
            <a:ext cx="3352800" cy="1266825"/>
          </a:xfrm>
          <a:prstGeom prst="rect">
            <a:avLst/>
          </a:prstGeom>
          <a:noFill/>
          <a:ln w="9525">
            <a:noFill/>
            <a:miter lim="800000"/>
            <a:headEnd/>
            <a:tailEnd/>
          </a:ln>
        </p:spPr>
      </p:pic>
      <p:pic>
        <p:nvPicPr>
          <p:cNvPr id="11" name="Picture 6"/>
          <p:cNvPicPr>
            <a:picLocks noChangeAspect="1" noChangeArrowheads="1"/>
          </p:cNvPicPr>
          <p:nvPr/>
        </p:nvPicPr>
        <p:blipFill>
          <a:blip r:embed="rId5" cstate="print"/>
          <a:srcRect/>
          <a:stretch>
            <a:fillRect/>
          </a:stretch>
        </p:blipFill>
        <p:spPr bwMode="auto">
          <a:xfrm>
            <a:off x="457200" y="3276600"/>
            <a:ext cx="3352800" cy="1066800"/>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smtClean="0"/>
              <a:t>Complex queries.</a:t>
            </a:r>
            <a:br>
              <a:rPr lang="en-US" b="1" dirty="0" smtClean="0"/>
            </a:br>
            <a:r>
              <a:rPr lang="en-US" b="1" dirty="0" smtClean="0"/>
              <a:t>Subselect inside SELECT</a:t>
            </a:r>
            <a:br>
              <a:rPr lang="en-US" b="1" dirty="0" smtClean="0"/>
            </a:br>
            <a:endParaRPr lang="en-US" b="1" dirty="0"/>
          </a:p>
        </p:txBody>
      </p:sp>
      <p:sp>
        <p:nvSpPr>
          <p:cNvPr id="5" name="Content Placeholder 4"/>
          <p:cNvSpPr>
            <a:spLocks noGrp="1"/>
          </p:cNvSpPr>
          <p:nvPr>
            <p:ph sz="half" idx="1"/>
          </p:nvPr>
        </p:nvSpPr>
        <p:spPr>
          <a:xfrm>
            <a:off x="457200" y="1600200"/>
            <a:ext cx="8229600" cy="4876799"/>
          </a:xfrm>
        </p:spPr>
        <p:txBody>
          <a:bodyPr>
            <a:normAutofit/>
          </a:bodyPr>
          <a:lstStyle/>
          <a:p>
            <a:pPr>
              <a:buNone/>
            </a:pPr>
            <a:endParaRPr lang="en-US" dirty="0" smtClean="0"/>
          </a:p>
          <a:p>
            <a:pPr>
              <a:buNone/>
            </a:pPr>
            <a:endParaRPr lang="en-US" dirty="0" smtClean="0"/>
          </a:p>
          <a:p>
            <a:pPr>
              <a:buNone/>
            </a:pPr>
            <a:endParaRPr lang="en-US" dirty="0" smtClean="0"/>
          </a:p>
          <a:p>
            <a:pPr>
              <a:buNone/>
            </a:pPr>
            <a:endParaRPr lang="en-US" dirty="0" smtClean="0"/>
          </a:p>
          <a:p>
            <a:pPr marL="0">
              <a:buNone/>
            </a:pPr>
            <a:r>
              <a:rPr lang="en-US" b="1" dirty="0" smtClean="0"/>
              <a:t>SELECT</a:t>
            </a:r>
            <a:r>
              <a:rPr lang="en-US" dirty="0" smtClean="0"/>
              <a:t> Category, </a:t>
            </a:r>
          </a:p>
          <a:p>
            <a:pPr marL="0">
              <a:buNone/>
            </a:pPr>
            <a:r>
              <a:rPr lang="en-US" dirty="0" smtClean="0"/>
              <a:t>(</a:t>
            </a:r>
            <a:r>
              <a:rPr lang="en-US" b="1" dirty="0" smtClean="0"/>
              <a:t>SELECT MAX</a:t>
            </a:r>
            <a:r>
              <a:rPr lang="en-US" dirty="0" smtClean="0"/>
              <a:t>(YearReleased) </a:t>
            </a:r>
            <a:r>
              <a:rPr lang="en-US" b="1" dirty="0" smtClean="0"/>
              <a:t>FROM</a:t>
            </a:r>
            <a:r>
              <a:rPr lang="en-US" dirty="0" smtClean="0"/>
              <a:t> Films </a:t>
            </a:r>
            <a:r>
              <a:rPr lang="en-US" b="1" dirty="0" smtClean="0"/>
              <a:t>WHERE</a:t>
            </a:r>
            <a:r>
              <a:rPr lang="en-US" dirty="0" smtClean="0"/>
              <a:t> Films.CategoryID = Category.CategoryID) </a:t>
            </a:r>
          </a:p>
          <a:p>
            <a:pPr marL="0">
              <a:buNone/>
            </a:pPr>
            <a:r>
              <a:rPr lang="en-US" b="1" dirty="0" smtClean="0"/>
              <a:t>AS</a:t>
            </a:r>
            <a:r>
              <a:rPr lang="en-US" dirty="0" smtClean="0"/>
              <a:t> LatestFilm </a:t>
            </a:r>
            <a:r>
              <a:rPr lang="en-US" b="1" dirty="0" smtClean="0"/>
              <a:t>FROM</a:t>
            </a:r>
            <a:r>
              <a:rPr lang="en-US" dirty="0" smtClean="0"/>
              <a:t> Category</a:t>
            </a:r>
          </a:p>
        </p:txBody>
      </p:sp>
      <p:pic>
        <p:nvPicPr>
          <p:cNvPr id="1027" name="Picture 3"/>
          <p:cNvPicPr>
            <a:picLocks noChangeAspect="1" noChangeArrowheads="1"/>
          </p:cNvPicPr>
          <p:nvPr/>
        </p:nvPicPr>
        <p:blipFill>
          <a:blip r:embed="rId2" cstate="print"/>
          <a:srcRect/>
          <a:stretch>
            <a:fillRect/>
          </a:stretch>
        </p:blipFill>
        <p:spPr bwMode="auto">
          <a:xfrm>
            <a:off x="609600" y="4724400"/>
            <a:ext cx="1758043" cy="1295400"/>
          </a:xfrm>
          <a:prstGeom prst="rect">
            <a:avLst/>
          </a:prstGeom>
          <a:noFill/>
          <a:ln w="9525">
            <a:noFill/>
            <a:miter lim="800000"/>
            <a:headEnd/>
            <a:tailEnd/>
          </a:ln>
        </p:spPr>
      </p:pic>
      <p:pic>
        <p:nvPicPr>
          <p:cNvPr id="1029" name="Picture 5"/>
          <p:cNvPicPr>
            <a:picLocks noGrp="1" noChangeAspect="1" noChangeArrowheads="1"/>
          </p:cNvPicPr>
          <p:nvPr>
            <p:ph sz="half" idx="1"/>
          </p:nvPr>
        </p:nvPicPr>
        <p:blipFill>
          <a:blip r:embed="rId3" cstate="print"/>
          <a:srcRect/>
          <a:stretch>
            <a:fillRect/>
          </a:stretch>
        </p:blipFill>
        <p:spPr bwMode="auto">
          <a:xfrm>
            <a:off x="533400" y="1524000"/>
            <a:ext cx="4038600" cy="1507622"/>
          </a:xfrm>
          <a:prstGeom prst="rect">
            <a:avLst/>
          </a:prstGeom>
          <a:noFill/>
          <a:ln w="9525">
            <a:noFill/>
            <a:miter lim="800000"/>
            <a:headEnd/>
            <a:tailEnd/>
          </a:ln>
        </p:spPr>
      </p:pic>
      <p:pic>
        <p:nvPicPr>
          <p:cNvPr id="1030" name="Picture 6"/>
          <p:cNvPicPr>
            <a:picLocks noChangeAspect="1" noChangeArrowheads="1"/>
          </p:cNvPicPr>
          <p:nvPr/>
        </p:nvPicPr>
        <p:blipFill>
          <a:blip r:embed="rId4" cstate="print"/>
          <a:srcRect/>
          <a:stretch>
            <a:fillRect/>
          </a:stretch>
        </p:blipFill>
        <p:spPr bwMode="auto">
          <a:xfrm>
            <a:off x="4953000" y="1507080"/>
            <a:ext cx="2286000" cy="1371600"/>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smtClean="0"/>
              <a:t>Complex queries.</a:t>
            </a:r>
            <a:br>
              <a:rPr lang="en-US" b="1" dirty="0" smtClean="0"/>
            </a:br>
            <a:r>
              <a:rPr lang="en-US" b="1" dirty="0" smtClean="0"/>
              <a:t>Subselect inside WHERE</a:t>
            </a:r>
            <a:r>
              <a:rPr lang="en-US" dirty="0" smtClean="0"/>
              <a:t/>
            </a:r>
            <a:br>
              <a:rPr lang="en-US" dirty="0" smtClean="0"/>
            </a:br>
            <a:endParaRPr lang="en-US" dirty="0"/>
          </a:p>
        </p:txBody>
      </p:sp>
      <p:sp>
        <p:nvSpPr>
          <p:cNvPr id="5" name="Content Placeholder 4"/>
          <p:cNvSpPr>
            <a:spLocks noGrp="1"/>
          </p:cNvSpPr>
          <p:nvPr>
            <p:ph sz="half" idx="1"/>
          </p:nvPr>
        </p:nvSpPr>
        <p:spPr>
          <a:xfrm>
            <a:off x="457200" y="1600200"/>
            <a:ext cx="8229600" cy="4876799"/>
          </a:xfrm>
        </p:spPr>
        <p:txBody>
          <a:bodyPr>
            <a:normAutofit/>
          </a:bodyPr>
          <a:lstStyle/>
          <a:p>
            <a:pPr>
              <a:buNone/>
            </a:pPr>
            <a:endParaRPr lang="en-US" dirty="0" smtClean="0"/>
          </a:p>
          <a:p>
            <a:pPr>
              <a:buNone/>
            </a:pPr>
            <a:endParaRPr lang="en-US" dirty="0" smtClean="0"/>
          </a:p>
          <a:p>
            <a:pPr>
              <a:buNone/>
            </a:pPr>
            <a:endParaRPr lang="en-US" dirty="0" smtClean="0"/>
          </a:p>
          <a:p>
            <a:pPr>
              <a:buNone/>
            </a:pPr>
            <a:endParaRPr lang="en-US" dirty="0" smtClean="0"/>
          </a:p>
          <a:p>
            <a:pPr marL="0">
              <a:buNone/>
            </a:pPr>
            <a:r>
              <a:rPr lang="en-US" b="1" dirty="0" smtClean="0"/>
              <a:t>SELECT</a:t>
            </a:r>
            <a:r>
              <a:rPr lang="en-US" dirty="0" smtClean="0"/>
              <a:t> Category, FilmName, YearReleased </a:t>
            </a:r>
          </a:p>
          <a:p>
            <a:pPr marL="0">
              <a:buNone/>
            </a:pPr>
            <a:r>
              <a:rPr lang="en-US" b="1" dirty="0" smtClean="0"/>
              <a:t>  FROM</a:t>
            </a:r>
            <a:r>
              <a:rPr lang="en-US" dirty="0" smtClean="0"/>
              <a:t> Category </a:t>
            </a:r>
            <a:r>
              <a:rPr lang="en-US" b="1" dirty="0" smtClean="0"/>
              <a:t>INNER JOIN</a:t>
            </a:r>
            <a:r>
              <a:rPr lang="en-US" dirty="0" smtClean="0"/>
              <a:t> Films </a:t>
            </a:r>
          </a:p>
          <a:p>
            <a:pPr marL="0">
              <a:buNone/>
            </a:pPr>
            <a:r>
              <a:rPr lang="en-US" b="1" dirty="0" smtClean="0"/>
              <a:t>    ON</a:t>
            </a:r>
            <a:r>
              <a:rPr lang="en-US" dirty="0" smtClean="0"/>
              <a:t> Category.CategoryID = Films.CategoryID </a:t>
            </a:r>
          </a:p>
          <a:p>
            <a:pPr marL="0">
              <a:buNone/>
            </a:pPr>
            <a:r>
              <a:rPr lang="en-US" b="1" dirty="0" smtClean="0"/>
              <a:t>WHERE</a:t>
            </a:r>
            <a:r>
              <a:rPr lang="en-US" dirty="0" smtClean="0"/>
              <a:t> Films.YearReleased = </a:t>
            </a:r>
          </a:p>
          <a:p>
            <a:pPr marL="0">
              <a:buNone/>
            </a:pPr>
            <a:r>
              <a:rPr lang="en-US" dirty="0" smtClean="0"/>
              <a:t>  (</a:t>
            </a:r>
            <a:r>
              <a:rPr lang="en-US" b="1" dirty="0" smtClean="0"/>
              <a:t>SELECT MIN</a:t>
            </a:r>
            <a:r>
              <a:rPr lang="en-US" dirty="0" smtClean="0"/>
              <a:t>(YearReleased) </a:t>
            </a:r>
            <a:r>
              <a:rPr lang="en-US" b="1" dirty="0" smtClean="0"/>
              <a:t>FROM</a:t>
            </a:r>
            <a:r>
              <a:rPr lang="en-US" dirty="0" smtClean="0"/>
              <a:t> Films </a:t>
            </a:r>
          </a:p>
          <a:p>
            <a:pPr marL="0">
              <a:buNone/>
            </a:pPr>
            <a:r>
              <a:rPr lang="en-US" b="1" dirty="0" smtClean="0"/>
              <a:t>    WHERE</a:t>
            </a:r>
            <a:r>
              <a:rPr lang="en-US" dirty="0" smtClean="0"/>
              <a:t> Films.CategoryID = Category.CategoryID)</a:t>
            </a:r>
          </a:p>
        </p:txBody>
      </p:sp>
      <p:pic>
        <p:nvPicPr>
          <p:cNvPr id="1029" name="Picture 5"/>
          <p:cNvPicPr>
            <a:picLocks noGrp="1" noChangeAspect="1" noChangeArrowheads="1"/>
          </p:cNvPicPr>
          <p:nvPr>
            <p:ph sz="half" idx="1"/>
          </p:nvPr>
        </p:nvPicPr>
        <p:blipFill>
          <a:blip r:embed="rId2" cstate="print"/>
          <a:srcRect/>
          <a:stretch>
            <a:fillRect/>
          </a:stretch>
        </p:blipFill>
        <p:spPr bwMode="auto">
          <a:xfrm>
            <a:off x="457200" y="1447800"/>
            <a:ext cx="4038600" cy="1507622"/>
          </a:xfrm>
          <a:prstGeom prst="rect">
            <a:avLst/>
          </a:prstGeom>
          <a:noFill/>
          <a:ln w="9525">
            <a:noFill/>
            <a:miter lim="800000"/>
            <a:headEnd/>
            <a:tailEnd/>
          </a:ln>
        </p:spPr>
      </p:pic>
      <p:pic>
        <p:nvPicPr>
          <p:cNvPr id="1030" name="Picture 6"/>
          <p:cNvPicPr>
            <a:picLocks noChangeAspect="1" noChangeArrowheads="1"/>
          </p:cNvPicPr>
          <p:nvPr/>
        </p:nvPicPr>
        <p:blipFill>
          <a:blip r:embed="rId3" cstate="print"/>
          <a:srcRect/>
          <a:stretch>
            <a:fillRect/>
          </a:stretch>
        </p:blipFill>
        <p:spPr bwMode="auto">
          <a:xfrm>
            <a:off x="4876800" y="1430880"/>
            <a:ext cx="2286000" cy="1371600"/>
          </a:xfrm>
          <a:prstGeom prst="rect">
            <a:avLst/>
          </a:prstGeom>
          <a:noFill/>
          <a:ln w="9525">
            <a:noFill/>
            <a:miter lim="800000"/>
            <a:headEnd/>
            <a:tailEnd/>
          </a:ln>
        </p:spPr>
      </p:pic>
      <p:pic>
        <p:nvPicPr>
          <p:cNvPr id="7" name="Picture 2"/>
          <p:cNvPicPr>
            <a:picLocks noChangeAspect="1" noChangeArrowheads="1"/>
          </p:cNvPicPr>
          <p:nvPr/>
        </p:nvPicPr>
        <p:blipFill>
          <a:blip r:embed="rId4" cstate="print"/>
          <a:srcRect/>
          <a:stretch>
            <a:fillRect/>
          </a:stretch>
        </p:blipFill>
        <p:spPr bwMode="auto">
          <a:xfrm>
            <a:off x="533400" y="5410200"/>
            <a:ext cx="3343883" cy="1143000"/>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t>Complex queries. How to create.</a:t>
            </a:r>
            <a:r>
              <a:rPr lang="en-US" dirty="0" smtClean="0"/>
              <a:t/>
            </a:r>
            <a:br>
              <a:rPr lang="en-US" dirty="0" smtClean="0"/>
            </a:br>
            <a:endParaRPr lang="en-US" dirty="0"/>
          </a:p>
        </p:txBody>
      </p:sp>
      <p:sp>
        <p:nvSpPr>
          <p:cNvPr id="5" name="Content Placeholder 4"/>
          <p:cNvSpPr>
            <a:spLocks noGrp="1"/>
          </p:cNvSpPr>
          <p:nvPr>
            <p:ph sz="half" idx="1"/>
          </p:nvPr>
        </p:nvSpPr>
        <p:spPr>
          <a:xfrm>
            <a:off x="457200" y="1600201"/>
            <a:ext cx="8229600" cy="3581400"/>
          </a:xfrm>
        </p:spPr>
        <p:txBody>
          <a:bodyPr>
            <a:normAutofit/>
          </a:bodyPr>
          <a:lstStyle/>
          <a:p>
            <a:pPr marL="457200" indent="-457200">
              <a:buAutoNum type="arabicPeriod"/>
            </a:pPr>
            <a:r>
              <a:rPr lang="en-US" dirty="0" smtClean="0"/>
              <a:t>Decide what do you want to get (make sense to write part of data in piece of paper).</a:t>
            </a:r>
          </a:p>
          <a:p>
            <a:pPr marL="457200" indent="-457200">
              <a:buAutoNum type="arabicPeriod"/>
            </a:pPr>
            <a:r>
              <a:rPr lang="en-US" dirty="0" smtClean="0"/>
              <a:t>Create SELECT and point necessary columns.</a:t>
            </a:r>
          </a:p>
          <a:p>
            <a:pPr marL="457200" indent="-457200">
              <a:buAutoNum type="arabicPeriod"/>
            </a:pPr>
            <a:r>
              <a:rPr lang="en-US" dirty="0" smtClean="0"/>
              <a:t>Decide what tables you need to get data from, and create necessary FROM for SELECT.</a:t>
            </a:r>
          </a:p>
          <a:p>
            <a:pPr marL="457200" indent="-457200">
              <a:buAutoNum type="arabicPeriod"/>
            </a:pPr>
            <a:r>
              <a:rPr lang="en-US" dirty="0" smtClean="0"/>
              <a:t>Update FROM step-by-step. Start from simple requests and make sure that queries are correct and provide expected results.</a:t>
            </a:r>
          </a:p>
          <a:p>
            <a:pPr marL="457200" indent="-457200">
              <a:buAutoNum type="arabicPeriod"/>
            </a:pPr>
            <a:r>
              <a:rPr lang="en-US" dirty="0" smtClean="0"/>
              <a:t>Elements of requests that doesn’t have influence to final result  (e.g. ORDER BY) put in the final step.</a:t>
            </a:r>
          </a:p>
          <a:p>
            <a:pPr>
              <a:buNone/>
            </a:pPr>
            <a:endParaRPr lang="en-US" dirty="0" smtClean="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Indexes</a:t>
            </a:r>
            <a:endParaRPr lang="en-US" dirty="0"/>
          </a:p>
        </p:txBody>
      </p:sp>
      <p:sp>
        <p:nvSpPr>
          <p:cNvPr id="5" name="Content Placeholder 4"/>
          <p:cNvSpPr>
            <a:spLocks noGrp="1"/>
          </p:cNvSpPr>
          <p:nvPr>
            <p:ph sz="half" idx="1"/>
          </p:nvPr>
        </p:nvSpPr>
        <p:spPr>
          <a:xfrm>
            <a:off x="457200" y="1600200"/>
            <a:ext cx="8229600" cy="4876799"/>
          </a:xfrm>
        </p:spPr>
        <p:txBody>
          <a:bodyPr>
            <a:normAutofit/>
          </a:bodyPr>
          <a:lstStyle/>
          <a:p>
            <a:pPr marL="0">
              <a:buNone/>
            </a:pPr>
            <a:r>
              <a:rPr lang="en-US" dirty="0" smtClean="0"/>
              <a:t>A </a:t>
            </a:r>
            <a:r>
              <a:rPr lang="en-US" b="1" dirty="0" smtClean="0"/>
              <a:t>database index</a:t>
            </a:r>
            <a:r>
              <a:rPr lang="en-US" dirty="0" smtClean="0"/>
              <a:t> is a data structure that improves the speed of data retrieval operations on a database table at the cost of slower writes and increased storage space. Indexes can be created using one or more columns of a database table.</a:t>
            </a:r>
          </a:p>
          <a:p>
            <a:pPr>
              <a:buNone/>
            </a:pPr>
            <a:endParaRPr lang="en-US" dirty="0" smtClean="0"/>
          </a:p>
          <a:p>
            <a:pPr>
              <a:buNone/>
            </a:pPr>
            <a:r>
              <a:rPr lang="en-US" dirty="0" smtClean="0"/>
              <a:t>Index architectures:</a:t>
            </a:r>
          </a:p>
          <a:p>
            <a:r>
              <a:rPr lang="en-US" dirty="0" smtClean="0"/>
              <a:t>Non-clustered</a:t>
            </a:r>
          </a:p>
          <a:p>
            <a:r>
              <a:rPr lang="en-US" dirty="0" smtClean="0"/>
              <a:t>Clustered</a:t>
            </a:r>
          </a:p>
          <a:p>
            <a:endParaRPr lang="en-US" dirty="0" smtClean="0"/>
          </a:p>
          <a:p>
            <a:pPr>
              <a:buNone/>
            </a:pPr>
            <a:r>
              <a:rPr lang="en-US" dirty="0" smtClean="0">
                <a:hlinkClick r:id="rId2"/>
              </a:rPr>
              <a:t>http://en.wikipedia.org/wiki/Index_%28database%29</a:t>
            </a:r>
            <a:endParaRPr lang="en-US" dirty="0" smtClean="0"/>
          </a:p>
          <a:p>
            <a:endParaRPr lang="en-US" dirty="0" smtClean="0"/>
          </a:p>
          <a:p>
            <a:endParaRPr lang="en-US" dirty="0" smtClean="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Views</a:t>
            </a:r>
            <a:endParaRPr lang="en-US" dirty="0"/>
          </a:p>
        </p:txBody>
      </p:sp>
      <p:sp>
        <p:nvSpPr>
          <p:cNvPr id="5" name="Content Placeholder 4"/>
          <p:cNvSpPr>
            <a:spLocks noGrp="1"/>
          </p:cNvSpPr>
          <p:nvPr>
            <p:ph sz="half" idx="1"/>
          </p:nvPr>
        </p:nvSpPr>
        <p:spPr>
          <a:xfrm>
            <a:off x="457200" y="1600200"/>
            <a:ext cx="8229600" cy="4876799"/>
          </a:xfrm>
        </p:spPr>
        <p:txBody>
          <a:bodyPr>
            <a:normAutofit/>
          </a:bodyPr>
          <a:lstStyle/>
          <a:p>
            <a:pPr marL="0">
              <a:buNone/>
            </a:pPr>
            <a:r>
              <a:rPr lang="en-US" b="1" dirty="0" smtClean="0"/>
              <a:t>View</a:t>
            </a:r>
            <a:r>
              <a:rPr lang="en-US" dirty="0" smtClean="0"/>
              <a:t> consists of a stored query accessible as a virtual table composed of the result set of a query. A view does not form part of the physical schema: it is a dynamic, virtual table computed or collated from data in the database.</a:t>
            </a:r>
          </a:p>
          <a:p>
            <a:pPr>
              <a:buNone/>
            </a:pPr>
            <a:endParaRPr lang="en-US" dirty="0" smtClean="0"/>
          </a:p>
          <a:p>
            <a:pPr>
              <a:buNone/>
            </a:pPr>
            <a:r>
              <a:rPr lang="en-US" b="1" dirty="0" smtClean="0"/>
              <a:t>CREATE VIEW </a:t>
            </a:r>
            <a:r>
              <a:rPr lang="en-US" dirty="0" smtClean="0"/>
              <a:t>&lt;view name&gt; </a:t>
            </a:r>
            <a:r>
              <a:rPr lang="en-US" b="1" dirty="0" smtClean="0"/>
              <a:t>AS</a:t>
            </a:r>
            <a:r>
              <a:rPr lang="en-US" dirty="0" smtClean="0"/>
              <a:t> &lt;query&gt;</a:t>
            </a:r>
          </a:p>
          <a:p>
            <a:pPr>
              <a:buNone/>
            </a:pPr>
            <a:endParaRPr lang="en-US" dirty="0" smtClean="0"/>
          </a:p>
          <a:p>
            <a:pPr marL="0">
              <a:buNone/>
            </a:pPr>
            <a:r>
              <a:rPr lang="en-US" dirty="0" smtClean="0"/>
              <a:t>Database practitioners can define views as read-only or updatable.</a:t>
            </a:r>
          </a:p>
          <a:p>
            <a:pPr>
              <a:buNone/>
            </a:pPr>
            <a:endParaRPr lang="en-US" dirty="0" smtClean="0"/>
          </a:p>
          <a:p>
            <a:pPr>
              <a:buNone/>
            </a:pPr>
            <a:endParaRPr lang="en-US" dirty="0" smtClean="0"/>
          </a:p>
          <a:p>
            <a:pPr>
              <a:buNone/>
            </a:pPr>
            <a:r>
              <a:rPr lang="en-US" dirty="0" smtClean="0">
                <a:hlinkClick r:id="rId2"/>
              </a:rPr>
              <a:t>http://en.wikipedia.org/wiki/View_%28database%29</a:t>
            </a:r>
            <a:endParaRPr lang="en-US" dirty="0" smtClean="0"/>
          </a:p>
          <a:p>
            <a:pPr>
              <a:buNone/>
            </a:pPr>
            <a:r>
              <a:rPr lang="en-US" dirty="0" smtClean="0">
                <a:hlinkClick r:id="rId3"/>
              </a:rPr>
              <a:t>http://www.sql.ru/docs/sql/u_sql/ch20.shtml</a:t>
            </a:r>
            <a:endParaRPr lang="en-US" dirty="0" smtClean="0"/>
          </a:p>
        </p:txBody>
      </p:sp>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t>Views example</a:t>
            </a:r>
            <a:endParaRPr lang="en-US" dirty="0"/>
          </a:p>
        </p:txBody>
      </p:sp>
      <p:sp>
        <p:nvSpPr>
          <p:cNvPr id="5" name="Content Placeholder 4"/>
          <p:cNvSpPr>
            <a:spLocks noGrp="1"/>
          </p:cNvSpPr>
          <p:nvPr>
            <p:ph sz="half" idx="1"/>
          </p:nvPr>
        </p:nvSpPr>
        <p:spPr>
          <a:xfrm>
            <a:off x="457200" y="1600200"/>
            <a:ext cx="8229600" cy="4571999"/>
          </a:xfrm>
        </p:spPr>
        <p:txBody>
          <a:bodyPr>
            <a:normAutofit/>
          </a:bodyPr>
          <a:lstStyle/>
          <a:p>
            <a:pPr>
              <a:buNone/>
            </a:pPr>
            <a:endParaRPr lang="en-US" dirty="0" smtClean="0"/>
          </a:p>
          <a:p>
            <a:pPr>
              <a:buNone/>
            </a:pPr>
            <a:endParaRPr lang="en-US" dirty="0" smtClean="0"/>
          </a:p>
          <a:p>
            <a:pPr>
              <a:buNone/>
            </a:pPr>
            <a:endParaRPr lang="en-US" dirty="0" smtClean="0"/>
          </a:p>
          <a:p>
            <a:pPr>
              <a:buNone/>
            </a:pPr>
            <a:endParaRPr lang="en-US" dirty="0" smtClean="0"/>
          </a:p>
        </p:txBody>
      </p:sp>
      <p:pic>
        <p:nvPicPr>
          <p:cNvPr id="4099" name="Picture 3"/>
          <p:cNvPicPr>
            <a:picLocks noChangeAspect="1" noChangeArrowheads="1"/>
          </p:cNvPicPr>
          <p:nvPr/>
        </p:nvPicPr>
        <p:blipFill>
          <a:blip r:embed="rId2" cstate="print"/>
          <a:srcRect/>
          <a:stretch>
            <a:fillRect/>
          </a:stretch>
        </p:blipFill>
        <p:spPr bwMode="auto">
          <a:xfrm>
            <a:off x="457200" y="1447800"/>
            <a:ext cx="4171950" cy="952500"/>
          </a:xfrm>
          <a:prstGeom prst="rect">
            <a:avLst/>
          </a:prstGeom>
          <a:noFill/>
          <a:ln w="9525">
            <a:noFill/>
            <a:miter lim="800000"/>
            <a:headEnd/>
            <a:tailEnd/>
          </a:ln>
        </p:spPr>
      </p:pic>
      <p:pic>
        <p:nvPicPr>
          <p:cNvPr id="4101" name="Picture 5"/>
          <p:cNvPicPr>
            <a:picLocks noChangeAspect="1" noChangeArrowheads="1"/>
          </p:cNvPicPr>
          <p:nvPr/>
        </p:nvPicPr>
        <p:blipFill>
          <a:blip r:embed="rId3" cstate="print"/>
          <a:srcRect/>
          <a:stretch>
            <a:fillRect/>
          </a:stretch>
        </p:blipFill>
        <p:spPr bwMode="auto">
          <a:xfrm>
            <a:off x="4800600" y="1447800"/>
            <a:ext cx="4162425" cy="962025"/>
          </a:xfrm>
          <a:prstGeom prst="rect">
            <a:avLst/>
          </a:prstGeom>
          <a:noFill/>
          <a:ln w="9525">
            <a:noFill/>
            <a:miter lim="800000"/>
            <a:headEnd/>
            <a:tailEnd/>
          </a:ln>
        </p:spPr>
      </p:pic>
      <p:sp>
        <p:nvSpPr>
          <p:cNvPr id="9" name="Content Placeholder 4"/>
          <p:cNvSpPr>
            <a:spLocks noGrp="1"/>
          </p:cNvSpPr>
          <p:nvPr>
            <p:ph sz="half" idx="1"/>
          </p:nvPr>
        </p:nvSpPr>
        <p:spPr>
          <a:xfrm>
            <a:off x="609600" y="1752600"/>
            <a:ext cx="8229600" cy="4571999"/>
          </a:xfrm>
        </p:spPr>
        <p:txBody>
          <a:bodyPr>
            <a:normAutofit/>
          </a:bodyPr>
          <a:lstStyle/>
          <a:p>
            <a:endParaRPr lang="en-US" dirty="0" smtClean="0"/>
          </a:p>
          <a:p>
            <a:endParaRPr lang="en-US" dirty="0" smtClean="0"/>
          </a:p>
          <a:p>
            <a:pPr>
              <a:buNone/>
            </a:pPr>
            <a:r>
              <a:rPr lang="en-US" b="1" dirty="0" smtClean="0"/>
              <a:t>CREATE VIEW</a:t>
            </a:r>
            <a:r>
              <a:rPr lang="en-US" dirty="0" smtClean="0"/>
              <a:t> MemberInfoAll </a:t>
            </a:r>
            <a:r>
              <a:rPr lang="en-US" b="1" dirty="0" smtClean="0"/>
              <a:t>AS</a:t>
            </a:r>
          </a:p>
          <a:p>
            <a:pPr>
              <a:buNone/>
            </a:pPr>
            <a:r>
              <a:rPr lang="en-US" b="1" dirty="0" smtClean="0"/>
              <a:t>SELECT</a:t>
            </a:r>
            <a:r>
              <a:rPr lang="en-US" dirty="0" smtClean="0"/>
              <a:t> * </a:t>
            </a:r>
            <a:r>
              <a:rPr lang="en-US" b="1" dirty="0" smtClean="0"/>
              <a:t>FROM</a:t>
            </a:r>
            <a:r>
              <a:rPr lang="en-US" dirty="0" smtClean="0"/>
              <a:t> MemberInfo2010 </a:t>
            </a:r>
            <a:r>
              <a:rPr lang="en-US" b="1" dirty="0" smtClean="0"/>
              <a:t>UNION ALL </a:t>
            </a:r>
          </a:p>
          <a:p>
            <a:pPr>
              <a:buNone/>
            </a:pPr>
            <a:r>
              <a:rPr lang="en-US" b="1" dirty="0" smtClean="0"/>
              <a:t>SELECT</a:t>
            </a:r>
            <a:r>
              <a:rPr lang="en-US" dirty="0" smtClean="0"/>
              <a:t> * </a:t>
            </a:r>
            <a:r>
              <a:rPr lang="en-US" b="1" dirty="0" smtClean="0"/>
              <a:t>FROM</a:t>
            </a:r>
            <a:r>
              <a:rPr lang="en-US" dirty="0" smtClean="0"/>
              <a:t> MemberInfo2011</a:t>
            </a:r>
          </a:p>
          <a:p>
            <a:pPr>
              <a:buNone/>
            </a:pPr>
            <a:endParaRPr lang="en-US" dirty="0" smtClean="0"/>
          </a:p>
          <a:p>
            <a:pPr>
              <a:buNone/>
            </a:pPr>
            <a:r>
              <a:rPr lang="en-US" b="1" dirty="0" smtClean="0"/>
              <a:t>SELECT</a:t>
            </a:r>
            <a:r>
              <a:rPr lang="en-US" dirty="0" smtClean="0"/>
              <a:t> * </a:t>
            </a:r>
            <a:r>
              <a:rPr lang="en-US" b="1" dirty="0" smtClean="0"/>
              <a:t>FROM</a:t>
            </a:r>
            <a:r>
              <a:rPr lang="en-US" dirty="0" smtClean="0"/>
              <a:t> MemberInfoAll</a:t>
            </a:r>
            <a:br>
              <a:rPr lang="en-US" dirty="0" smtClean="0"/>
            </a:br>
            <a:endParaRPr lang="en-US" dirty="0" smtClean="0"/>
          </a:p>
          <a:p>
            <a:pPr>
              <a:buNone/>
            </a:pPr>
            <a:endParaRPr lang="en-US" dirty="0" smtClean="0"/>
          </a:p>
          <a:p>
            <a:pPr>
              <a:buNone/>
            </a:pPr>
            <a:endParaRPr lang="en-US" dirty="0" smtClean="0"/>
          </a:p>
          <a:p>
            <a:pPr>
              <a:buNone/>
            </a:pPr>
            <a:r>
              <a:rPr lang="en-US" dirty="0" smtClean="0"/>
              <a:t>Result with </a:t>
            </a:r>
            <a:r>
              <a:rPr lang="en-US" b="1" dirty="0" smtClean="0"/>
              <a:t>UNION ALL</a:t>
            </a:r>
          </a:p>
          <a:p>
            <a:pPr>
              <a:buNone/>
            </a:pPr>
            <a:endParaRPr lang="en-US" dirty="0" smtClean="0"/>
          </a:p>
        </p:txBody>
      </p:sp>
      <p:pic>
        <p:nvPicPr>
          <p:cNvPr id="4103" name="Picture 7"/>
          <p:cNvPicPr>
            <a:picLocks noChangeAspect="1" noChangeArrowheads="1"/>
          </p:cNvPicPr>
          <p:nvPr/>
        </p:nvPicPr>
        <p:blipFill>
          <a:blip r:embed="rId4" cstate="print"/>
          <a:srcRect/>
          <a:stretch>
            <a:fillRect/>
          </a:stretch>
        </p:blipFill>
        <p:spPr bwMode="auto">
          <a:xfrm>
            <a:off x="457200" y="4648200"/>
            <a:ext cx="3352800" cy="1266825"/>
          </a:xfrm>
          <a:prstGeom prst="rect">
            <a:avLst/>
          </a:prstGeom>
          <a:noFill/>
          <a:ln w="9525">
            <a:noFill/>
            <a:miter lim="800000"/>
            <a:headEnd/>
            <a:tailEnd/>
          </a:ln>
        </p:spPr>
      </p:pic>
    </p:spTree>
    <p:extLst>
      <p:ext uri="{BB962C8B-B14F-4D97-AF65-F5344CB8AC3E}">
        <p14:creationId xmlns="" xmlns:p14="http://schemas.microsoft.com/office/powerpoint/2010/main" val="3735424505"/>
      </p:ext>
    </p:extLst>
  </p:cSld>
  <p:clrMapOvr>
    <a:masterClrMapping/>
  </p:clrMapOvr>
  <p:transition spd="slow">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4"/>
          <p:cNvSpPr txBox="1">
            <a:spLocks noChangeArrowheads="1"/>
          </p:cNvSpPr>
          <p:nvPr/>
        </p:nvSpPr>
        <p:spPr bwMode="auto">
          <a:xfrm>
            <a:off x="638081" y="5181600"/>
            <a:ext cx="3095719" cy="707886"/>
          </a:xfrm>
          <a:prstGeom prst="rect">
            <a:avLst/>
          </a:prstGeom>
          <a:noFill/>
          <a:ln w="12700">
            <a:noFill/>
            <a:miter lim="800000"/>
            <a:headEnd/>
            <a:tailEnd/>
          </a:ln>
        </p:spPr>
        <p:txBody>
          <a:bodyPr wrap="none">
            <a:spAutoFit/>
          </a:bodyPr>
          <a:lstStyle/>
          <a:p>
            <a:pPr eaLnBrk="0" hangingPunct="0"/>
            <a:r>
              <a:rPr lang="en-US" sz="4000" dirty="0">
                <a:solidFill>
                  <a:schemeClr val="tx1">
                    <a:lumMod val="50000"/>
                    <a:lumOff val="50000"/>
                  </a:schemeClr>
                </a:solidFill>
                <a:latin typeface="Verdana" pitchFamily="34" charset="0"/>
              </a:rPr>
              <a:t>Thank You!</a:t>
            </a:r>
          </a:p>
        </p:txBody>
      </p:sp>
      <p:sp>
        <p:nvSpPr>
          <p:cNvPr id="31748" name="Rectangle 8"/>
          <p:cNvSpPr>
            <a:spLocks noChangeArrowheads="1"/>
          </p:cNvSpPr>
          <p:nvPr/>
        </p:nvSpPr>
        <p:spPr bwMode="auto">
          <a:xfrm>
            <a:off x="333375" y="957263"/>
            <a:ext cx="6553200" cy="533400"/>
          </a:xfrm>
          <a:prstGeom prst="rect">
            <a:avLst/>
          </a:prstGeom>
          <a:noFill/>
          <a:ln w="9525">
            <a:noFill/>
            <a:miter lim="800000"/>
            <a:headEnd/>
            <a:tailEnd/>
          </a:ln>
        </p:spPr>
        <p:txBody>
          <a:bodyPr/>
          <a:lstStyle/>
          <a:p>
            <a:pPr marL="342900" indent="-342900"/>
            <a:endParaRPr lang="en-GB" sz="2600" b="1" dirty="0">
              <a:solidFill>
                <a:srgbClr val="5F5F5F"/>
              </a:solidFill>
              <a:latin typeface="Verdana" pitchFamily="34" charset="0"/>
            </a:endParaRPr>
          </a:p>
        </p:txBody>
      </p:sp>
      <p:sp>
        <p:nvSpPr>
          <p:cNvPr id="31749" name="Rectangle 9"/>
          <p:cNvSpPr>
            <a:spLocks noChangeArrowheads="1"/>
          </p:cNvSpPr>
          <p:nvPr/>
        </p:nvSpPr>
        <p:spPr bwMode="auto">
          <a:xfrm>
            <a:off x="609600" y="6429375"/>
            <a:ext cx="3138487" cy="352425"/>
          </a:xfrm>
          <a:prstGeom prst="rect">
            <a:avLst/>
          </a:prstGeom>
          <a:noFill/>
          <a:ln w="9525">
            <a:noFill/>
            <a:miter lim="800000"/>
            <a:headEnd/>
            <a:tailEnd/>
          </a:ln>
        </p:spPr>
        <p:txBody>
          <a:bodyPr anchor="b"/>
          <a:lstStyle/>
          <a:p>
            <a:r>
              <a:rPr lang="en-US" sz="800" dirty="0">
                <a:solidFill>
                  <a:schemeClr val="tx1">
                    <a:lumMod val="65000"/>
                    <a:lumOff val="35000"/>
                  </a:schemeClr>
                </a:solidFill>
                <a:latin typeface="Verdana" pitchFamily="34" charset="0"/>
              </a:rPr>
              <a:t>Copyright </a:t>
            </a:r>
            <a:r>
              <a:rPr lang="en-US" sz="800" dirty="0">
                <a:solidFill>
                  <a:schemeClr val="tx1">
                    <a:lumMod val="65000"/>
                    <a:lumOff val="35000"/>
                  </a:schemeClr>
                </a:solidFill>
                <a:latin typeface="Verdana" pitchFamily="34" charset="0"/>
                <a:cs typeface="Times New Roman" pitchFamily="18" charset="0"/>
              </a:rPr>
              <a:t>©</a:t>
            </a:r>
            <a:r>
              <a:rPr lang="en-US" sz="800" dirty="0">
                <a:solidFill>
                  <a:schemeClr val="tx1">
                    <a:lumMod val="65000"/>
                    <a:lumOff val="35000"/>
                  </a:schemeClr>
                </a:solidFill>
                <a:latin typeface="Verdana" pitchFamily="34" charset="0"/>
              </a:rPr>
              <a:t> </a:t>
            </a:r>
            <a:r>
              <a:rPr lang="en-US" sz="800" dirty="0" smtClean="0">
                <a:solidFill>
                  <a:schemeClr val="tx1">
                    <a:lumMod val="65000"/>
                    <a:lumOff val="35000"/>
                  </a:schemeClr>
                </a:solidFill>
                <a:latin typeface="Verdana" pitchFamily="34" charset="0"/>
              </a:rPr>
              <a:t>2010 </a:t>
            </a:r>
            <a:r>
              <a:rPr lang="en-US" sz="800" dirty="0">
                <a:solidFill>
                  <a:schemeClr val="tx1">
                    <a:lumMod val="65000"/>
                    <a:lumOff val="35000"/>
                  </a:schemeClr>
                </a:solidFill>
                <a:latin typeface="Verdana" pitchFamily="34" charset="0"/>
              </a:rPr>
              <a:t>SoftServe, Inc.</a:t>
            </a:r>
          </a:p>
        </p:txBody>
      </p:sp>
      <p:sp>
        <p:nvSpPr>
          <p:cNvPr id="31750" name="Rectangle 10"/>
          <p:cNvSpPr>
            <a:spLocks noGrp="1" noChangeArrowheads="1"/>
          </p:cNvSpPr>
          <p:nvPr>
            <p:ph type="title"/>
          </p:nvPr>
        </p:nvSpPr>
        <p:spPr/>
        <p:txBody>
          <a:bodyPr>
            <a:normAutofit/>
          </a:bodyPr>
          <a:lstStyle/>
          <a:p>
            <a:r>
              <a:rPr lang="en-US" dirty="0" smtClean="0"/>
              <a:t>Contacts</a:t>
            </a:r>
          </a:p>
        </p:txBody>
      </p:sp>
      <p:sp>
        <p:nvSpPr>
          <p:cNvPr id="2" name="Text Box 5"/>
          <p:cNvSpPr txBox="1">
            <a:spLocks noChangeArrowheads="1"/>
          </p:cNvSpPr>
          <p:nvPr/>
        </p:nvSpPr>
        <p:spPr bwMode="auto">
          <a:xfrm>
            <a:off x="868363" y="2057400"/>
            <a:ext cx="2897460" cy="2040559"/>
          </a:xfrm>
          <a:prstGeom prst="rect">
            <a:avLst/>
          </a:prstGeom>
          <a:noFill/>
          <a:ln w="9525">
            <a:noFill/>
            <a:miter lim="800000"/>
            <a:headEnd/>
            <a:tailEnd/>
          </a:ln>
        </p:spPr>
        <p:txBody>
          <a:bodyPr wrap="none">
            <a:spAutoFit/>
          </a:bodyPr>
          <a:lstStyle/>
          <a:p>
            <a:pPr>
              <a:spcBef>
                <a:spcPts val="0"/>
              </a:spcBef>
              <a:spcAft>
                <a:spcPts val="600"/>
              </a:spcAft>
              <a:defRPr/>
            </a:pPr>
            <a:r>
              <a:rPr lang="en-US" sz="1600" b="1" dirty="0">
                <a:solidFill>
                  <a:schemeClr val="accent6"/>
                </a:solidFill>
                <a:latin typeface="Verdana" pitchFamily="34" charset="0"/>
              </a:rPr>
              <a:t>Europe Headquarters</a:t>
            </a:r>
            <a:r>
              <a:rPr lang="en-GB" sz="1600" b="1" dirty="0">
                <a:solidFill>
                  <a:schemeClr val="accent6"/>
                </a:solidFill>
                <a:latin typeface="Verdana" pitchFamily="34" charset="0"/>
              </a:rPr>
              <a:t> </a:t>
            </a:r>
          </a:p>
          <a:p>
            <a:pPr>
              <a:lnSpc>
                <a:spcPct val="110000"/>
              </a:lnSpc>
              <a:defRPr/>
            </a:pPr>
            <a:r>
              <a:rPr lang="en-GB" sz="1200" dirty="0">
                <a:solidFill>
                  <a:srgbClr val="333333"/>
                </a:solidFill>
                <a:latin typeface="Verdana" pitchFamily="34" charset="0"/>
              </a:rPr>
              <a:t>52 V. Velykoho Str.</a:t>
            </a:r>
          </a:p>
          <a:p>
            <a:pPr>
              <a:lnSpc>
                <a:spcPct val="110000"/>
              </a:lnSpc>
              <a:defRPr/>
            </a:pPr>
            <a:r>
              <a:rPr lang="en-GB" sz="1200" dirty="0">
                <a:solidFill>
                  <a:srgbClr val="333333"/>
                </a:solidFill>
                <a:latin typeface="Verdana" pitchFamily="34" charset="0"/>
              </a:rPr>
              <a:t>Lviv 79053, Ukraine</a:t>
            </a:r>
          </a:p>
          <a:p>
            <a:pPr>
              <a:lnSpc>
                <a:spcPct val="110000"/>
              </a:lnSpc>
              <a:defRPr/>
            </a:pPr>
            <a:endParaRPr lang="en-GB" sz="600" dirty="0">
              <a:solidFill>
                <a:srgbClr val="333333"/>
              </a:solidFill>
              <a:latin typeface="Verdana" pitchFamily="34" charset="0"/>
            </a:endParaRPr>
          </a:p>
          <a:p>
            <a:pPr>
              <a:lnSpc>
                <a:spcPct val="110000"/>
              </a:lnSpc>
              <a:defRPr/>
            </a:pPr>
            <a:r>
              <a:rPr lang="en-GB" sz="1200" dirty="0">
                <a:solidFill>
                  <a:srgbClr val="333333"/>
                </a:solidFill>
                <a:latin typeface="Verdana" pitchFamily="34" charset="0"/>
              </a:rPr>
              <a:t>Tel:   +380-32-2</a:t>
            </a:r>
            <a:r>
              <a:rPr lang="en-US" sz="1200" dirty="0">
                <a:solidFill>
                  <a:srgbClr val="333333"/>
                </a:solidFill>
                <a:latin typeface="Verdana" pitchFamily="34" charset="0"/>
              </a:rPr>
              <a:t>40-9090</a:t>
            </a:r>
            <a:r>
              <a:rPr lang="en-GB" sz="1200" dirty="0">
                <a:solidFill>
                  <a:srgbClr val="333333"/>
                </a:solidFill>
                <a:latin typeface="Verdana" pitchFamily="34" charset="0"/>
              </a:rPr>
              <a:t/>
            </a:r>
            <a:br>
              <a:rPr lang="en-GB" sz="1200" dirty="0">
                <a:solidFill>
                  <a:srgbClr val="333333"/>
                </a:solidFill>
                <a:latin typeface="Verdana" pitchFamily="34" charset="0"/>
              </a:rPr>
            </a:br>
            <a:r>
              <a:rPr lang="en-GB" sz="1200" dirty="0">
                <a:solidFill>
                  <a:srgbClr val="333333"/>
                </a:solidFill>
                <a:latin typeface="Verdana" pitchFamily="34" charset="0"/>
              </a:rPr>
              <a:t>Fax:  +380-32-2</a:t>
            </a:r>
            <a:r>
              <a:rPr lang="en-US" sz="1200" dirty="0">
                <a:solidFill>
                  <a:srgbClr val="333333"/>
                </a:solidFill>
                <a:latin typeface="Verdana" pitchFamily="34" charset="0"/>
              </a:rPr>
              <a:t>40-9080</a:t>
            </a:r>
          </a:p>
          <a:p>
            <a:pPr>
              <a:lnSpc>
                <a:spcPct val="110000"/>
              </a:lnSpc>
              <a:defRPr/>
            </a:pPr>
            <a:endParaRPr lang="en-GB" sz="600" dirty="0">
              <a:solidFill>
                <a:srgbClr val="333333"/>
              </a:solidFill>
              <a:latin typeface="Verdana" pitchFamily="34" charset="0"/>
            </a:endParaRPr>
          </a:p>
          <a:p>
            <a:pPr>
              <a:lnSpc>
                <a:spcPct val="110000"/>
              </a:lnSpc>
              <a:defRPr/>
            </a:pPr>
            <a:r>
              <a:rPr lang="en-GB" sz="1200" dirty="0">
                <a:solidFill>
                  <a:srgbClr val="333333"/>
                </a:solidFill>
                <a:latin typeface="Verdana" pitchFamily="34" charset="0"/>
              </a:rPr>
              <a:t>E-mail: </a:t>
            </a:r>
            <a:r>
              <a:rPr lang="en-GB" sz="1200" dirty="0" smtClean="0">
                <a:solidFill>
                  <a:srgbClr val="333333"/>
                </a:solidFill>
                <a:latin typeface="Verdana" pitchFamily="34" charset="0"/>
              </a:rPr>
              <a:t>info@softserveinc.com</a:t>
            </a:r>
          </a:p>
          <a:p>
            <a:pPr>
              <a:lnSpc>
                <a:spcPct val="110000"/>
              </a:lnSpc>
              <a:defRPr/>
            </a:pPr>
            <a:r>
              <a:rPr lang="en-GB" sz="1200" dirty="0" smtClean="0">
                <a:solidFill>
                  <a:srgbClr val="333333"/>
                </a:solidFill>
                <a:latin typeface="Verdana" pitchFamily="34" charset="0"/>
              </a:rPr>
              <a:t>Website: </a:t>
            </a:r>
            <a:r>
              <a:rPr lang="en-GB" sz="1200" b="1" dirty="0" smtClean="0">
                <a:solidFill>
                  <a:schemeClr val="tx1">
                    <a:lumMod val="95000"/>
                    <a:lumOff val="5000"/>
                  </a:schemeClr>
                </a:solidFill>
                <a:latin typeface="Verdana" pitchFamily="34" charset="0"/>
              </a:rPr>
              <a:t>www.softserveinc.com</a:t>
            </a:r>
          </a:p>
          <a:p>
            <a:pPr>
              <a:lnSpc>
                <a:spcPct val="110000"/>
              </a:lnSpc>
              <a:defRPr/>
            </a:pPr>
            <a:endParaRPr lang="en-GB" sz="1200" b="1" dirty="0">
              <a:solidFill>
                <a:srgbClr val="333333"/>
              </a:solidFill>
              <a:latin typeface="Verdana" pitchFamily="34" charset="0"/>
            </a:endParaRPr>
          </a:p>
        </p:txBody>
      </p:sp>
      <p:sp>
        <p:nvSpPr>
          <p:cNvPr id="11" name="Text Box 5"/>
          <p:cNvSpPr txBox="1">
            <a:spLocks noChangeArrowheads="1"/>
          </p:cNvSpPr>
          <p:nvPr/>
        </p:nvSpPr>
        <p:spPr bwMode="auto">
          <a:xfrm>
            <a:off x="4724400" y="2073275"/>
            <a:ext cx="3733800" cy="1329595"/>
          </a:xfrm>
          <a:prstGeom prst="rect">
            <a:avLst/>
          </a:prstGeom>
          <a:noFill/>
          <a:ln w="9525">
            <a:noFill/>
            <a:miter lim="800000"/>
            <a:headEnd/>
            <a:tailEnd/>
          </a:ln>
        </p:spPr>
        <p:txBody>
          <a:bodyPr wrap="square">
            <a:spAutoFit/>
          </a:bodyPr>
          <a:lstStyle/>
          <a:p>
            <a:pPr>
              <a:spcBef>
                <a:spcPts val="0"/>
              </a:spcBef>
              <a:spcAft>
                <a:spcPts val="600"/>
              </a:spcAft>
              <a:defRPr/>
            </a:pPr>
            <a:r>
              <a:rPr lang="en-US" sz="1600" b="1" dirty="0">
                <a:solidFill>
                  <a:schemeClr val="accent6"/>
                </a:solidFill>
                <a:latin typeface="Verdana" pitchFamily="34" charset="0"/>
              </a:rPr>
              <a:t>US Headquarters</a:t>
            </a:r>
          </a:p>
          <a:p>
            <a:pPr>
              <a:lnSpc>
                <a:spcPct val="110000"/>
              </a:lnSpc>
              <a:defRPr/>
            </a:pPr>
            <a:r>
              <a:rPr lang="en-US" sz="1200" dirty="0" smtClean="0">
                <a:solidFill>
                  <a:srgbClr val="333333"/>
                </a:solidFill>
                <a:latin typeface="Verdana" pitchFamily="34" charset="0"/>
              </a:rPr>
              <a:t>12800 University Drive, Suite 250</a:t>
            </a:r>
            <a:r>
              <a:rPr lang="en-US" sz="1200" dirty="0">
                <a:solidFill>
                  <a:srgbClr val="333333"/>
                </a:solidFill>
                <a:latin typeface="Verdana" pitchFamily="34" charset="0"/>
              </a:rPr>
              <a:t/>
            </a:r>
            <a:br>
              <a:rPr lang="en-US" sz="1200" dirty="0">
                <a:solidFill>
                  <a:srgbClr val="333333"/>
                </a:solidFill>
                <a:latin typeface="Verdana" pitchFamily="34" charset="0"/>
              </a:rPr>
            </a:br>
            <a:r>
              <a:rPr lang="en-US" sz="1200" dirty="0">
                <a:solidFill>
                  <a:srgbClr val="333333"/>
                </a:solidFill>
                <a:latin typeface="Verdana" pitchFamily="34" charset="0"/>
              </a:rPr>
              <a:t>Fort Myers, FL </a:t>
            </a:r>
            <a:r>
              <a:rPr lang="en-US" sz="1200" dirty="0" smtClean="0">
                <a:solidFill>
                  <a:srgbClr val="333333"/>
                </a:solidFill>
                <a:latin typeface="Verdana" pitchFamily="34" charset="0"/>
              </a:rPr>
              <a:t>33907, </a:t>
            </a:r>
            <a:r>
              <a:rPr lang="en-US" sz="1200" dirty="0">
                <a:solidFill>
                  <a:srgbClr val="333333"/>
                </a:solidFill>
                <a:latin typeface="Verdana" pitchFamily="34" charset="0"/>
              </a:rPr>
              <a:t>USA</a:t>
            </a:r>
          </a:p>
          <a:p>
            <a:pPr>
              <a:lnSpc>
                <a:spcPct val="110000"/>
              </a:lnSpc>
              <a:defRPr/>
            </a:pPr>
            <a:endParaRPr lang="en-GB" sz="600" dirty="0">
              <a:solidFill>
                <a:srgbClr val="333333"/>
              </a:solidFill>
              <a:latin typeface="Verdana" pitchFamily="34" charset="0"/>
            </a:endParaRPr>
          </a:p>
          <a:p>
            <a:pPr>
              <a:lnSpc>
                <a:spcPct val="110000"/>
              </a:lnSpc>
              <a:defRPr/>
            </a:pPr>
            <a:r>
              <a:rPr lang="en-GB" sz="1200" dirty="0" smtClean="0">
                <a:solidFill>
                  <a:srgbClr val="333333"/>
                </a:solidFill>
                <a:latin typeface="Verdana" pitchFamily="34" charset="0"/>
              </a:rPr>
              <a:t>Tel</a:t>
            </a:r>
            <a:r>
              <a:rPr lang="en-GB" sz="1200" dirty="0">
                <a:solidFill>
                  <a:srgbClr val="333333"/>
                </a:solidFill>
                <a:latin typeface="Verdana" pitchFamily="34" charset="0"/>
              </a:rPr>
              <a:t>:   </a:t>
            </a:r>
            <a:r>
              <a:rPr lang="en-US" sz="1200" dirty="0">
                <a:solidFill>
                  <a:srgbClr val="333333"/>
                </a:solidFill>
                <a:latin typeface="Verdana" pitchFamily="34" charset="0"/>
              </a:rPr>
              <a:t>239-690-3111 </a:t>
            </a:r>
            <a:r>
              <a:rPr lang="en-GB" sz="1200" dirty="0">
                <a:solidFill>
                  <a:srgbClr val="333333"/>
                </a:solidFill>
                <a:latin typeface="Verdana" pitchFamily="34" charset="0"/>
              </a:rPr>
              <a:t/>
            </a:r>
            <a:br>
              <a:rPr lang="en-GB" sz="1200" dirty="0">
                <a:solidFill>
                  <a:srgbClr val="333333"/>
                </a:solidFill>
                <a:latin typeface="Verdana" pitchFamily="34" charset="0"/>
              </a:rPr>
            </a:br>
            <a:r>
              <a:rPr lang="en-GB" sz="1200" dirty="0" smtClean="0">
                <a:solidFill>
                  <a:srgbClr val="333333"/>
                </a:solidFill>
                <a:latin typeface="Verdana" pitchFamily="34" charset="0"/>
              </a:rPr>
              <a:t>Fax</a:t>
            </a:r>
            <a:r>
              <a:rPr lang="en-GB" sz="1200" dirty="0">
                <a:solidFill>
                  <a:srgbClr val="333333"/>
                </a:solidFill>
                <a:latin typeface="Verdana" pitchFamily="34" charset="0"/>
              </a:rPr>
              <a:t>:  </a:t>
            </a:r>
            <a:r>
              <a:rPr lang="en-US" sz="1200" dirty="0" smtClean="0">
                <a:solidFill>
                  <a:srgbClr val="333333"/>
                </a:solidFill>
                <a:latin typeface="Verdana" pitchFamily="34" charset="0"/>
              </a:rPr>
              <a:t>239-690-3116</a:t>
            </a:r>
            <a:endParaRPr lang="en-GB" sz="600" dirty="0">
              <a:solidFill>
                <a:srgbClr val="333333"/>
              </a:solidFill>
              <a:latin typeface="Verdana" pitchFamily="34" charset="0"/>
            </a:endParaRPr>
          </a:p>
        </p:txBody>
      </p:sp>
    </p:spTree>
  </p:cSld>
  <p:clrMapOvr>
    <a:masterClrMapping/>
  </p:clrMapOvr>
  <p:transition spd="slow">
    <p:wipe dir="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14284</TotalTime>
  <Words>1132</Words>
  <Application>Microsoft Office PowerPoint</Application>
  <PresentationFormat>On-screen Show (4:3)</PresentationFormat>
  <Paragraphs>245</Paragraphs>
  <Slides>37</Slides>
  <Notes>2</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Slide 1</vt:lpstr>
      <vt:lpstr>Normalization</vt:lpstr>
      <vt:lpstr>First normal form</vt:lpstr>
      <vt:lpstr>Second normal form</vt:lpstr>
      <vt:lpstr>Third normal form</vt:lpstr>
      <vt:lpstr>Other normal forms</vt:lpstr>
      <vt:lpstr>Relations</vt:lpstr>
      <vt:lpstr>Relations</vt:lpstr>
      <vt:lpstr>Constraints</vt:lpstr>
      <vt:lpstr>Joins</vt:lpstr>
      <vt:lpstr>Inner join</vt:lpstr>
      <vt:lpstr>Inner join example</vt:lpstr>
      <vt:lpstr>Outer join. Left outer join</vt:lpstr>
      <vt:lpstr>Left outer join example</vt:lpstr>
      <vt:lpstr>Right outer join</vt:lpstr>
      <vt:lpstr>Right outer join example</vt:lpstr>
      <vt:lpstr>Full outer join</vt:lpstr>
      <vt:lpstr>Right outer join example</vt:lpstr>
      <vt:lpstr>Cross join</vt:lpstr>
      <vt:lpstr>Cross join example</vt:lpstr>
      <vt:lpstr>Other join</vt:lpstr>
      <vt:lpstr>Group data and</vt:lpstr>
      <vt:lpstr>Order by</vt:lpstr>
      <vt:lpstr>Group by</vt:lpstr>
      <vt:lpstr>Group by example</vt:lpstr>
      <vt:lpstr>Group by with other SQL statements</vt:lpstr>
      <vt:lpstr>Having</vt:lpstr>
      <vt:lpstr>Having example</vt:lpstr>
      <vt:lpstr>Union</vt:lpstr>
      <vt:lpstr>Union example</vt:lpstr>
      <vt:lpstr>Complex queries. Subselect inside SELECT </vt:lpstr>
      <vt:lpstr>Complex queries. Subselect inside WHERE </vt:lpstr>
      <vt:lpstr>Complex queries. How to create. </vt:lpstr>
      <vt:lpstr>Indexes</vt:lpstr>
      <vt:lpstr>Views</vt:lpstr>
      <vt:lpstr>Views example</vt:lpstr>
      <vt:lpstr>Contacts</vt:lpstr>
    </vt:vector>
  </TitlesOfParts>
  <Company>ss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mbrandon</dc:creator>
  <cp:lastModifiedBy>Akorkuna</cp:lastModifiedBy>
  <cp:revision>320</cp:revision>
  <dcterms:created xsi:type="dcterms:W3CDTF">2010-08-18T17:56:28Z</dcterms:created>
  <dcterms:modified xsi:type="dcterms:W3CDTF">2012-04-20T06:59:48Z</dcterms:modified>
</cp:coreProperties>
</file>