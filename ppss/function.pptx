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6" r:id="rId2"/>
    <p:sldMasterId id="2147483686" r:id="rId3"/>
  </p:sldMasterIdLst>
  <p:notesMasterIdLst>
    <p:notesMasterId r:id="rId16"/>
  </p:notesMasterIdLst>
  <p:sldIdLst>
    <p:sldId id="256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2" r:id="rId15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93B462-640D-425C-9EC9-4054600F9BBB}">
          <p14:sldIdLst>
            <p14:sldId id="256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orient="horz" pos="262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27" autoAdjust="0"/>
    <p:restoredTop sz="96723" autoAdjust="0"/>
  </p:normalViewPr>
  <p:slideViewPr>
    <p:cSldViewPr snapToGrid="0" showGuides="1">
      <p:cViewPr varScale="1">
        <p:scale>
          <a:sx n="117" d="100"/>
          <a:sy n="117" d="100"/>
        </p:scale>
        <p:origin x="108" y="318"/>
      </p:cViewPr>
      <p:guideLst>
        <p:guide pos="3840"/>
        <p:guide orient="horz" pos="2160"/>
        <p:guide orient="horz" pos="26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0E515-B892-43E8-805D-90120BEE7F23}" type="datetimeFigureOut">
              <a:rPr lang="uk-UA" smtClean="0"/>
              <a:t>21.08.2018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6DE06-F3D2-4967-9E42-1EE18725EA77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04888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Радий вітати Вас у наступному Модулі який присвячений функціям. </a:t>
            </a:r>
          </a:p>
          <a:p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 розглянемо конструкцію функції</a:t>
            </a:r>
            <a:r>
              <a:rPr lang="uk-UA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які параметри вона може приймати, та</a:t>
            </a:r>
            <a:r>
              <a:rPr lang="uk-U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 і як їх можна використовувати.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2581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прості правила, щоб визначити функцію в 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Python.</a:t>
            </a:r>
          </a:p>
          <a:p>
            <a:endParaRPr lang="en-US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Функціональні блоки починаються з ключового слова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</a:t>
            </a:r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далі </a:t>
            </a:r>
            <a:r>
              <a:rPr lang="uk-UA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ім'я функції</a:t>
            </a:r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 </a:t>
            </a:r>
            <a:r>
              <a:rPr lang="uk-UA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дужки</a:t>
            </a:r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Будь-які вхідні параметри або аргументи повинні бути розміщені в цих дужках. 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 також можете визначити параметри всередині цих дужок.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Блок коду всередині кожної функції починається з двокрапки (:) і з відступом.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Оператор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виходить з функції, при необхідності повертаючи значення.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випадку якщо функція не має оператора </a:t>
            </a:r>
            <a:r>
              <a:rPr lang="en-US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uk-UA" sz="1200" b="1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 нічого не повертає, результатом функції буде константа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None</a:t>
            </a:r>
            <a:endParaRPr lang="uk-UA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uk-UA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 давайте розглянемо можливості і нюанси про які я ще не встиг розказати.</a:t>
            </a: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для кращого розуміння та запамятовування, розглянемо це на прикладах</a:t>
            </a:r>
          </a:p>
          <a:p>
            <a:endParaRPr lang="uk-UA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uk-UA" sz="1200" b="0" i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uk-UA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endParaRPr lang="uk-U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5877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Перш за все це виклик функції</a:t>
            </a:r>
            <a:endParaRPr lang="en-US" dirty="0"/>
          </a:p>
          <a:p>
            <a:endParaRPr lang="uk-UA" dirty="0"/>
          </a:p>
          <a:p>
            <a:r>
              <a:rPr lang="uk-UA" dirty="0"/>
              <a:t>Визначення функції дає йому тільки ім'я,</a:t>
            </a:r>
          </a:p>
          <a:p>
            <a:r>
              <a:rPr lang="uk-UA" dirty="0"/>
              <a:t>визначає параметри які повинні бути включені в функції і структури блоки коду.</a:t>
            </a:r>
          </a:p>
          <a:p>
            <a:endParaRPr lang="uk-UA" dirty="0"/>
          </a:p>
          <a:p>
            <a:r>
              <a:rPr lang="uk-UA" dirty="0"/>
              <a:t>Після того, як основна структура функції завершена, </a:t>
            </a:r>
          </a:p>
          <a:p>
            <a:r>
              <a:rPr lang="uk-UA" dirty="0"/>
              <a:t>ви можете виконати його, викликавши її з іншої функції або безпосередньо з командного рядка </a:t>
            </a:r>
            <a:r>
              <a:rPr lang="en-US" dirty="0"/>
              <a:t>Python. </a:t>
            </a:r>
            <a:endParaRPr lang="uk-UA" dirty="0"/>
          </a:p>
          <a:p>
            <a:endParaRPr lang="uk-U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Давайте визначемо простеньку функцію яка буде приймати один параметер та друкувати текст який ми</a:t>
            </a:r>
            <a:r>
              <a:rPr lang="uk-UA" baseline="0" dirty="0"/>
              <a:t> їй передаватимемо.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baseline="0" dirty="0"/>
              <a:t>І викличемо її двічі з різними вхідними параметрами.</a:t>
            </a:r>
          </a:p>
          <a:p>
            <a:r>
              <a:rPr lang="ru-RU" dirty="0"/>
              <a:t>Коли ми спробуємо виконати даний код,</a:t>
            </a:r>
            <a:r>
              <a:rPr lang="ru-RU" baseline="0" dirty="0"/>
              <a:t> </a:t>
            </a:r>
          </a:p>
          <a:p>
            <a:r>
              <a:rPr lang="ru-RU" baseline="0" dirty="0"/>
              <a:t>побачемо</a:t>
            </a:r>
            <a:r>
              <a:rPr lang="ru-RU" dirty="0"/>
              <a:t> у результат що нам вивелося два рядки які</a:t>
            </a:r>
            <a:r>
              <a:rPr lang="ru-RU" baseline="0" dirty="0"/>
              <a:t> ми задали як параметри нашій функції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З цим розібрались, рухаємось далі</a:t>
            </a:r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3808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 тепер розглянемо різницю між значеннями які передаються по посиланню та</a:t>
            </a:r>
            <a:r>
              <a:rPr lang="uk-UA" baseline="0" dirty="0"/>
              <a:t> по </a:t>
            </a:r>
            <a:r>
              <a:rPr lang="uk-UA" dirty="0"/>
              <a:t>значеню</a:t>
            </a:r>
            <a:endParaRPr lang="en-US" dirty="0"/>
          </a:p>
          <a:p>
            <a:endParaRPr lang="uk-UA" dirty="0"/>
          </a:p>
          <a:p>
            <a:r>
              <a:rPr lang="uk-UA" dirty="0"/>
              <a:t>Всі параметри (аргументи) у мові </a:t>
            </a:r>
            <a:r>
              <a:rPr lang="en-US" dirty="0"/>
              <a:t>Python </a:t>
            </a:r>
            <a:r>
              <a:rPr lang="uk-UA" dirty="0"/>
              <a:t>передаються по посиланню.</a:t>
            </a:r>
          </a:p>
          <a:p>
            <a:r>
              <a:rPr lang="uk-UA" dirty="0"/>
              <a:t>Це означає, що якщо ви зміните параметр всередині функції,  то зміна відбудиться</a:t>
            </a:r>
            <a:r>
              <a:rPr lang="uk-UA" baseline="0" dirty="0"/>
              <a:t> і </a:t>
            </a:r>
            <a:r>
              <a:rPr lang="uk-UA" dirty="0"/>
              <a:t>у зміній яка була передана</a:t>
            </a:r>
            <a:r>
              <a:rPr lang="uk-UA" baseline="0" dirty="0"/>
              <a:t> цьому параметру</a:t>
            </a:r>
            <a:r>
              <a:rPr lang="uk-UA" dirty="0"/>
              <a:t>. </a:t>
            </a:r>
          </a:p>
          <a:p>
            <a:r>
              <a:rPr lang="uk-UA" dirty="0"/>
              <a:t>(лівий приклад)</a:t>
            </a:r>
          </a:p>
          <a:p>
            <a:r>
              <a:rPr lang="uk-UA" dirty="0"/>
              <a:t>Тут ми підтримуємо посилання на об'єкт і додавання значення у</a:t>
            </a:r>
            <a:r>
              <a:rPr lang="uk-UA" baseline="0" dirty="0"/>
              <a:t> той </a:t>
            </a:r>
            <a:r>
              <a:rPr lang="uk-UA" dirty="0"/>
              <a:t>ж самий об'єкт.</a:t>
            </a:r>
          </a:p>
          <a:p>
            <a:r>
              <a:rPr lang="uk-UA" dirty="0"/>
              <a:t>Таким чином після виконання даного коду ми отримаємо наступний результат.</a:t>
            </a:r>
          </a:p>
          <a:p>
            <a:r>
              <a:rPr lang="uk-UA" dirty="0"/>
              <a:t>В якому бачимо що наші функція модифікувала</a:t>
            </a:r>
            <a:r>
              <a:rPr lang="uk-UA" baseline="0" dirty="0"/>
              <a:t> абєкт який був переданий їй як агрумент.</a:t>
            </a:r>
            <a:endParaRPr lang="uk-UA" dirty="0"/>
          </a:p>
          <a:p>
            <a:endParaRPr lang="uk-UA" dirty="0"/>
          </a:p>
          <a:p>
            <a:r>
              <a:rPr lang="uk-UA" dirty="0"/>
              <a:t>Існує ще один приклад, коли аргумент передається по посиланню, а посилання перезаписується всередині виклику функції.</a:t>
            </a:r>
          </a:p>
          <a:p>
            <a:r>
              <a:rPr lang="uk-UA" dirty="0"/>
              <a:t>(правий приклад)</a:t>
            </a:r>
          </a:p>
          <a:p>
            <a:r>
              <a:rPr lang="uk-UA" dirty="0"/>
              <a:t>Параметр </a:t>
            </a:r>
            <a:r>
              <a:rPr lang="en-US" dirty="0" err="1"/>
              <a:t>MyList</a:t>
            </a:r>
            <a:r>
              <a:rPr lang="uk-UA" dirty="0"/>
              <a:t> є локальним для функції </a:t>
            </a:r>
            <a:r>
              <a:rPr lang="en-US" dirty="0"/>
              <a:t>Change.</a:t>
            </a:r>
          </a:p>
          <a:p>
            <a:r>
              <a:rPr lang="uk-UA" dirty="0"/>
              <a:t>Зміна </a:t>
            </a:r>
            <a:r>
              <a:rPr lang="en-US" dirty="0" err="1"/>
              <a:t>MyList</a:t>
            </a:r>
            <a:r>
              <a:rPr lang="en-US" dirty="0"/>
              <a:t> </a:t>
            </a:r>
            <a:r>
              <a:rPr lang="uk-UA" dirty="0"/>
              <a:t>всередині функції ніяк</a:t>
            </a:r>
            <a:r>
              <a:rPr lang="uk-UA" baseline="0" dirty="0"/>
              <a:t> </a:t>
            </a:r>
            <a:r>
              <a:rPr lang="uk-UA" dirty="0"/>
              <a:t>не впливає на зміну зовні функції </a:t>
            </a:r>
            <a:r>
              <a:rPr lang="en-US" dirty="0" err="1"/>
              <a:t>MyList</a:t>
            </a:r>
            <a:r>
              <a:rPr lang="uk-UA" dirty="0"/>
              <a:t> </a:t>
            </a:r>
            <a:r>
              <a:rPr lang="en-US" dirty="0"/>
              <a:t>.</a:t>
            </a:r>
            <a:r>
              <a:rPr lang="uk-UA" dirty="0"/>
              <a:t> Оскільки насправді</a:t>
            </a:r>
            <a:r>
              <a:rPr lang="uk-UA" baseline="0" dirty="0"/>
              <a:t> це є різні змінні.</a:t>
            </a:r>
          </a:p>
          <a:p>
            <a:r>
              <a:rPr lang="uk-UA" dirty="0"/>
              <a:t>отож</a:t>
            </a:r>
            <a:r>
              <a:rPr lang="uk-UA" baseline="0" dirty="0"/>
              <a:t> параметр функції приймає значення яке йому передається, але після того як йому присвоюється нове значення, а не модифікується існуюче,</a:t>
            </a:r>
          </a:p>
          <a:p>
            <a:r>
              <a:rPr lang="uk-UA" baseline="0" dirty="0"/>
              <a:t>Він насправді вже вказує на нове значення , не міняючи посилання для зміної яка була передана, даному параметру.</a:t>
            </a:r>
          </a:p>
          <a:p>
            <a:r>
              <a:rPr lang="uk-UA" dirty="0"/>
              <a:t>Таким чином після виконання даного коду ми отримаємо результат,</a:t>
            </a:r>
            <a:r>
              <a:rPr lang="uk-UA" baseline="0" dirty="0"/>
              <a:t> в якому бачимо що змінна яка була вередана у функцію не була модифікована</a:t>
            </a:r>
            <a:endParaRPr lang="uk-UA" dirty="0"/>
          </a:p>
          <a:p>
            <a:endParaRPr lang="uk-U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 цим таякби все зрозуміло,</a:t>
            </a:r>
            <a:r>
              <a:rPr lang="ru-RU" baseline="0" dirty="0"/>
              <a:t> тоді </a:t>
            </a:r>
            <a:r>
              <a:rPr lang="ru-RU" dirty="0"/>
              <a:t>рухаємось далі</a:t>
            </a:r>
            <a:endParaRPr lang="uk-UA" dirty="0"/>
          </a:p>
          <a:p>
            <a:endParaRPr lang="uk-U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924839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При написанні та використанні функції ви можете використовувати наступні типи аргументів:</a:t>
            </a:r>
          </a:p>
          <a:p>
            <a:endParaRPr lang="uk-UA" dirty="0"/>
          </a:p>
          <a:p>
            <a:r>
              <a:rPr lang="uk-UA" dirty="0"/>
              <a:t>необхідні аргументи</a:t>
            </a:r>
          </a:p>
          <a:p>
            <a:r>
              <a:rPr lang="uk-UA" dirty="0"/>
              <a:t>ключове слово аргументи</a:t>
            </a:r>
          </a:p>
          <a:p>
            <a:r>
              <a:rPr lang="uk-UA" dirty="0"/>
              <a:t>аргументи за замовчанням</a:t>
            </a:r>
          </a:p>
          <a:p>
            <a:r>
              <a:rPr lang="uk-UA" dirty="0"/>
              <a:t>аргументи змінної довжини</a:t>
            </a:r>
          </a:p>
          <a:p>
            <a:endParaRPr lang="uk-UA" dirty="0"/>
          </a:p>
          <a:p>
            <a:r>
              <a:rPr lang="uk-UA" dirty="0"/>
              <a:t>Давайте більш детально розглянемо кожний</a:t>
            </a:r>
            <a:r>
              <a:rPr lang="uk-UA" baseline="0" dirty="0"/>
              <a:t> з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9168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Необхідні аргументи -</a:t>
            </a:r>
            <a:r>
              <a:rPr lang="en-US" dirty="0"/>
              <a:t> </a:t>
            </a:r>
            <a:r>
              <a:rPr lang="uk-UA" dirty="0"/>
              <a:t>це</a:t>
            </a:r>
            <a:r>
              <a:rPr lang="uk-UA" baseline="0" dirty="0"/>
              <a:t> </a:t>
            </a:r>
            <a:r>
              <a:rPr lang="uk-UA" dirty="0"/>
              <a:t>аргументи що передаються функції в правельному послідовному порядку. </a:t>
            </a:r>
          </a:p>
          <a:p>
            <a:r>
              <a:rPr lang="uk-UA" dirty="0"/>
              <a:t>Тут кількість аргументів при виклику функції повинна точно збігатися з визначенням функції.</a:t>
            </a:r>
          </a:p>
          <a:p>
            <a:endParaRPr lang="uk-UA" dirty="0"/>
          </a:p>
          <a:p>
            <a:r>
              <a:rPr lang="uk-UA" dirty="0"/>
              <a:t>Для того, щоб викликати функцію </a:t>
            </a:r>
            <a:r>
              <a:rPr lang="en-US" dirty="0" err="1"/>
              <a:t>my_print</a:t>
            </a:r>
            <a:r>
              <a:rPr lang="en-US" dirty="0"/>
              <a:t>, </a:t>
            </a:r>
            <a:endParaRPr lang="uk-UA" dirty="0"/>
          </a:p>
          <a:p>
            <a:r>
              <a:rPr lang="uk-UA" dirty="0"/>
              <a:t>вам обов'язково потрібно передати один аргумент, в іншому випадку вона буде давати помилку синтаксичну.</a:t>
            </a:r>
          </a:p>
          <a:p>
            <a:endParaRPr lang="uk-UA" dirty="0"/>
          </a:p>
          <a:p>
            <a:r>
              <a:rPr lang="uk-UA" dirty="0"/>
              <a:t>Тут все просто і зрозуміло, отож ідемо до наступного типу.</a:t>
            </a:r>
          </a:p>
          <a:p>
            <a:endParaRPr lang="uk-UA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1719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Ключові слова аргументи</a:t>
            </a:r>
            <a:r>
              <a:rPr lang="en-US" dirty="0"/>
              <a:t>.</a:t>
            </a:r>
          </a:p>
          <a:p>
            <a:r>
              <a:rPr lang="uk-UA" dirty="0"/>
              <a:t>В</a:t>
            </a:r>
            <a:r>
              <a:rPr lang="ru-RU" dirty="0"/>
              <a:t>икористовуючи іменованані аргументи при виклику функції, користувач ідентифікує аргументи за їх ім'ям параметра, а не порядком їх передавання.</a:t>
            </a:r>
          </a:p>
          <a:p>
            <a:endParaRPr lang="ru-RU" dirty="0"/>
          </a:p>
          <a:p>
            <a:r>
              <a:rPr lang="ru-RU" dirty="0"/>
              <a:t>Так як інтерпретатор Python може використовувати ключові слова, що надаються відповідно до значень з параметрами.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Це дозволяє передавати значення</a:t>
            </a:r>
            <a:r>
              <a:rPr lang="ru-RU" baseline="0" dirty="0"/>
              <a:t> параметрам у довільному порядку, а не у тому який був описаний у функції.</a:t>
            </a:r>
          </a:p>
          <a:p>
            <a:endParaRPr lang="ru-RU" dirty="0"/>
          </a:p>
          <a:p>
            <a:r>
              <a:rPr lang="ru-RU" dirty="0"/>
              <a:t>І</a:t>
            </a:r>
            <a:r>
              <a:rPr lang="ru-RU" baseline="0" dirty="0"/>
              <a:t> це ми можемо бачити у наведеному прикладі, при першому виклику функції </a:t>
            </a:r>
            <a:r>
              <a:rPr lang="en-US" dirty="0" err="1"/>
              <a:t>print_info</a:t>
            </a:r>
            <a:r>
              <a:rPr lang="uk-UA" dirty="0"/>
              <a:t>,</a:t>
            </a:r>
            <a:r>
              <a:rPr lang="uk-UA" baseline="0" dirty="0"/>
              <a:t> ми передали папаметри не у тому порядку якому вони мали бути,</a:t>
            </a:r>
          </a:p>
          <a:p>
            <a:r>
              <a:rPr lang="uk-UA" baseline="0" dirty="0"/>
              <a:t>проте ми використали ключові слова привиклику функції і отримали правельний результат, </a:t>
            </a:r>
          </a:p>
          <a:p>
            <a:r>
              <a:rPr lang="uk-UA" baseline="0" dirty="0"/>
              <a:t>При другомуж виклику ми залишили порядок, проте забрали ключові слова і отримали, не той результат що очікували,</a:t>
            </a:r>
          </a:p>
          <a:p>
            <a:r>
              <a:rPr lang="uk-UA" baseline="0" dirty="0"/>
              <a:t>оскільки ми передали значення у неправельному порядку.</a:t>
            </a:r>
          </a:p>
          <a:p>
            <a:endParaRPr lang="uk-UA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І</a:t>
            </a:r>
            <a:r>
              <a:rPr lang="uk-UA" baseline="0" dirty="0"/>
              <a:t> з цим ми розібрались</a:t>
            </a:r>
            <a:r>
              <a:rPr lang="uk-UA" dirty="0"/>
              <a:t>, отож ідемо до наступного типу.</a:t>
            </a:r>
          </a:p>
          <a:p>
            <a:endParaRPr lang="uk-UA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3980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Аргумент за замовчуванням є аргументом, який приймає значення за замовчуванням, якщо значення не передбачено у виклику функції для цього аргументу. </a:t>
            </a:r>
            <a:endParaRPr lang="en-US" dirty="0"/>
          </a:p>
          <a:p>
            <a:r>
              <a:rPr lang="uk-UA" dirty="0"/>
              <a:t>Для</a:t>
            </a:r>
            <a:r>
              <a:rPr lang="uk-UA" baseline="0" dirty="0"/>
              <a:t> того щоб зробити аргумент із значенням за замовчуванням, </a:t>
            </a:r>
          </a:p>
          <a:p>
            <a:r>
              <a:rPr lang="uk-UA" baseline="0" dirty="0"/>
              <a:t>необхідно при описі параметрів функції присвоїти йому значення, </a:t>
            </a:r>
          </a:p>
          <a:p>
            <a:r>
              <a:rPr lang="uk-UA" baseline="0" dirty="0"/>
              <a:t>яке він набуватиме у випадку, якщо його не буде передано при виклику функції,</a:t>
            </a:r>
          </a:p>
          <a:p>
            <a:r>
              <a:rPr lang="uk-UA" baseline="0" dirty="0"/>
              <a:t>Причому варто зауважити, </a:t>
            </a:r>
          </a:p>
          <a:p>
            <a:r>
              <a:rPr lang="uk-UA" baseline="0" dirty="0"/>
              <a:t>якщо ви хочече використовувати аргументи за замовчуванням то спочатку необхідно вказувати обовязкові аргументи, </a:t>
            </a:r>
          </a:p>
          <a:p>
            <a:r>
              <a:rPr lang="uk-UA" baseline="0" dirty="0"/>
              <a:t>А потім вже аргументи з дефолтним значенням, оскількі інакше ви отримаєте синтаксичну помилку.</a:t>
            </a:r>
          </a:p>
          <a:p>
            <a:endParaRPr lang="uk-UA" baseline="0" dirty="0"/>
          </a:p>
          <a:p>
            <a:r>
              <a:rPr lang="uk-UA" baseline="0" dirty="0"/>
              <a:t>Як бачимо простенька модифікація попереднього прикладу дає нам можливість викликати функцію як з одним параметром, так і з двома.</a:t>
            </a:r>
          </a:p>
          <a:p>
            <a:r>
              <a:rPr lang="uk-UA" baseline="0" dirty="0"/>
              <a:t>Причому коли ми не передали функції значення яке відповідає за вік, даному аргументу було надано дефолтне значення.</a:t>
            </a:r>
          </a:p>
          <a:p>
            <a:endParaRPr lang="uk-UA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dirty="0"/>
              <a:t>І</a:t>
            </a:r>
            <a:r>
              <a:rPr lang="uk-UA" baseline="0" dirty="0"/>
              <a:t> тут таякби все ясно</a:t>
            </a:r>
            <a:r>
              <a:rPr lang="uk-UA" dirty="0"/>
              <a:t>, ідемо до наступного типу.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4282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аргументи змінної довжини</a:t>
            </a:r>
          </a:p>
          <a:p>
            <a:r>
              <a:rPr lang="uk-UA" dirty="0"/>
              <a:t>Можливо, вам буде потрібно обробити функцію для більшої кількості аргументів, ніж ви вказали при визначенні функції,</a:t>
            </a:r>
            <a:r>
              <a:rPr lang="uk-UA" baseline="0" dirty="0"/>
              <a:t> або ви незнаєте точну кількість аргументів яку вона може отримати.</a:t>
            </a:r>
            <a:r>
              <a:rPr lang="uk-UA" dirty="0"/>
              <a:t> </a:t>
            </a:r>
            <a:endParaRPr lang="en-US" dirty="0"/>
          </a:p>
          <a:p>
            <a:r>
              <a:rPr lang="uk-UA" dirty="0"/>
              <a:t>Ці аргументи називаються аргументи змінної довжини і не вказані у визначенні функції, на відміну від необхідних</a:t>
            </a:r>
            <a:r>
              <a:rPr lang="uk-UA" baseline="0" dirty="0"/>
              <a:t> аргументів</a:t>
            </a:r>
            <a:r>
              <a:rPr lang="uk-UA" dirty="0"/>
              <a:t> і аргументів за замовчанням.</a:t>
            </a:r>
          </a:p>
          <a:p>
            <a:r>
              <a:rPr lang="uk-UA" dirty="0"/>
              <a:t>Зірочка (*) ставиться перед ім'ям параметру, який містить значення всіх не ключових</a:t>
            </a:r>
            <a:r>
              <a:rPr lang="en-US" dirty="0"/>
              <a:t> </a:t>
            </a:r>
            <a:r>
              <a:rPr lang="uk-UA" dirty="0"/>
              <a:t>змінних аргументів</a:t>
            </a:r>
            <a:r>
              <a:rPr lang="en-US" dirty="0"/>
              <a:t>,</a:t>
            </a:r>
            <a:r>
              <a:rPr lang="en-US" baseline="0" dirty="0"/>
              <a:t> </a:t>
            </a:r>
            <a:r>
              <a:rPr lang="uk-UA" baseline="0" dirty="0"/>
              <a:t>і такий параметер може бути один у описі функці.</a:t>
            </a:r>
            <a:endParaRPr lang="uk-UA" dirty="0"/>
          </a:p>
          <a:p>
            <a:r>
              <a:rPr lang="uk-UA" dirty="0"/>
              <a:t>Цей кортеж залишається порожнім, якщо ніяких додаткових аргументів не було зазначено при виконанні функції.</a:t>
            </a:r>
          </a:p>
          <a:p>
            <a:r>
              <a:rPr lang="uk-UA" dirty="0"/>
              <a:t>Давайте</a:t>
            </a:r>
            <a:r>
              <a:rPr lang="uk-UA" baseline="0" dirty="0"/>
              <a:t> розгланемо простенький приклад,</a:t>
            </a:r>
          </a:p>
          <a:p>
            <a:r>
              <a:rPr lang="uk-UA" baseline="0" dirty="0"/>
              <a:t>У списку параметрів даної функції є два параметри,</a:t>
            </a:r>
          </a:p>
          <a:p>
            <a:r>
              <a:rPr lang="uk-UA" baseline="0" dirty="0"/>
              <a:t>Перший </a:t>
            </a:r>
            <a:r>
              <a:rPr lang="en-US" baseline="0" dirty="0" err="1"/>
              <a:t>arg</a:t>
            </a:r>
            <a:r>
              <a:rPr lang="uk-UA" baseline="0" dirty="0"/>
              <a:t>, який є обовязковий, </a:t>
            </a:r>
          </a:p>
          <a:p>
            <a:r>
              <a:rPr lang="uk-UA" baseline="0" dirty="0"/>
              <a:t>і другий (зірочка </a:t>
            </a:r>
            <a:r>
              <a:rPr lang="en-US" dirty="0" err="1"/>
              <a:t>vartuple</a:t>
            </a:r>
            <a:r>
              <a:rPr lang="uk-UA" baseline="0" dirty="0"/>
              <a:t>) і це означає що він прийматиме всі інші аргументи які будуть передані даній функції при виклику</a:t>
            </a:r>
          </a:p>
          <a:p>
            <a:r>
              <a:rPr lang="uk-UA" baseline="0" dirty="0"/>
              <a:t>Тіло ж функції є досить проститим, ми видруковуємо значення зміної </a:t>
            </a:r>
            <a:r>
              <a:rPr lang="en-US" baseline="0" dirty="0" err="1"/>
              <a:t>arg</a:t>
            </a:r>
            <a:r>
              <a:rPr lang="uk-UA" baseline="0" dirty="0"/>
              <a:t>,</a:t>
            </a:r>
          </a:p>
          <a:p>
            <a:r>
              <a:rPr lang="uk-UA" baseline="0" dirty="0"/>
              <a:t>а далі запускаємо цикл в якому видруковуємо вміст зміної  </a:t>
            </a:r>
            <a:r>
              <a:rPr lang="en-US" dirty="0" err="1"/>
              <a:t>vartuple</a:t>
            </a:r>
            <a:endParaRPr lang="uk-UA" baseline="0" dirty="0"/>
          </a:p>
          <a:p>
            <a:endParaRPr lang="en-US" dirty="0"/>
          </a:p>
          <a:p>
            <a:r>
              <a:rPr lang="uk-UA" dirty="0"/>
              <a:t>Ось і розібрались ми з можливами</a:t>
            </a:r>
            <a:r>
              <a:rPr lang="uk-UA" baseline="0" dirty="0"/>
              <a:t> типами параметрів і снособом їх оголошення і виклику.</a:t>
            </a:r>
          </a:p>
          <a:p>
            <a:r>
              <a:rPr lang="uk-UA" baseline="0" dirty="0"/>
              <a:t>Рухаємось ділі.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5864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Отож</a:t>
            </a:r>
            <a:r>
              <a:rPr lang="uk-UA" baseline="0" dirty="0"/>
              <a:t> давайте тепер розглянемо оператор </a:t>
            </a:r>
            <a:r>
              <a:rPr lang="en-US" baseline="0" dirty="0"/>
              <a:t>return</a:t>
            </a:r>
            <a:r>
              <a:rPr lang="uk-UA" baseline="0" dirty="0"/>
              <a:t>,</a:t>
            </a:r>
          </a:p>
          <a:p>
            <a:r>
              <a:rPr lang="uk-UA" baseline="0" dirty="0"/>
              <a:t>і дізнаємось для чого він потрібний у функціях.</a:t>
            </a:r>
            <a:endParaRPr lang="en-US" dirty="0"/>
          </a:p>
          <a:p>
            <a:r>
              <a:rPr lang="ru-RU" dirty="0"/>
              <a:t>Оператор </a:t>
            </a:r>
            <a:r>
              <a:rPr lang="en-US" dirty="0"/>
              <a:t>return</a:t>
            </a:r>
            <a:r>
              <a:rPr lang="en-US" baseline="0" dirty="0"/>
              <a:t> </a:t>
            </a:r>
            <a:r>
              <a:rPr lang="ru-RU" dirty="0"/>
              <a:t>виходить з функції, і при необхідності </a:t>
            </a:r>
            <a:r>
              <a:rPr lang="uk-UA" dirty="0"/>
              <a:t>повертаючи</a:t>
            </a:r>
            <a:r>
              <a:rPr lang="uk-UA" baseline="0" dirty="0"/>
              <a:t> значення</a:t>
            </a:r>
            <a:r>
              <a:rPr lang="ru-RU" dirty="0"/>
              <a:t>.</a:t>
            </a:r>
          </a:p>
          <a:p>
            <a:r>
              <a:rPr lang="ru-RU" dirty="0"/>
              <a:t>Варто зауважити що після  його виклуку, код який був описаний нище нього у функції виконуватись не буде. </a:t>
            </a:r>
          </a:p>
          <a:p>
            <a:r>
              <a:rPr lang="ru-RU" dirty="0"/>
              <a:t>У випадку якщо він не повертає значення або</a:t>
            </a:r>
            <a:r>
              <a:rPr lang="ru-RU" baseline="0" dirty="0"/>
              <a:t> функція взагалі не має у своєму тілі даного оператора, функція поверне константу </a:t>
            </a:r>
            <a:r>
              <a:rPr lang="en-US" baseline="0" dirty="0"/>
              <a:t>None</a:t>
            </a:r>
            <a:endParaRPr lang="ru-RU" dirty="0"/>
          </a:p>
          <a:p>
            <a:endParaRPr lang="ru-RU" dirty="0"/>
          </a:p>
          <a:p>
            <a:r>
              <a:rPr lang="ru-RU" dirty="0"/>
              <a:t>Отож розглянемо простенький приклад вункції</a:t>
            </a:r>
            <a:r>
              <a:rPr lang="ru-RU" baseline="0" dirty="0"/>
              <a:t> яка додає два числа, </a:t>
            </a:r>
          </a:p>
          <a:p>
            <a:r>
              <a:rPr lang="ru-RU" baseline="0" dirty="0"/>
              <a:t>Вона є досить простою, оскільки приймає всьоголише два аргументи, </a:t>
            </a:r>
          </a:p>
          <a:p>
            <a:r>
              <a:rPr lang="ru-RU" baseline="0" dirty="0"/>
              <a:t>А у тілі функції створюється нова локальна зміна якій присвоюється результат додавання цих аргументів,</a:t>
            </a:r>
          </a:p>
          <a:p>
            <a:r>
              <a:rPr lang="ru-RU" baseline="0" dirty="0"/>
              <a:t>Після чого дана зміна повертається як результат функції.</a:t>
            </a:r>
          </a:p>
          <a:p>
            <a:r>
              <a:rPr lang="ru-RU" baseline="0" dirty="0"/>
              <a:t>Також є ще рядок коду у тілі функції, який описаний після виклику оператора </a:t>
            </a:r>
            <a:r>
              <a:rPr lang="en-US" baseline="0" dirty="0"/>
              <a:t>return</a:t>
            </a:r>
            <a:r>
              <a:rPr lang="uk-UA" baseline="0" dirty="0"/>
              <a:t>, проте він ніколи не буде виконаний,</a:t>
            </a:r>
          </a:p>
          <a:p>
            <a:r>
              <a:rPr lang="uk-UA" baseline="0" dirty="0"/>
              <a:t>Оскільки функція завжди буде завершуватися рядком швидше.</a:t>
            </a:r>
          </a:p>
          <a:p>
            <a:endParaRPr lang="uk-UA" baseline="0" dirty="0"/>
          </a:p>
          <a:p>
            <a:r>
              <a:rPr lang="uk-UA" baseline="0" dirty="0"/>
              <a:t>Далі ми викликаємо дану функкцію присвоївши її результат зміній </a:t>
            </a:r>
            <a:r>
              <a:rPr lang="en-US" dirty="0" err="1"/>
              <a:t>suma</a:t>
            </a:r>
            <a:r>
              <a:rPr lang="uk-UA" dirty="0"/>
              <a:t> і видруковуєо</a:t>
            </a:r>
            <a:r>
              <a:rPr lang="uk-UA" baseline="0" dirty="0"/>
              <a:t> її.</a:t>
            </a:r>
          </a:p>
          <a:p>
            <a:r>
              <a:rPr lang="uk-UA" baseline="0" dirty="0"/>
              <a:t>Все просто і зрозуміло.</a:t>
            </a:r>
          </a:p>
          <a:p>
            <a:r>
              <a:rPr lang="uk-UA" baseline="0" dirty="0"/>
              <a:t>І маленький приклад що буде у випадку якщо функція не повертає жодного значення.</a:t>
            </a:r>
          </a:p>
          <a:p>
            <a:r>
              <a:rPr lang="uk-UA" baseline="0" dirty="0"/>
              <a:t>Як бачимо у цьому випадку як вже згадувалося рузультатим вункції буде константа </a:t>
            </a:r>
            <a:r>
              <a:rPr lang="en-US" baseline="0" dirty="0"/>
              <a:t>None.</a:t>
            </a:r>
          </a:p>
          <a:p>
            <a:endParaRPr lang="en-US" baseline="0" dirty="0"/>
          </a:p>
          <a:p>
            <a:r>
              <a:rPr lang="uk-UA" baseline="0" dirty="0"/>
              <a:t>І так, це майже все, що потрібно знати про функції,</a:t>
            </a:r>
          </a:p>
          <a:p>
            <a:r>
              <a:rPr lang="uk-UA" baseline="0" dirty="0"/>
              <a:t>зилишилось ще тільке она річ яку варто вияснити, а саме</a:t>
            </a:r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73629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Область видимості і дії зміних</a:t>
            </a:r>
          </a:p>
          <a:p>
            <a:endParaRPr lang="uk-UA" dirty="0"/>
          </a:p>
          <a:p>
            <a:r>
              <a:rPr lang="uk-UA" dirty="0"/>
              <a:t>Всі змінні в програмі не можуть бути доступні у всіх місцях програми.</a:t>
            </a:r>
          </a:p>
          <a:p>
            <a:r>
              <a:rPr lang="uk-UA" dirty="0"/>
              <a:t>І це залежить від того, де ви оголосили змінну.</a:t>
            </a:r>
          </a:p>
          <a:p>
            <a:r>
              <a:rPr lang="uk-UA" dirty="0"/>
              <a:t>Область видимості змінної визначає ту частину програми, </a:t>
            </a:r>
          </a:p>
          <a:p>
            <a:r>
              <a:rPr lang="uk-UA" dirty="0"/>
              <a:t>де ви можете отримати доступ конкретний ідентифікатор.</a:t>
            </a:r>
          </a:p>
          <a:p>
            <a:r>
              <a:rPr lang="uk-UA" dirty="0"/>
              <a:t>Існують дві основні області видимості змінних у </a:t>
            </a:r>
            <a:r>
              <a:rPr lang="en-US" dirty="0"/>
              <a:t>Python -</a:t>
            </a:r>
          </a:p>
          <a:p>
            <a:r>
              <a:rPr lang="uk-UA" dirty="0"/>
              <a:t>Це глобальні і локальні змінні.</a:t>
            </a:r>
          </a:p>
          <a:p>
            <a:r>
              <a:rPr lang="uk-UA" dirty="0"/>
              <a:t>Змінні, визначені всередині тіла функції мають локальну область видимості, а ті які визначені поза нею мають глобальну область видимості.</a:t>
            </a:r>
          </a:p>
          <a:p>
            <a:r>
              <a:rPr lang="uk-UA" dirty="0"/>
              <a:t>Це означає, що локальні змінні можуть бути доступні тільки всередині функції, в якій вони були оголошені, </a:t>
            </a:r>
          </a:p>
          <a:p>
            <a:r>
              <a:rPr lang="uk-UA" dirty="0"/>
              <a:t>в той час як глобальні змінні можуть бути доступні по всьому тілу програми.</a:t>
            </a:r>
          </a:p>
          <a:p>
            <a:r>
              <a:rPr lang="uk-UA" dirty="0"/>
              <a:t>Проте використовувати</a:t>
            </a:r>
            <a:r>
              <a:rPr lang="uk-UA" baseline="0" dirty="0"/>
              <a:t> глобальні змінні в середені функцій не рекомендується, </a:t>
            </a:r>
          </a:p>
          <a:p>
            <a:r>
              <a:rPr lang="uk-UA" baseline="0" dirty="0"/>
              <a:t>оскільки тодіфункції стають залежними від зовнішніх елементів, які не передаються у неї як параметр, що може призвести до помилок як алгоритмічних так і синтаксичних,</a:t>
            </a:r>
          </a:p>
          <a:p>
            <a:r>
              <a:rPr lang="uk-UA" baseline="0" dirty="0"/>
              <a:t>Також варто зауважити, що ви не зможете модифікувати значення глобальної зміній у середені функції оскільки при спробі зробити це ви отримате помилку,  </a:t>
            </a:r>
          </a:p>
          <a:p>
            <a:r>
              <a:rPr lang="uk-UA" baseline="0" dirty="0"/>
              <a:t>Проте ви можете не переживати за це якщо ви цій змінні присвоюєте нове значення, оскільки в цьому випадку буде створена локальна зміна.</a:t>
            </a:r>
          </a:p>
          <a:p>
            <a:r>
              <a:rPr lang="uk-UA" baseline="0" dirty="0"/>
              <a:t>Яка не буде звязана з глобальною</a:t>
            </a:r>
            <a:r>
              <a:rPr lang="en-US" baseline="0" dirty="0"/>
              <a:t>, </a:t>
            </a:r>
            <a:r>
              <a:rPr lang="uk-UA" baseline="0" dirty="0"/>
              <a:t>а це будк всього лиш локальна зміна яка ніяк не вплине на глобальну.</a:t>
            </a:r>
          </a:p>
          <a:p>
            <a:endParaRPr lang="uk-UA" baseline="0" dirty="0"/>
          </a:p>
          <a:p>
            <a:r>
              <a:rPr lang="uk-UA" baseline="0" dirty="0"/>
              <a:t>Давайте розглянемо останій приклад на якому, це все буде предемонстровано.</a:t>
            </a:r>
          </a:p>
          <a:p>
            <a:r>
              <a:rPr lang="uk-UA" dirty="0"/>
              <a:t>Як бачимо у нас є глобальна змінна </a:t>
            </a:r>
            <a:r>
              <a:rPr lang="en-US" dirty="0"/>
              <a:t>total</a:t>
            </a:r>
            <a:r>
              <a:rPr lang="uk-UA" dirty="0"/>
              <a:t>,</a:t>
            </a:r>
            <a:r>
              <a:rPr lang="uk-UA" baseline="0" dirty="0"/>
              <a:t> якій ми зразуж присвоюємо значення ноль,</a:t>
            </a:r>
          </a:p>
          <a:p>
            <a:r>
              <a:rPr lang="uk-UA" baseline="0" dirty="0"/>
              <a:t>Далі маємо простеньку функцію додавання двох чисел, всередені якої ми створюємо локальну зміну з таким самим імям як і глобальна, </a:t>
            </a:r>
          </a:p>
          <a:p>
            <a:r>
              <a:rPr lang="uk-UA" baseline="0" dirty="0"/>
              <a:t>І присвоюєм їй значення суми двох чисул після чого виводимо це значення і повертаємо його як результат функції.</a:t>
            </a:r>
          </a:p>
          <a:p>
            <a:r>
              <a:rPr lang="uk-UA" baseline="0" dirty="0"/>
              <a:t>Ділі у глобальному просторі викликаємо функцію і зразуж видруковуємо її значення, </a:t>
            </a:r>
          </a:p>
          <a:p>
            <a:r>
              <a:rPr lang="uk-UA" baseline="0" dirty="0"/>
              <a:t>Після чого видруковуємо значення зманої </a:t>
            </a:r>
            <a:r>
              <a:rPr lang="en-US" baseline="0" dirty="0"/>
              <a:t>total</a:t>
            </a:r>
            <a:r>
              <a:rPr lang="uk-UA" baseline="0" dirty="0"/>
              <a:t>.</a:t>
            </a:r>
            <a:endParaRPr lang="en-US" baseline="0" dirty="0"/>
          </a:p>
          <a:p>
            <a:r>
              <a:rPr lang="uk-UA" baseline="0" dirty="0"/>
              <a:t>Результатом даної програми буде три рядки і досить очевидні, </a:t>
            </a:r>
          </a:p>
          <a:p>
            <a:r>
              <a:rPr lang="uk-UA" baseline="0" dirty="0"/>
              <a:t>Перший рядок нам надрукувала функція під час виклику, </a:t>
            </a:r>
          </a:p>
          <a:p>
            <a:r>
              <a:rPr lang="uk-UA" baseline="0" dirty="0"/>
              <a:t>І як бачимо локальна зміна </a:t>
            </a:r>
            <a:r>
              <a:rPr lang="en-US" baseline="0" dirty="0"/>
              <a:t>total</a:t>
            </a:r>
            <a:r>
              <a:rPr lang="uk-UA" baseline="0" dirty="0"/>
              <a:t> мала значення 30 </a:t>
            </a:r>
          </a:p>
          <a:p>
            <a:r>
              <a:rPr lang="uk-UA" baseline="0" dirty="0"/>
              <a:t>наступний радок вивів виклик функції яка повернула значення 30 </a:t>
            </a:r>
          </a:p>
          <a:p>
            <a:r>
              <a:rPr lang="uk-UA" baseline="0" dirty="0"/>
              <a:t>Ну і останій рядок виведеня повернув нам 0, оскільки тут ми доступались до глобальної зміної, яку ніхто не змінював,</a:t>
            </a:r>
          </a:p>
          <a:p>
            <a:r>
              <a:rPr lang="uk-UA" baseline="0" dirty="0"/>
              <a:t>що і показує різницю між областю видимості локальних і глобальних зміних.</a:t>
            </a:r>
          </a:p>
          <a:p>
            <a:endParaRPr lang="uk-UA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87907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Ось і підійшли ми до завершення модулля,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Отож давайте підведемо короткий підсумок того, що ми дізналися.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дізналиь ми немало,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Вияснили як і для чого варто використовувати функції, та які проблеми вирішує їх використання.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Розглянули конструкцію оголошення функції,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Вияснили яких типів бувають параметри/аргументи функції,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 та що вони можуть повертати у тих чи інших випадках.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 вияснили що таке область видимості зміних та яка різниця між локальними та глобальними зміними.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uk-UA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uk-UA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 і все. Дякую за увагу і до зустрічі у наступних модулях.</a:t>
            </a:r>
          </a:p>
          <a:p>
            <a:endParaRPr lang="uk-U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6DE06-F3D2-4967-9E42-1EE18725EA77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166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88723" y="2701639"/>
            <a:ext cx="7631084" cy="173103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defRPr sz="6500" baseline="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65 </a:t>
            </a:r>
            <a:r>
              <a:rPr lang="en-US" dirty="0" err="1"/>
              <a:t>pt</a:t>
            </a:r>
            <a:endParaRPr lang="uk-UA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88725" y="1963226"/>
            <a:ext cx="8969433" cy="4545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add Subtitle 30pt</a:t>
            </a:r>
            <a:endParaRPr lang="uk-UA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050" y="271780"/>
            <a:ext cx="11645900" cy="68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3461" y="5302608"/>
            <a:ext cx="2923244" cy="121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01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11"/>
          <p:cNvSpPr>
            <a:spLocks noGrp="1"/>
          </p:cNvSpPr>
          <p:nvPr>
            <p:ph type="pic" sz="quarter" idx="10"/>
          </p:nvPr>
        </p:nvSpPr>
        <p:spPr>
          <a:xfrm>
            <a:off x="263530" y="1233488"/>
            <a:ext cx="11664391" cy="5364162"/>
          </a:xfrm>
          <a:prstGeom prst="rect">
            <a:avLst/>
          </a:prstGeom>
        </p:spPr>
        <p:txBody>
          <a:bodyPr/>
          <a:lstStyle/>
          <a:p>
            <a:endParaRPr lang="uk-UA" dirty="0"/>
          </a:p>
        </p:txBody>
      </p:sp>
      <p:sp>
        <p:nvSpPr>
          <p:cNvPr id="8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88725" y="4741589"/>
            <a:ext cx="8969433" cy="4545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add Subtitle 30pt</a:t>
            </a:r>
            <a:endParaRPr lang="uk-UA" dirty="0"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88723" y="5434552"/>
            <a:ext cx="10741340" cy="9247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defRPr sz="65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65 </a:t>
            </a:r>
            <a:r>
              <a:rPr lang="en-US" dirty="0" err="1"/>
              <a:t>pt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9433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25" y="1233488"/>
            <a:ext cx="11686056" cy="5364162"/>
          </a:xfrm>
          <a:prstGeom prst="rect">
            <a:avLst/>
          </a:prstGeom>
        </p:spPr>
      </p:pic>
      <p:sp>
        <p:nvSpPr>
          <p:cNvPr id="8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88726" y="1972753"/>
            <a:ext cx="8969433" cy="4545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add subtitle 30pt</a:t>
            </a:r>
            <a:endParaRPr lang="uk-UA" dirty="0"/>
          </a:p>
        </p:txBody>
      </p:sp>
      <p:sp>
        <p:nvSpPr>
          <p:cNvPr id="6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88723" y="2701639"/>
            <a:ext cx="7631084" cy="173103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65 </a:t>
            </a:r>
            <a:r>
              <a:rPr lang="en-US" dirty="0" err="1"/>
              <a:t>pt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6171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263531" y="1233498"/>
            <a:ext cx="11664951" cy="4364007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9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63532" y="5851565"/>
            <a:ext cx="8969433" cy="4545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5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add subtitle 35pt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8723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2202" y="1233488"/>
            <a:ext cx="11355761" cy="52597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12201" y="2034652"/>
            <a:ext cx="113522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1"/>
            <a:r>
              <a:rPr lang="en-US" dirty="0"/>
              <a:t>Second level</a:t>
            </a:r>
            <a:endParaRPr lang="ru-RU" dirty="0"/>
          </a:p>
          <a:p>
            <a:pPr lvl="2"/>
            <a:r>
              <a:rPr lang="en-US" dirty="0"/>
              <a:t>Third level</a:t>
            </a:r>
            <a:endParaRPr lang="ru-RU" dirty="0"/>
          </a:p>
          <a:p>
            <a:pPr lvl="3"/>
            <a:r>
              <a:rPr lang="en-US" dirty="0"/>
              <a:t>Fourth level</a:t>
            </a:r>
            <a:endParaRPr lang="ru-RU" dirty="0"/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068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2202" y="1233488"/>
            <a:ext cx="11355761" cy="52597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0" hasCustomPrompt="1"/>
          </p:nvPr>
        </p:nvSpPr>
        <p:spPr>
          <a:xfrm>
            <a:off x="412202" y="2033697"/>
            <a:ext cx="11517861" cy="4563953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accent4"/>
              </a:buClr>
              <a:buFontTx/>
              <a:buNone/>
              <a:defRPr sz="2200"/>
            </a:lvl1pPr>
            <a:lvl2pPr marL="685750" indent="-228584">
              <a:buClr>
                <a:schemeClr val="bg2"/>
              </a:buClr>
              <a:buFont typeface="Tahoma" panose="020B0604030504040204" pitchFamily="34" charset="0"/>
              <a:buChar char="▪"/>
              <a:defRPr sz="2200"/>
            </a:lvl2pPr>
            <a:lvl3pPr marL="1142914" indent="-228584">
              <a:buClr>
                <a:schemeClr val="bg2"/>
              </a:buClr>
              <a:buFont typeface="Tahoma" panose="020B0604030504040204" pitchFamily="34" charset="0"/>
              <a:buChar char="-"/>
              <a:defRPr sz="2200"/>
            </a:lvl3pPr>
            <a:lvl4pPr marL="1600080" indent="-228584"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46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2202" y="1233488"/>
            <a:ext cx="11346033" cy="52597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Таблица 2"/>
          <p:cNvSpPr>
            <a:spLocks noGrp="1"/>
          </p:cNvSpPr>
          <p:nvPr>
            <p:ph type="tbl" sz="quarter" idx="10"/>
          </p:nvPr>
        </p:nvSpPr>
        <p:spPr>
          <a:xfrm>
            <a:off x="412202" y="2031338"/>
            <a:ext cx="11517861" cy="4545012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404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2203" y="1231207"/>
            <a:ext cx="5536880" cy="63716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412203" y="2221356"/>
            <a:ext cx="5539336" cy="43762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6240463" y="1233488"/>
            <a:ext cx="5688013" cy="5364162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02040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agr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2202" y="1233488"/>
            <a:ext cx="5539337" cy="637162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0"/>
          </p:nvPr>
        </p:nvSpPr>
        <p:spPr>
          <a:xfrm>
            <a:off x="6240463" y="1233488"/>
            <a:ext cx="5688019" cy="5364162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  <p:sp>
        <p:nvSpPr>
          <p:cNvPr id="6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412203" y="2221356"/>
            <a:ext cx="5539336" cy="43762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651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contacts 0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8727" y="2132233"/>
            <a:ext cx="9883536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500"/>
            </a:lvl1pPr>
          </a:lstStyle>
          <a:p>
            <a:endParaRPr lang="uk-U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3050" y="271780"/>
            <a:ext cx="11645900" cy="685800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951551" y="5001138"/>
            <a:ext cx="7381835" cy="1477328"/>
          </a:xfrm>
          <a:prstGeom prst="rect">
            <a:avLst/>
          </a:prstGeom>
          <a:noFill/>
        </p:spPr>
        <p:txBody>
          <a:bodyPr wrap="square" numCol="4" spcCol="14400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USA HQ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Toll Free: 866-687-3588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+1-512-516-8880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Ukraine HQ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+380-32-240-9090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Bulgaria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+359-2-902-3760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Germany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+49-69-2602-5857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Netherlands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+31-20-262-33-23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Poland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+48-71-382-2800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UK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+44-207-544-8414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EMAIL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info@softserveinc.com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WEBSITE: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www.softserveinc.com</a:t>
            </a:r>
            <a:endParaRPr kumimoji="0" lang="uk-UA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685392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 contacts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263531" y="4834657"/>
            <a:ext cx="11664951" cy="176300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uk-UA" sz="1800"/>
          </a:p>
        </p:txBody>
      </p:sp>
      <p:sp>
        <p:nvSpPr>
          <p:cNvPr id="5" name="Заголовок 1"/>
          <p:cNvSpPr>
            <a:spLocks noGrp="1"/>
          </p:cNvSpPr>
          <p:nvPr>
            <p:ph type="title"/>
          </p:nvPr>
        </p:nvSpPr>
        <p:spPr>
          <a:xfrm>
            <a:off x="1268727" y="2132233"/>
            <a:ext cx="9883536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500"/>
            </a:lvl1pPr>
          </a:lstStyle>
          <a:p>
            <a:endParaRPr lang="uk-UA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951551" y="5001138"/>
            <a:ext cx="7381835" cy="1477328"/>
          </a:xfrm>
          <a:prstGeom prst="rect">
            <a:avLst/>
          </a:prstGeom>
          <a:noFill/>
        </p:spPr>
        <p:txBody>
          <a:bodyPr wrap="square" numCol="4" spcCol="14400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USA HQ</a:t>
            </a:r>
            <a:b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Toll Free: 866-687-3588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+1-512-516-8880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Ukraine HQ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+380-32-240-9090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Bulgaria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+359-2-902-3760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Germany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+49-69-2602-5857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Netherlands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+31-20-262-33-23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Poland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+48-71-382-2800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UK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Tel: +44-207-544-8414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EMAIL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info@softserveinc.com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WEBSITE: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/>
            </a:r>
            <a:b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www.softserveinc.com</a:t>
            </a:r>
            <a:endParaRPr kumimoji="0" lang="uk-UA" sz="1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5534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6560" y="343778"/>
            <a:ext cx="11511915" cy="525970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6" name="Текст 2"/>
          <p:cNvSpPr>
            <a:spLocks noGrp="1"/>
          </p:cNvSpPr>
          <p:nvPr>
            <p:ph idx="1"/>
          </p:nvPr>
        </p:nvSpPr>
        <p:spPr>
          <a:xfrm>
            <a:off x="416560" y="1232043"/>
            <a:ext cx="11369040" cy="3361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1"/>
            <a:r>
              <a:rPr lang="en-US" dirty="0"/>
              <a:t>Second level</a:t>
            </a:r>
            <a:endParaRPr lang="ru-RU" dirty="0"/>
          </a:p>
          <a:p>
            <a:pPr lvl="2"/>
            <a:r>
              <a:rPr lang="en-US" dirty="0"/>
              <a:t>Third level</a:t>
            </a:r>
            <a:endParaRPr lang="ru-RU" dirty="0"/>
          </a:p>
          <a:p>
            <a:pPr lvl="3"/>
            <a:r>
              <a:rPr lang="en-US" dirty="0"/>
              <a:t>Fourth level</a:t>
            </a:r>
            <a:endParaRPr lang="ru-RU" dirty="0"/>
          </a:p>
          <a:p>
            <a:pPr lvl="4"/>
            <a:r>
              <a:rPr lang="en-US" dirty="0"/>
              <a:t>Fifth</a:t>
            </a:r>
            <a:r>
              <a:rPr lang="ru-RU" dirty="0"/>
              <a:t> </a:t>
            </a:r>
            <a:r>
              <a:rPr lang="en-US" dirty="0"/>
              <a:t>level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41052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sz="quarter" idx="10" hasCustomPrompt="1"/>
          </p:nvPr>
        </p:nvSpPr>
        <p:spPr>
          <a:xfrm>
            <a:off x="416561" y="1233488"/>
            <a:ext cx="11513504" cy="3425825"/>
          </a:xfrm>
        </p:spPr>
        <p:txBody>
          <a:bodyPr/>
          <a:lstStyle>
            <a:lvl1pPr marL="0" indent="0">
              <a:buClr>
                <a:schemeClr val="accent4"/>
              </a:buClr>
              <a:buFontTx/>
              <a:buNone/>
              <a:defRPr sz="2200"/>
            </a:lvl1pPr>
            <a:lvl2pPr marL="685750" indent="-228584">
              <a:buClr>
                <a:schemeClr val="bg2"/>
              </a:buClr>
              <a:buFont typeface="Tahoma" panose="020B0604030504040204" pitchFamily="34" charset="0"/>
              <a:buChar char="▪"/>
              <a:defRPr sz="2200"/>
            </a:lvl2pPr>
            <a:lvl3pPr marL="1142914" indent="-228584">
              <a:buClr>
                <a:schemeClr val="bg2"/>
              </a:buClr>
              <a:buFont typeface="Tahoma" panose="020B0604030504040204" pitchFamily="34" charset="0"/>
              <a:buChar char="-"/>
              <a:defRPr sz="2200"/>
            </a:lvl3pPr>
            <a:lvl4pPr marL="1600080" indent="-228584"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/>
            </a:lvl4pPr>
            <a:lvl5pPr>
              <a:defRPr sz="2200"/>
            </a:lvl5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6560" y="343778"/>
            <a:ext cx="11511915" cy="525970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22664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аблица 2"/>
          <p:cNvSpPr>
            <a:spLocks noGrp="1"/>
          </p:cNvSpPr>
          <p:nvPr>
            <p:ph type="tbl" sz="quarter" idx="10"/>
          </p:nvPr>
        </p:nvSpPr>
        <p:spPr>
          <a:xfrm>
            <a:off x="416560" y="1233488"/>
            <a:ext cx="11513503" cy="4391025"/>
          </a:xfrm>
        </p:spPr>
        <p:txBody>
          <a:bodyPr/>
          <a:lstStyle/>
          <a:p>
            <a:endParaRPr lang="uk-UA"/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6560" y="343778"/>
            <a:ext cx="11511915" cy="525970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990866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412451" y="1464898"/>
            <a:ext cx="4786022" cy="4159615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5999" cy="6858000"/>
          </a:xfrm>
        </p:spPr>
        <p:txBody>
          <a:bodyPr/>
          <a:lstStyle/>
          <a:p>
            <a:endParaRPr lang="uk-UA"/>
          </a:p>
        </p:txBody>
      </p:sp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5435" y="343778"/>
            <a:ext cx="4772878" cy="525970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04527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diagram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414145" y="1233488"/>
            <a:ext cx="4728944" cy="4391025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  <a:endParaRPr lang="ru-RU" dirty="0"/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0"/>
          </p:nvPr>
        </p:nvSpPr>
        <p:spPr>
          <a:xfrm>
            <a:off x="6240463" y="260350"/>
            <a:ext cx="5688019" cy="5364163"/>
          </a:xfrm>
        </p:spPr>
        <p:txBody>
          <a:bodyPr/>
          <a:lstStyle/>
          <a:p>
            <a:endParaRPr lang="uk-UA"/>
          </a:p>
        </p:txBody>
      </p:sp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4146" y="345774"/>
            <a:ext cx="4728944" cy="525970"/>
          </a:xfrm>
        </p:spPr>
        <p:txBody>
          <a:bodyPr>
            <a:noAutofit/>
          </a:bodyPr>
          <a:lstStyle>
            <a:lvl1pPr>
              <a:defRPr sz="3500"/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49257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46118" y="5848096"/>
            <a:ext cx="10515600" cy="52597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3600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12202" y="1268760"/>
            <a:ext cx="11352277" cy="460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412201" y="2168332"/>
            <a:ext cx="113522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1"/>
            <a:r>
              <a:rPr lang="en-US" dirty="0"/>
              <a:t>Second level</a:t>
            </a:r>
            <a:endParaRPr lang="ru-RU" dirty="0"/>
          </a:p>
          <a:p>
            <a:pPr lvl="2"/>
            <a:r>
              <a:rPr lang="en-US" dirty="0"/>
              <a:t>Third level</a:t>
            </a:r>
            <a:endParaRPr lang="ru-RU" dirty="0"/>
          </a:p>
          <a:p>
            <a:pPr lvl="3"/>
            <a:r>
              <a:rPr lang="en-US" dirty="0"/>
              <a:t>Fourth level</a:t>
            </a:r>
            <a:endParaRPr lang="ru-RU" dirty="0"/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73050" y="271780"/>
            <a:ext cx="116459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2" r:id="rId3"/>
    <p:sldLayoutId id="2147483651" r:id="rId4"/>
    <p:sldLayoutId id="2147483654" r:id="rId5"/>
    <p:sldLayoutId id="2147483675" r:id="rId6"/>
    <p:sldLayoutId id="2147483655" r:id="rId7"/>
    <p:sldLayoutId id="2147483656" r:id="rId8"/>
    <p:sldLayoutId id="2147483674" r:id="rId9"/>
    <p:sldLayoutId id="2147483658" r:id="rId10"/>
    <p:sldLayoutId id="2147483673" r:id="rId11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66">
          <p15:clr>
            <a:srgbClr val="F26B43"/>
          </p15:clr>
        </p15:guide>
        <p15:guide id="2" pos="7515">
          <p15:clr>
            <a:srgbClr val="F26B43"/>
          </p15:clr>
        </p15:guide>
        <p15:guide id="3" orient="horz" pos="4156">
          <p15:clr>
            <a:srgbClr val="F26B43"/>
          </p15:clr>
        </p15:guide>
        <p15:guide id="4" orient="horz" pos="164">
          <p15:clr>
            <a:srgbClr val="F26B43"/>
          </p15:clr>
        </p15:guide>
        <p15:guide id="5" pos="847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595">
          <p15:clr>
            <a:srgbClr val="F26B43"/>
          </p15:clr>
        </p15:guide>
        <p15:guide id="8" pos="3749">
          <p15:clr>
            <a:srgbClr val="F26B43"/>
          </p15:clr>
        </p15:guide>
        <p15:guide id="9" pos="39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6560" y="131308"/>
            <a:ext cx="11330708" cy="9177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  <a:endParaRPr lang="uk-UA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16560" y="1160923"/>
            <a:ext cx="11330708" cy="3361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add text</a:t>
            </a:r>
            <a:endParaRPr lang="ru-RU" dirty="0"/>
          </a:p>
          <a:p>
            <a:pPr lvl="1"/>
            <a:r>
              <a:rPr lang="en-US" dirty="0"/>
              <a:t>Second level</a:t>
            </a:r>
            <a:endParaRPr lang="ru-RU" dirty="0"/>
          </a:p>
          <a:p>
            <a:pPr lvl="2"/>
            <a:r>
              <a:rPr lang="en-US" dirty="0"/>
              <a:t>Third level</a:t>
            </a:r>
            <a:endParaRPr lang="ru-RU" dirty="0"/>
          </a:p>
          <a:p>
            <a:pPr lvl="3"/>
            <a:r>
              <a:rPr lang="en-US" dirty="0"/>
              <a:t>Fourth level</a:t>
            </a:r>
            <a:endParaRPr lang="ru-RU" dirty="0"/>
          </a:p>
          <a:p>
            <a:pPr lvl="4"/>
            <a:r>
              <a:rPr lang="en-US" dirty="0"/>
              <a:t>Fifth</a:t>
            </a:r>
            <a:r>
              <a:rPr lang="ru-RU" dirty="0"/>
              <a:t> </a:t>
            </a:r>
            <a:r>
              <a:rPr lang="en-US" dirty="0"/>
              <a:t>level</a:t>
            </a:r>
            <a:endParaRPr lang="uk-UA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63550" y="6031830"/>
            <a:ext cx="2878557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1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67">
          <p15:clr>
            <a:srgbClr val="F26B43"/>
          </p15:clr>
        </p15:guide>
        <p15:guide id="2" pos="7515">
          <p15:clr>
            <a:srgbClr val="F26B43"/>
          </p15:clr>
        </p15:guide>
        <p15:guide id="3" orient="horz" pos="4156">
          <p15:clr>
            <a:srgbClr val="F26B43"/>
          </p15:clr>
        </p15:guide>
        <p15:guide id="4" orient="horz" pos="164">
          <p15:clr>
            <a:srgbClr val="F26B43"/>
          </p15:clr>
        </p15:guide>
        <p15:guide id="5" pos="847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595">
          <p15:clr>
            <a:srgbClr val="F26B43"/>
          </p15:clr>
        </p15:guide>
        <p15:guide id="0" orient="horz" pos="3725" userDrawn="1">
          <p15:clr>
            <a:srgbClr val="F26B43"/>
          </p15:clr>
        </p15:guide>
        <p15:guide id="8" orient="horz" pos="3543" userDrawn="1">
          <p15:clr>
            <a:srgbClr val="F26B43"/>
          </p15:clr>
        </p15:guide>
        <p15:guide id="9" pos="3749" userDrawn="1">
          <p15:clr>
            <a:srgbClr val="F26B43"/>
          </p15:clr>
        </p15:guide>
        <p15:guide id="10" pos="3931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265113" y="5624513"/>
            <a:ext cx="11664950" cy="990455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add title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3377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67">
          <p15:clr>
            <a:srgbClr val="F26B43"/>
          </p15:clr>
        </p15:guide>
        <p15:guide id="2" pos="7515">
          <p15:clr>
            <a:srgbClr val="F26B43"/>
          </p15:clr>
        </p15:guide>
        <p15:guide id="3" orient="horz" pos="4156">
          <p15:clr>
            <a:srgbClr val="F26B43"/>
          </p15:clr>
        </p15:guide>
        <p15:guide id="4" orient="horz" pos="164">
          <p15:clr>
            <a:srgbClr val="F26B43"/>
          </p15:clr>
        </p15:guide>
        <p15:guide id="5" pos="847">
          <p15:clr>
            <a:srgbClr val="F26B43"/>
          </p15:clr>
        </p15:guide>
        <p15:guide id="6" orient="horz" pos="777">
          <p15:clr>
            <a:srgbClr val="F26B43"/>
          </p15:clr>
        </p15:guide>
        <p15:guide id="7" orient="horz" pos="595">
          <p15:clr>
            <a:srgbClr val="F26B43"/>
          </p15:clr>
        </p15:guide>
        <p15:guide id="8" orient="horz" pos="3748" userDrawn="1">
          <p15:clr>
            <a:srgbClr val="F26B43"/>
          </p15:clr>
        </p15:guide>
        <p15:guide id="9" orient="horz" pos="35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188723" y="2701639"/>
            <a:ext cx="9518070" cy="1731039"/>
          </a:xfrm>
        </p:spPr>
        <p:txBody>
          <a:bodyPr anchor="t">
            <a:normAutofit/>
          </a:bodyPr>
          <a:lstStyle/>
          <a:p>
            <a:r>
              <a:rPr lang="en-US" dirty="0"/>
              <a:t>Function</a:t>
            </a:r>
            <a:endParaRPr lang="uk-UA" dirty="0"/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5514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037" y="800100"/>
            <a:ext cx="1006792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12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672012"/>
          </a:xfrm>
        </p:spPr>
        <p:txBody>
          <a:bodyPr>
            <a:normAutofit/>
          </a:bodyPr>
          <a:lstStyle/>
          <a:p>
            <a:r>
              <a:rPr lang="en-US" dirty="0"/>
              <a:t>def </a:t>
            </a:r>
            <a:r>
              <a:rPr lang="en-US" dirty="0" err="1"/>
              <a:t>my_print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):</a:t>
            </a:r>
          </a:p>
          <a:p>
            <a:r>
              <a:rPr lang="en-US" dirty="0"/>
              <a:t>    print </a:t>
            </a:r>
            <a:r>
              <a:rPr lang="en-US" dirty="0" err="1"/>
              <a:t>str</a:t>
            </a:r>
            <a:endParaRPr lang="en-US" dirty="0"/>
          </a:p>
          <a:p>
            <a:endParaRPr lang="en-US" dirty="0"/>
          </a:p>
          <a:p>
            <a:r>
              <a:rPr lang="en-US" dirty="0"/>
              <a:t># Now you can call </a:t>
            </a:r>
            <a:r>
              <a:rPr lang="en-US" dirty="0" err="1"/>
              <a:t>printme</a:t>
            </a:r>
            <a:r>
              <a:rPr lang="en-US" dirty="0"/>
              <a:t> function</a:t>
            </a:r>
          </a:p>
          <a:p>
            <a:r>
              <a:rPr lang="en-US" dirty="0" err="1"/>
              <a:t>my_print</a:t>
            </a:r>
            <a:r>
              <a:rPr lang="en-US" dirty="0"/>
              <a:t>("first call function!")</a:t>
            </a:r>
          </a:p>
          <a:p>
            <a:r>
              <a:rPr lang="en-US" dirty="0" err="1"/>
              <a:t>my_print</a:t>
            </a:r>
            <a:r>
              <a:rPr lang="en-US" dirty="0"/>
              <a:t>("second call to the same function")</a:t>
            </a:r>
          </a:p>
          <a:p>
            <a:endParaRPr lang="en-US" dirty="0"/>
          </a:p>
          <a:p>
            <a:r>
              <a:rPr lang="en-US" dirty="0"/>
              <a:t>&gt;&gt; first call function!</a:t>
            </a:r>
          </a:p>
          <a:p>
            <a:r>
              <a:rPr lang="en-US" dirty="0"/>
              <a:t>&gt;&gt; second call to the same function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a Function</a:t>
            </a:r>
          </a:p>
        </p:txBody>
      </p:sp>
    </p:spTree>
    <p:extLst>
      <p:ext uri="{BB962C8B-B14F-4D97-AF65-F5344CB8AC3E}">
        <p14:creationId xmlns:p14="http://schemas.microsoft.com/office/powerpoint/2010/main" val="3007764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5717539" cy="4519612"/>
          </a:xfrm>
        </p:spPr>
        <p:txBody>
          <a:bodyPr>
            <a:normAutofit/>
          </a:bodyPr>
          <a:lstStyle/>
          <a:p>
            <a:r>
              <a:rPr lang="en-US" dirty="0"/>
              <a:t>def change (</a:t>
            </a:r>
            <a:r>
              <a:rPr lang="en-US" dirty="0" err="1"/>
              <a:t>mylist</a:t>
            </a:r>
            <a:r>
              <a:rPr lang="en-US" dirty="0"/>
              <a:t>):</a:t>
            </a:r>
          </a:p>
          <a:p>
            <a:r>
              <a:rPr lang="en-US" dirty="0"/>
              <a:t>    </a:t>
            </a:r>
            <a:r>
              <a:rPr lang="en-US" dirty="0" err="1"/>
              <a:t>mylist.append</a:t>
            </a:r>
            <a:r>
              <a:rPr lang="en-US" dirty="0"/>
              <a:t>([1, 2, 3, 4])</a:t>
            </a:r>
          </a:p>
          <a:p>
            <a:r>
              <a:rPr lang="en-US" dirty="0"/>
              <a:t>    print "Values inside the function: ", </a:t>
            </a:r>
            <a:r>
              <a:rPr lang="en-US" dirty="0" err="1"/>
              <a:t>mylist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mylist</a:t>
            </a:r>
            <a:r>
              <a:rPr lang="en-US" dirty="0"/>
              <a:t> = [10, 20, 30]</a:t>
            </a:r>
          </a:p>
          <a:p>
            <a:r>
              <a:rPr lang="en-US" dirty="0"/>
              <a:t>change (</a:t>
            </a:r>
            <a:r>
              <a:rPr lang="en-US" dirty="0" err="1"/>
              <a:t>mylist</a:t>
            </a:r>
            <a:r>
              <a:rPr lang="en-US" dirty="0"/>
              <a:t>)</a:t>
            </a:r>
          </a:p>
          <a:p>
            <a:r>
              <a:rPr lang="en-US" dirty="0"/>
              <a:t>print "Values outside the function: ", </a:t>
            </a:r>
            <a:r>
              <a:rPr lang="en-US" dirty="0" err="1"/>
              <a:t>mylist</a:t>
            </a:r>
            <a:endParaRPr lang="en-US" dirty="0"/>
          </a:p>
          <a:p>
            <a:endParaRPr lang="en-US" dirty="0"/>
          </a:p>
          <a:p>
            <a:r>
              <a:rPr lang="en-US" sz="1700" dirty="0"/>
              <a:t>&gt;&gt; Values inside the function:  [10, 20, 30, [1, 2, 3, 4]]</a:t>
            </a:r>
          </a:p>
          <a:p>
            <a:r>
              <a:rPr lang="en-US" sz="1700" dirty="0"/>
              <a:t>&gt;&gt; Values outside the function:  [10, 20, 30, [1, 2, 3, 4]]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by reference vs value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6134100" y="1233488"/>
            <a:ext cx="5794375" cy="4519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-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def change (</a:t>
            </a:r>
            <a:r>
              <a:rPr lang="en-US" sz="1600" dirty="0" err="1"/>
              <a:t>mylist</a:t>
            </a:r>
            <a:r>
              <a:rPr lang="en-US" sz="1600" dirty="0"/>
              <a:t>):</a:t>
            </a:r>
          </a:p>
          <a:p>
            <a:r>
              <a:rPr lang="en-US" sz="1600" dirty="0"/>
              <a:t>    print "Value inside the function before the change: ", </a:t>
            </a:r>
            <a:r>
              <a:rPr lang="en-US" sz="1600" dirty="0" err="1"/>
              <a:t>mylist</a:t>
            </a:r>
            <a:endParaRPr lang="en-US" sz="1600" dirty="0"/>
          </a:p>
          <a:p>
            <a:r>
              <a:rPr lang="en-US" sz="1600" dirty="0"/>
              <a:t>    </a:t>
            </a:r>
            <a:r>
              <a:rPr lang="en-US" sz="1600" dirty="0" err="1"/>
              <a:t>mylist</a:t>
            </a:r>
            <a:r>
              <a:rPr lang="en-US" sz="1600" dirty="0"/>
              <a:t> = [1, 2, 3, 4]</a:t>
            </a:r>
          </a:p>
          <a:p>
            <a:r>
              <a:rPr lang="en-US" sz="1600" dirty="0"/>
              <a:t>    print "Value inside the function after the change: ", </a:t>
            </a:r>
            <a:r>
              <a:rPr lang="en-US" sz="1600" dirty="0" err="1"/>
              <a:t>mylist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mylist</a:t>
            </a:r>
            <a:r>
              <a:rPr lang="en-US" sz="1600" dirty="0"/>
              <a:t> = [10, 20, 30]</a:t>
            </a:r>
          </a:p>
          <a:p>
            <a:r>
              <a:rPr lang="en-US" sz="1600" dirty="0"/>
              <a:t>change (</a:t>
            </a:r>
            <a:r>
              <a:rPr lang="en-US" sz="1600" dirty="0" err="1"/>
              <a:t>mylist</a:t>
            </a:r>
            <a:r>
              <a:rPr lang="en-US" sz="1600" dirty="0"/>
              <a:t>)</a:t>
            </a:r>
          </a:p>
          <a:p>
            <a:r>
              <a:rPr lang="en-US" sz="1600" dirty="0"/>
              <a:t>print "Values outside the function: ", </a:t>
            </a:r>
            <a:r>
              <a:rPr lang="en-US" sz="1600" dirty="0" err="1"/>
              <a:t>mylist</a:t>
            </a:r>
            <a:endParaRPr lang="en-US" sz="1600" dirty="0"/>
          </a:p>
          <a:p>
            <a:endParaRPr lang="en-US" sz="2400" dirty="0"/>
          </a:p>
          <a:p>
            <a:r>
              <a:rPr lang="en-US" sz="1600" dirty="0"/>
              <a:t>&gt;&gt; Value inside the function before the change:  [10, 20, 30]</a:t>
            </a:r>
          </a:p>
          <a:p>
            <a:r>
              <a:rPr lang="en-US" sz="1600" dirty="0"/>
              <a:t>&gt;&gt; Value inside the function after the change::  [1, 2, 3, 4]</a:t>
            </a:r>
          </a:p>
          <a:p>
            <a:r>
              <a:rPr lang="en-US" sz="1600" dirty="0"/>
              <a:t>&gt;&gt; Values outside the function:  [10, 20, 30]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94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462462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Required arguments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Keyword arguments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Default arguments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Variable-length arguments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Arguments</a:t>
            </a:r>
          </a:p>
        </p:txBody>
      </p:sp>
    </p:spTree>
    <p:extLst>
      <p:ext uri="{BB962C8B-B14F-4D97-AF65-F5344CB8AC3E}">
        <p14:creationId xmlns:p14="http://schemas.microsoft.com/office/powerpoint/2010/main" val="220794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4041139" cy="3425825"/>
          </a:xfrm>
        </p:spPr>
        <p:txBody>
          <a:bodyPr/>
          <a:lstStyle/>
          <a:p>
            <a:r>
              <a:rPr lang="en-US" dirty="0"/>
              <a:t>def </a:t>
            </a:r>
            <a:r>
              <a:rPr lang="en-US" dirty="0" err="1"/>
              <a:t>my_print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):</a:t>
            </a:r>
          </a:p>
          <a:p>
            <a:r>
              <a:rPr lang="en-US" dirty="0"/>
              <a:t>    print </a:t>
            </a:r>
            <a:r>
              <a:rPr lang="en-US" dirty="0" err="1"/>
              <a:t>str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my_print</a:t>
            </a:r>
            <a:r>
              <a:rPr lang="en-US" dirty="0"/>
              <a:t>("first call function!")</a:t>
            </a:r>
          </a:p>
          <a:p>
            <a:endParaRPr lang="en-US" dirty="0"/>
          </a:p>
          <a:p>
            <a:r>
              <a:rPr lang="en-US" dirty="0"/>
              <a:t>&gt;&gt; first call function!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Required arguments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4457700" y="1233488"/>
            <a:ext cx="7162800" cy="41576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-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 </a:t>
            </a:r>
            <a:r>
              <a:rPr lang="en-US" dirty="0" err="1"/>
              <a:t>my_print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):</a:t>
            </a:r>
          </a:p>
          <a:p>
            <a:r>
              <a:rPr lang="en-US" dirty="0"/>
              <a:t>    print </a:t>
            </a:r>
            <a:r>
              <a:rPr lang="en-US" dirty="0" err="1"/>
              <a:t>str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my_print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sz="2000" dirty="0"/>
              <a:t>Traceback (most recent call last):</a:t>
            </a:r>
          </a:p>
          <a:p>
            <a:r>
              <a:rPr lang="en-US" sz="2000" dirty="0"/>
              <a:t>  File "temp.py", line 17, in &lt;module&gt;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my_print</a:t>
            </a:r>
            <a:r>
              <a:rPr lang="en-US" sz="2000" dirty="0"/>
              <a:t>()</a:t>
            </a:r>
          </a:p>
          <a:p>
            <a:r>
              <a:rPr lang="en-US" sz="2000" dirty="0" err="1"/>
              <a:t>TypeError</a:t>
            </a:r>
            <a:r>
              <a:rPr lang="en-US" sz="2000" dirty="0"/>
              <a:t>: </a:t>
            </a:r>
            <a:r>
              <a:rPr lang="en-US" sz="2000" dirty="0" err="1"/>
              <a:t>my_print</a:t>
            </a:r>
            <a:r>
              <a:rPr lang="en-US" sz="2000" dirty="0"/>
              <a:t>() takes exactly 1 argument (0 given)</a:t>
            </a:r>
          </a:p>
        </p:txBody>
      </p:sp>
    </p:spTree>
    <p:extLst>
      <p:ext uri="{BB962C8B-B14F-4D97-AF65-F5344CB8AC3E}">
        <p14:creationId xmlns:p14="http://schemas.microsoft.com/office/powerpoint/2010/main" val="115499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6339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print_info</a:t>
            </a:r>
            <a:r>
              <a:rPr lang="en-US" dirty="0"/>
              <a:t>(name, age):</a:t>
            </a:r>
          </a:p>
          <a:p>
            <a:r>
              <a:rPr lang="en-US" dirty="0"/>
              <a:t>    print "Name: ", name</a:t>
            </a:r>
          </a:p>
          <a:p>
            <a:r>
              <a:rPr lang="en-US" dirty="0"/>
              <a:t>    print "Age: ", age</a:t>
            </a:r>
          </a:p>
          <a:p>
            <a:endParaRPr lang="en-US" dirty="0"/>
          </a:p>
          <a:p>
            <a:r>
              <a:rPr lang="en-US" dirty="0" err="1"/>
              <a:t>print_info</a:t>
            </a:r>
            <a:r>
              <a:rPr lang="en-US" dirty="0"/>
              <a:t>(age=30, name="Alex")</a:t>
            </a:r>
          </a:p>
          <a:p>
            <a:r>
              <a:rPr lang="en-US" dirty="0"/>
              <a:t>print "-" * 10</a:t>
            </a:r>
          </a:p>
          <a:p>
            <a:r>
              <a:rPr lang="en-US" dirty="0" err="1"/>
              <a:t>print_info</a:t>
            </a:r>
            <a:r>
              <a:rPr lang="en-US" dirty="0"/>
              <a:t>(30, "Alex")</a:t>
            </a:r>
            <a:endParaRPr lang="uk-UA" dirty="0"/>
          </a:p>
          <a:p>
            <a:endParaRPr lang="en-US" dirty="0"/>
          </a:p>
          <a:p>
            <a:r>
              <a:rPr lang="en-US" dirty="0"/>
              <a:t>&gt;&gt; Name:  Alex</a:t>
            </a:r>
          </a:p>
          <a:p>
            <a:r>
              <a:rPr lang="en-US" dirty="0"/>
              <a:t>&gt;&gt; Age:  30</a:t>
            </a:r>
          </a:p>
          <a:p>
            <a:r>
              <a:rPr lang="en-US" dirty="0"/>
              <a:t>&gt;&gt; ----------</a:t>
            </a:r>
          </a:p>
          <a:p>
            <a:r>
              <a:rPr lang="en-US" dirty="0"/>
              <a:t>&gt;&gt; Name:  30</a:t>
            </a:r>
          </a:p>
          <a:p>
            <a:r>
              <a:rPr lang="en-US" dirty="0"/>
              <a:t>&gt;&gt; Age:  Alex30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Keyword arguments</a:t>
            </a:r>
          </a:p>
        </p:txBody>
      </p:sp>
    </p:spTree>
    <p:extLst>
      <p:ext uri="{BB962C8B-B14F-4D97-AF65-F5344CB8AC3E}">
        <p14:creationId xmlns:p14="http://schemas.microsoft.com/office/powerpoint/2010/main" val="4199115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63391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def </a:t>
            </a:r>
            <a:r>
              <a:rPr lang="en-US" dirty="0" err="1"/>
              <a:t>print_info</a:t>
            </a:r>
            <a:r>
              <a:rPr lang="en-US" dirty="0"/>
              <a:t>(name, age=18):</a:t>
            </a:r>
          </a:p>
          <a:p>
            <a:r>
              <a:rPr lang="en-US" dirty="0"/>
              <a:t>    print "Name: ", name</a:t>
            </a:r>
          </a:p>
          <a:p>
            <a:r>
              <a:rPr lang="en-US" dirty="0"/>
              <a:t>    print "Age: ", age</a:t>
            </a:r>
          </a:p>
          <a:p>
            <a:endParaRPr lang="en-US" dirty="0"/>
          </a:p>
          <a:p>
            <a:r>
              <a:rPr lang="en-US" dirty="0" err="1"/>
              <a:t>print_info</a:t>
            </a:r>
            <a:r>
              <a:rPr lang="en-US" dirty="0"/>
              <a:t>("Alex")</a:t>
            </a:r>
          </a:p>
          <a:p>
            <a:r>
              <a:rPr lang="en-US" dirty="0"/>
              <a:t>print "-" * 10</a:t>
            </a:r>
          </a:p>
          <a:p>
            <a:r>
              <a:rPr lang="en-US" dirty="0" err="1"/>
              <a:t>print_info</a:t>
            </a:r>
            <a:r>
              <a:rPr lang="en-US" dirty="0"/>
              <a:t>("</a:t>
            </a:r>
            <a:r>
              <a:rPr lang="en-US" dirty="0" err="1"/>
              <a:t>Ogi</a:t>
            </a:r>
            <a:r>
              <a:rPr lang="en-US" dirty="0"/>
              <a:t>", 25)</a:t>
            </a:r>
          </a:p>
          <a:p>
            <a:endParaRPr lang="en-US" dirty="0"/>
          </a:p>
          <a:p>
            <a:r>
              <a:rPr lang="en-US" dirty="0"/>
              <a:t>&gt;&gt; Name:  Alex</a:t>
            </a:r>
          </a:p>
          <a:p>
            <a:r>
              <a:rPr lang="en-US" dirty="0"/>
              <a:t>&gt;&gt; Age:  18</a:t>
            </a:r>
          </a:p>
          <a:p>
            <a:r>
              <a:rPr lang="en-US" dirty="0"/>
              <a:t>&gt;&gt; ----------</a:t>
            </a:r>
          </a:p>
          <a:p>
            <a:r>
              <a:rPr lang="en-US" dirty="0"/>
              <a:t>&gt;&gt; Name:  </a:t>
            </a:r>
            <a:r>
              <a:rPr lang="en-US" dirty="0" err="1"/>
              <a:t>Ogi</a:t>
            </a:r>
            <a:endParaRPr lang="en-US" dirty="0"/>
          </a:p>
          <a:p>
            <a:r>
              <a:rPr lang="en-US" dirty="0"/>
              <a:t>&gt;&gt; Age:  25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arguments</a:t>
            </a:r>
          </a:p>
        </p:txBody>
      </p:sp>
    </p:spTree>
    <p:extLst>
      <p:ext uri="{BB962C8B-B14F-4D97-AF65-F5344CB8AC3E}">
        <p14:creationId xmlns:p14="http://schemas.microsoft.com/office/powerpoint/2010/main" val="1980844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5260339" cy="4538662"/>
          </a:xfrm>
        </p:spPr>
        <p:txBody>
          <a:bodyPr>
            <a:normAutofit/>
          </a:bodyPr>
          <a:lstStyle/>
          <a:p>
            <a:r>
              <a:rPr lang="en-US" dirty="0"/>
              <a:t>def </a:t>
            </a:r>
            <a:r>
              <a:rPr lang="en-US" dirty="0" err="1"/>
              <a:t>print_numbers</a:t>
            </a:r>
            <a:r>
              <a:rPr lang="en-US" dirty="0"/>
              <a:t>(</a:t>
            </a:r>
            <a:r>
              <a:rPr lang="en-US" dirty="0" err="1"/>
              <a:t>arg</a:t>
            </a:r>
            <a:r>
              <a:rPr lang="en-US" dirty="0"/>
              <a:t>, *</a:t>
            </a:r>
            <a:r>
              <a:rPr lang="en-US" dirty="0" err="1"/>
              <a:t>vartuple</a:t>
            </a:r>
            <a:r>
              <a:rPr lang="en-US" dirty="0"/>
              <a:t>):</a:t>
            </a:r>
          </a:p>
          <a:p>
            <a:r>
              <a:rPr lang="en-US" dirty="0"/>
              <a:t>    print "</a:t>
            </a:r>
            <a:r>
              <a:rPr lang="en-US" dirty="0" err="1"/>
              <a:t>arg</a:t>
            </a:r>
            <a:r>
              <a:rPr lang="en-US" dirty="0"/>
              <a:t>: "</a:t>
            </a:r>
          </a:p>
          <a:p>
            <a:r>
              <a:rPr lang="en-US" dirty="0"/>
              <a:t>    print </a:t>
            </a:r>
            <a:r>
              <a:rPr lang="en-US" dirty="0" err="1"/>
              <a:t>arg</a:t>
            </a:r>
            <a:endParaRPr lang="en-US" dirty="0"/>
          </a:p>
          <a:p>
            <a:r>
              <a:rPr lang="en-US" dirty="0"/>
              <a:t>    print "</a:t>
            </a:r>
            <a:r>
              <a:rPr lang="en-US" dirty="0" err="1"/>
              <a:t>vartuple</a:t>
            </a:r>
            <a:r>
              <a:rPr lang="en-US" dirty="0"/>
              <a:t>: "</a:t>
            </a:r>
          </a:p>
          <a:p>
            <a:r>
              <a:rPr lang="en-US" dirty="0"/>
              <a:t>    for </a:t>
            </a:r>
            <a:r>
              <a:rPr lang="en-US" dirty="0" err="1"/>
              <a:t>var</a:t>
            </a:r>
            <a:r>
              <a:rPr lang="en-US" dirty="0"/>
              <a:t> in </a:t>
            </a:r>
            <a:r>
              <a:rPr lang="en-US" dirty="0" err="1"/>
              <a:t>vartuple</a:t>
            </a:r>
            <a:r>
              <a:rPr lang="en-US" dirty="0"/>
              <a:t>:</a:t>
            </a:r>
          </a:p>
          <a:p>
            <a:r>
              <a:rPr lang="en-US" dirty="0"/>
              <a:t>        print </a:t>
            </a:r>
            <a:r>
              <a:rPr lang="en-US" dirty="0" err="1"/>
              <a:t>var</a:t>
            </a:r>
            <a:r>
              <a:rPr lang="en-US" dirty="0"/>
              <a:t>,</a:t>
            </a:r>
          </a:p>
          <a:p>
            <a:endParaRPr lang="en-US" dirty="0"/>
          </a:p>
          <a:p>
            <a:r>
              <a:rPr lang="en-US" dirty="0" err="1"/>
              <a:t>print_numbers</a:t>
            </a:r>
            <a:r>
              <a:rPr lang="en-US" dirty="0"/>
              <a:t>(10)</a:t>
            </a:r>
          </a:p>
          <a:p>
            <a:r>
              <a:rPr lang="en-US" dirty="0"/>
              <a:t>print "-" * 10</a:t>
            </a:r>
          </a:p>
          <a:p>
            <a:r>
              <a:rPr lang="en-US" dirty="0" err="1"/>
              <a:t>print_numbers</a:t>
            </a:r>
            <a:r>
              <a:rPr lang="en-US" dirty="0"/>
              <a:t>(70, 60, 50, 40)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Variable-length arguments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7829550" y="2052638"/>
            <a:ext cx="4098925" cy="3719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-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&gt;&gt; </a:t>
            </a:r>
            <a:r>
              <a:rPr lang="en-US" dirty="0" err="1"/>
              <a:t>arg</a:t>
            </a:r>
            <a:r>
              <a:rPr lang="en-US" dirty="0"/>
              <a:t>: </a:t>
            </a:r>
          </a:p>
          <a:p>
            <a:r>
              <a:rPr lang="en-US" dirty="0"/>
              <a:t>&gt;&gt; 10</a:t>
            </a:r>
          </a:p>
          <a:p>
            <a:r>
              <a:rPr lang="en-US" dirty="0"/>
              <a:t>&gt;&gt; </a:t>
            </a:r>
            <a:r>
              <a:rPr lang="en-US" dirty="0" err="1"/>
              <a:t>vartuple</a:t>
            </a:r>
            <a:r>
              <a:rPr lang="en-US" dirty="0"/>
              <a:t>: </a:t>
            </a:r>
          </a:p>
          <a:p>
            <a:r>
              <a:rPr lang="en-US" dirty="0"/>
              <a:t>&gt;&gt; ----------</a:t>
            </a:r>
          </a:p>
          <a:p>
            <a:r>
              <a:rPr lang="en-US" dirty="0"/>
              <a:t>&gt;&gt; </a:t>
            </a:r>
            <a:r>
              <a:rPr lang="en-US" dirty="0" err="1"/>
              <a:t>arg</a:t>
            </a:r>
            <a:r>
              <a:rPr lang="en-US" dirty="0"/>
              <a:t>: </a:t>
            </a:r>
          </a:p>
          <a:p>
            <a:r>
              <a:rPr lang="en-US" dirty="0"/>
              <a:t>&gt;&gt; 70</a:t>
            </a:r>
          </a:p>
          <a:p>
            <a:r>
              <a:rPr lang="en-US" dirty="0"/>
              <a:t>&gt;&gt; </a:t>
            </a:r>
            <a:r>
              <a:rPr lang="en-US" dirty="0" err="1"/>
              <a:t>vartuple</a:t>
            </a:r>
            <a:r>
              <a:rPr lang="en-US" dirty="0"/>
              <a:t>: </a:t>
            </a:r>
          </a:p>
          <a:p>
            <a:r>
              <a:rPr lang="en-US" dirty="0"/>
              <a:t>&gt;&gt; 60 50 40</a:t>
            </a:r>
          </a:p>
        </p:txBody>
      </p:sp>
    </p:spTree>
    <p:extLst>
      <p:ext uri="{BB962C8B-B14F-4D97-AF65-F5344CB8AC3E}">
        <p14:creationId xmlns:p14="http://schemas.microsoft.com/office/powerpoint/2010/main" val="137294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67201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 </a:t>
            </a:r>
            <a:r>
              <a:rPr lang="en-US" dirty="0" err="1"/>
              <a:t>my_sum</a:t>
            </a:r>
            <a:r>
              <a:rPr lang="en-US" dirty="0"/>
              <a:t>(arg1, arg2):</a:t>
            </a:r>
          </a:p>
          <a:p>
            <a:r>
              <a:rPr lang="en-US" dirty="0"/>
              <a:t>    total = arg1 + arg2</a:t>
            </a:r>
          </a:p>
          <a:p>
            <a:r>
              <a:rPr lang="en-US" dirty="0"/>
              <a:t>    print "Inside the function : ", total</a:t>
            </a:r>
          </a:p>
          <a:p>
            <a:r>
              <a:rPr lang="en-US" dirty="0"/>
              <a:t>    return total</a:t>
            </a:r>
          </a:p>
          <a:p>
            <a:r>
              <a:rPr lang="en-US" dirty="0"/>
              <a:t>    print "After operator the return "</a:t>
            </a:r>
          </a:p>
          <a:p>
            <a:endParaRPr lang="en-US" dirty="0"/>
          </a:p>
          <a:p>
            <a:r>
              <a:rPr lang="en-US" dirty="0" err="1"/>
              <a:t>suma</a:t>
            </a:r>
            <a:r>
              <a:rPr lang="en-US" dirty="0"/>
              <a:t> = </a:t>
            </a:r>
            <a:r>
              <a:rPr lang="en-US" dirty="0" err="1"/>
              <a:t>my_sum</a:t>
            </a:r>
            <a:r>
              <a:rPr lang="en-US" dirty="0"/>
              <a:t>(10, 20)</a:t>
            </a:r>
          </a:p>
          <a:p>
            <a:r>
              <a:rPr lang="en-US" dirty="0"/>
              <a:t>print "Outside the function : ", </a:t>
            </a:r>
            <a:r>
              <a:rPr lang="en-US" dirty="0" err="1"/>
              <a:t>suma</a:t>
            </a:r>
            <a:endParaRPr lang="en-US" dirty="0"/>
          </a:p>
          <a:p>
            <a:endParaRPr lang="en-US" dirty="0"/>
          </a:p>
          <a:p>
            <a:r>
              <a:rPr lang="en-US" dirty="0"/>
              <a:t>&gt;&gt; Inside the function :  30</a:t>
            </a:r>
          </a:p>
          <a:p>
            <a:r>
              <a:rPr lang="en-US" dirty="0"/>
              <a:t>&gt;&gt; Outside the function :  30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return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5829301" y="1233488"/>
            <a:ext cx="5238750" cy="34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4"/>
              </a:buClr>
              <a:buFontTx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5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Font typeface="Tahoma" panose="020B0604030504040204" pitchFamily="34" charset="0"/>
              <a:buChar char="-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8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/>
              </a:buClr>
              <a:buSzPct val="80000"/>
              <a:buFont typeface="Tahoma" panose="020B0604030504040204" pitchFamily="34" charset="0"/>
              <a:buChar char="▪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7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12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8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10" indent="-228584" algn="l" defTabSz="9143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def </a:t>
            </a:r>
            <a:r>
              <a:rPr lang="en-US" dirty="0" err="1"/>
              <a:t>my_print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):</a:t>
            </a:r>
          </a:p>
          <a:p>
            <a:r>
              <a:rPr lang="en-US" dirty="0"/>
              <a:t>    print </a:t>
            </a:r>
            <a:r>
              <a:rPr lang="en-US" dirty="0" err="1"/>
              <a:t>str</a:t>
            </a:r>
            <a:endParaRPr lang="en-US" dirty="0"/>
          </a:p>
          <a:p>
            <a:endParaRPr lang="en-US" dirty="0"/>
          </a:p>
          <a:p>
            <a:r>
              <a:rPr lang="en-US" dirty="0"/>
              <a:t>temp = </a:t>
            </a:r>
            <a:r>
              <a:rPr lang="en-US" dirty="0" err="1"/>
              <a:t>my_print</a:t>
            </a:r>
            <a:r>
              <a:rPr lang="en-US" dirty="0"/>
              <a:t>("first call function!")</a:t>
            </a:r>
          </a:p>
          <a:p>
            <a:r>
              <a:rPr lang="en-US" dirty="0"/>
              <a:t>print temp</a:t>
            </a:r>
          </a:p>
          <a:p>
            <a:endParaRPr lang="en-US" dirty="0"/>
          </a:p>
          <a:p>
            <a:r>
              <a:rPr lang="en-US" dirty="0"/>
              <a:t>&gt;&gt; first call function!</a:t>
            </a:r>
          </a:p>
          <a:p>
            <a:r>
              <a:rPr lang="en-US" dirty="0"/>
              <a:t>&gt;&gt; None</a:t>
            </a:r>
          </a:p>
        </p:txBody>
      </p:sp>
    </p:spTree>
    <p:extLst>
      <p:ext uri="{BB962C8B-B14F-4D97-AF65-F5344CB8AC3E}">
        <p14:creationId xmlns:p14="http://schemas.microsoft.com/office/powerpoint/2010/main" val="280616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16561" y="1233488"/>
            <a:ext cx="11513504" cy="46148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total = 0  # This is global variable.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my_sum</a:t>
            </a:r>
            <a:r>
              <a:rPr lang="en-US" dirty="0"/>
              <a:t>(arg1, arg2):</a:t>
            </a:r>
          </a:p>
          <a:p>
            <a:r>
              <a:rPr lang="en-US" dirty="0"/>
              <a:t>    total = arg1 + arg2  # Here total is local variable.</a:t>
            </a:r>
          </a:p>
          <a:p>
            <a:r>
              <a:rPr lang="en-US" dirty="0"/>
              <a:t>    print "Inside the function local total : ", total</a:t>
            </a:r>
          </a:p>
          <a:p>
            <a:r>
              <a:rPr lang="en-US" dirty="0"/>
              <a:t>    return total</a:t>
            </a:r>
          </a:p>
          <a:p>
            <a:endParaRPr lang="en-US" dirty="0"/>
          </a:p>
          <a:p>
            <a:r>
              <a:rPr lang="en-US" dirty="0"/>
              <a:t>print </a:t>
            </a:r>
            <a:r>
              <a:rPr lang="en-US" dirty="0" err="1"/>
              <a:t>my_sum</a:t>
            </a:r>
            <a:r>
              <a:rPr lang="en-US" dirty="0"/>
              <a:t>(10, 20)</a:t>
            </a:r>
          </a:p>
          <a:p>
            <a:r>
              <a:rPr lang="en-US" dirty="0"/>
              <a:t>print "Outside the function global total : ", total</a:t>
            </a:r>
          </a:p>
          <a:p>
            <a:endParaRPr lang="en-US" dirty="0"/>
          </a:p>
          <a:p>
            <a:r>
              <a:rPr lang="en-US" dirty="0"/>
              <a:t>&gt;&gt; Inside the function local total :  30</a:t>
            </a:r>
          </a:p>
          <a:p>
            <a:r>
              <a:rPr lang="en-US" dirty="0"/>
              <a:t>&gt;&gt; 30</a:t>
            </a:r>
          </a:p>
          <a:p>
            <a:r>
              <a:rPr lang="en-US" dirty="0"/>
              <a:t>&gt;&gt; Outside the function global total :  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vs. Local variables</a:t>
            </a:r>
          </a:p>
        </p:txBody>
      </p:sp>
    </p:spTree>
    <p:extLst>
      <p:ext uri="{BB962C8B-B14F-4D97-AF65-F5344CB8AC3E}">
        <p14:creationId xmlns:p14="http://schemas.microsoft.com/office/powerpoint/2010/main" val="2073822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783175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s Brand Panel">
  <a:themeElements>
    <a:clrScheme name="softserve_color">
      <a:dk1>
        <a:srgbClr val="171B65"/>
      </a:dk1>
      <a:lt1>
        <a:srgbClr val="FFFFFF"/>
      </a:lt1>
      <a:dk2>
        <a:srgbClr val="171B65"/>
      </a:dk2>
      <a:lt2>
        <a:srgbClr val="00B4D5"/>
      </a:lt2>
      <a:accent1>
        <a:srgbClr val="171B65"/>
      </a:accent1>
      <a:accent2>
        <a:srgbClr val="00B4D5"/>
      </a:accent2>
      <a:accent3>
        <a:srgbClr val="FFFFFF"/>
      </a:accent3>
      <a:accent4>
        <a:srgbClr val="CBCECE"/>
      </a:accent4>
      <a:accent5>
        <a:srgbClr val="515D65"/>
      </a:accent5>
      <a:accent6>
        <a:srgbClr val="BED62F"/>
      </a:accent6>
      <a:hlink>
        <a:srgbClr val="00B4D5"/>
      </a:hlink>
      <a:folHlink>
        <a:srgbClr val="356A95"/>
      </a:folHlink>
    </a:clrScheme>
    <a:fontScheme name="s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nk Slides with Logo">
  <a:themeElements>
    <a:clrScheme name="softserve_color">
      <a:dk1>
        <a:srgbClr val="171B65"/>
      </a:dk1>
      <a:lt1>
        <a:srgbClr val="FFFFFF"/>
      </a:lt1>
      <a:dk2>
        <a:srgbClr val="171B65"/>
      </a:dk2>
      <a:lt2>
        <a:srgbClr val="00B4D5"/>
      </a:lt2>
      <a:accent1>
        <a:srgbClr val="171B65"/>
      </a:accent1>
      <a:accent2>
        <a:srgbClr val="00B4D5"/>
      </a:accent2>
      <a:accent3>
        <a:srgbClr val="FFFFFF"/>
      </a:accent3>
      <a:accent4>
        <a:srgbClr val="CBCECE"/>
      </a:accent4>
      <a:accent5>
        <a:srgbClr val="515D65"/>
      </a:accent5>
      <a:accent6>
        <a:srgbClr val="BED62F"/>
      </a:accent6>
      <a:hlink>
        <a:srgbClr val="00B4D5"/>
      </a:hlink>
      <a:folHlink>
        <a:srgbClr val="356A95"/>
      </a:folHlink>
    </a:clrScheme>
    <a:fontScheme name="s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pter Slides">
  <a:themeElements>
    <a:clrScheme name="softserve_color">
      <a:dk1>
        <a:srgbClr val="171B65"/>
      </a:dk1>
      <a:lt1>
        <a:srgbClr val="FFFFFF"/>
      </a:lt1>
      <a:dk2>
        <a:srgbClr val="171B65"/>
      </a:dk2>
      <a:lt2>
        <a:srgbClr val="00B4D5"/>
      </a:lt2>
      <a:accent1>
        <a:srgbClr val="BED62F"/>
      </a:accent1>
      <a:accent2>
        <a:srgbClr val="D66522"/>
      </a:accent2>
      <a:accent3>
        <a:srgbClr val="171B65"/>
      </a:accent3>
      <a:accent4>
        <a:srgbClr val="00B4D5"/>
      </a:accent4>
      <a:accent5>
        <a:srgbClr val="515D65"/>
      </a:accent5>
      <a:accent6>
        <a:srgbClr val="CBCECE"/>
      </a:accent6>
      <a:hlink>
        <a:srgbClr val="00B4D5"/>
      </a:hlink>
      <a:folHlink>
        <a:srgbClr val="356A95"/>
      </a:folHlink>
    </a:clrScheme>
    <a:fontScheme name="s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15199</TotalTime>
  <Words>2366</Words>
  <Application>Microsoft Office PowerPoint</Application>
  <PresentationFormat>Widescreen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Tahoma</vt:lpstr>
      <vt:lpstr>Title Slides Brand Panel</vt:lpstr>
      <vt:lpstr>Blank Slides with Logo</vt:lpstr>
      <vt:lpstr>Chapter Slides</vt:lpstr>
      <vt:lpstr>Function</vt:lpstr>
      <vt:lpstr>PowerPoint Presentation</vt:lpstr>
      <vt:lpstr>Calling a Function</vt:lpstr>
      <vt:lpstr>Pass by reference vs value</vt:lpstr>
      <vt:lpstr>Function Arguments</vt:lpstr>
      <vt:lpstr>Required arguments</vt:lpstr>
      <vt:lpstr>Keyword arguments</vt:lpstr>
      <vt:lpstr>Default arguments</vt:lpstr>
      <vt:lpstr>Variable-length arguments</vt:lpstr>
      <vt:lpstr>Operator return</vt:lpstr>
      <vt:lpstr>Global vs. Local variables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Andrew</dc:creator>
  <cp:lastModifiedBy>Liubomyr Halamaha</cp:lastModifiedBy>
  <cp:revision>326</cp:revision>
  <dcterms:created xsi:type="dcterms:W3CDTF">2015-09-10T13:48:25Z</dcterms:created>
  <dcterms:modified xsi:type="dcterms:W3CDTF">2018-08-21T07:16:44Z</dcterms:modified>
</cp:coreProperties>
</file>