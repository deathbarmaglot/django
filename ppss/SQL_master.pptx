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0"/>
  </p:notesMasterIdLst>
  <p:handoutMasterIdLst>
    <p:handoutMasterId r:id="rId131"/>
  </p:handoutMasterIdLst>
  <p:sldIdLst>
    <p:sldId id="317" r:id="rId2"/>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39" r:id="rId56"/>
    <p:sldId id="340" r:id="rId57"/>
    <p:sldId id="341" r:id="rId58"/>
    <p:sldId id="342" r:id="rId59"/>
    <p:sldId id="343" r:id="rId60"/>
    <p:sldId id="344" r:id="rId61"/>
    <p:sldId id="345" r:id="rId62"/>
    <p:sldId id="346" r:id="rId63"/>
    <p:sldId id="347" r:id="rId64"/>
    <p:sldId id="348" r:id="rId65"/>
    <p:sldId id="349" r:id="rId66"/>
    <p:sldId id="350" r:id="rId67"/>
    <p:sldId id="351"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380" r:id="rId97"/>
    <p:sldId id="381" r:id="rId98"/>
    <p:sldId id="382" r:id="rId99"/>
    <p:sldId id="383" r:id="rId100"/>
    <p:sldId id="384" r:id="rId101"/>
    <p:sldId id="385" r:id="rId102"/>
    <p:sldId id="386" r:id="rId103"/>
    <p:sldId id="387" r:id="rId104"/>
    <p:sldId id="388" r:id="rId105"/>
    <p:sldId id="389" r:id="rId106"/>
    <p:sldId id="390" r:id="rId107"/>
    <p:sldId id="391" r:id="rId108"/>
    <p:sldId id="392" r:id="rId109"/>
    <p:sldId id="393" r:id="rId110"/>
    <p:sldId id="394" r:id="rId111"/>
    <p:sldId id="395" r:id="rId112"/>
    <p:sldId id="396" r:id="rId113"/>
    <p:sldId id="397" r:id="rId114"/>
    <p:sldId id="398" r:id="rId115"/>
    <p:sldId id="399" r:id="rId116"/>
    <p:sldId id="400" r:id="rId117"/>
    <p:sldId id="401" r:id="rId118"/>
    <p:sldId id="402" r:id="rId119"/>
    <p:sldId id="403" r:id="rId120"/>
    <p:sldId id="404" r:id="rId121"/>
    <p:sldId id="405" r:id="rId122"/>
    <p:sldId id="406" r:id="rId123"/>
    <p:sldId id="407" r:id="rId124"/>
    <p:sldId id="408" r:id="rId125"/>
    <p:sldId id="409" r:id="rId126"/>
    <p:sldId id="410" r:id="rId127"/>
    <p:sldId id="411" r:id="rId128"/>
    <p:sldId id="412" r:id="rId1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469A"/>
    <a:srgbClr val="0033CC"/>
    <a:srgbClr val="243C80"/>
    <a:srgbClr val="204898"/>
    <a:srgbClr val="2034AC"/>
    <a:srgbClr val="234187"/>
    <a:srgbClr val="333399"/>
    <a:srgbClr val="3333CC"/>
    <a:srgbClr val="0000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p:scale>
          <a:sx n="100" d="100"/>
          <a:sy n="100" d="100"/>
        </p:scale>
        <p:origin x="-294" y="6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notesMaster" Target="notesMasters/notesMaster1.xml"/><Relationship Id="rId13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EDB6DF3-FA61-45CB-BE27-053A00556DB1}" type="datetimeFigureOut">
              <a:rPr lang="en-US" smtClean="0"/>
              <a:t>4/22/2013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jksdksd jh jhfkjhfsd</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FA7AAB-6417-4573-AFEB-2CFC05049505}" type="slidenum">
              <a:rPr lang="en-US" smtClean="0"/>
              <a:t>‹#›</a:t>
            </a:fld>
            <a:endParaRPr lang="en-US"/>
          </a:p>
        </p:txBody>
      </p:sp>
    </p:spTree>
    <p:extLst>
      <p:ext uri="{BB962C8B-B14F-4D97-AF65-F5344CB8AC3E}">
        <p14:creationId xmlns:p14="http://schemas.microsoft.com/office/powerpoint/2010/main" val="197382216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9C4D45-EFF8-479D-AF6F-9BB9BF232254}" type="datetimeFigureOut">
              <a:rPr lang="en-US" smtClean="0"/>
              <a:pPr/>
              <a:t>4/22/2013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jksdksd jh jhfkjhfsd</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208339-1CDE-4508-95CE-C65DBDC3BF13}" type="slidenum">
              <a:rPr lang="en-US" smtClean="0"/>
              <a:pPr/>
              <a:t>‹#›</a:t>
            </a:fld>
            <a:endParaRPr lang="en-US"/>
          </a:p>
        </p:txBody>
      </p:sp>
    </p:spTree>
    <p:extLst>
      <p:ext uri="{BB962C8B-B14F-4D97-AF65-F5344CB8AC3E}">
        <p14:creationId xmlns:p14="http://schemas.microsoft.com/office/powerpoint/2010/main" val="116612253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438400"/>
            <a:ext cx="7924800" cy="1447800"/>
          </a:xfrm>
        </p:spPr>
        <p:txBody>
          <a:bodyPr/>
          <a:lstStyle>
            <a:lvl1pPr algn="ctr">
              <a:defRPr>
                <a:solidFill>
                  <a:schemeClr val="bg1"/>
                </a:solidFill>
                <a:latin typeface="Segoe UI" pitchFamily="34" charset="0"/>
                <a:ea typeface="Segoe UI" pitchFamily="34" charset="0"/>
                <a:cs typeface="Segoe UI" pitchFamily="34" charset="0"/>
              </a:defRPr>
            </a:lvl1pPr>
          </a:lstStyle>
          <a:p>
            <a:endParaRPr lang="en-US" dirty="0"/>
          </a:p>
        </p:txBody>
      </p:sp>
      <p:sp>
        <p:nvSpPr>
          <p:cNvPr id="6" name="Subtitle 2"/>
          <p:cNvSpPr>
            <a:spLocks noGrp="1"/>
          </p:cNvSpPr>
          <p:nvPr>
            <p:ph type="subTitle" idx="1"/>
          </p:nvPr>
        </p:nvSpPr>
        <p:spPr>
          <a:xfrm>
            <a:off x="1371600" y="4267200"/>
            <a:ext cx="6400800" cy="762000"/>
          </a:xfrm>
        </p:spPr>
        <p:txBody>
          <a:bodyPr>
            <a:normAutofit/>
          </a:bodyPr>
          <a:lstStyle>
            <a:lvl1pPr marL="0" indent="0" algn="ctr">
              <a:buNone/>
              <a:defRPr sz="2800">
                <a:solidFill>
                  <a:schemeClr val="tx2">
                    <a:lumMod val="20000"/>
                    <a:lumOff val="8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0">
              <a:srgbClr val="243C80"/>
            </a:gs>
            <a:gs pos="91000">
              <a:srgbClr val="204898"/>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2590800"/>
            <a:ext cx="7772400" cy="1362075"/>
          </a:xfrm>
        </p:spPr>
        <p:txBody>
          <a:bodyPr anchor="ctr"/>
          <a:lstStyle>
            <a:lvl1pPr algn="ctr">
              <a:defRPr sz="4000" b="1" cap="none" baseline="0">
                <a:solidFill>
                  <a:schemeClr val="bg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409315559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Layout">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457200" y="152400"/>
            <a:ext cx="8229600" cy="914400"/>
          </a:xfrm>
        </p:spPr>
        <p:txBody>
          <a:bodyPr>
            <a:normAutofit/>
          </a:bodyPr>
          <a:lstStyle>
            <a:lvl1pPr algn="ctr">
              <a:defRPr lang="en-US" sz="4000" b="1" kern="1200" dirty="0">
                <a:solidFill>
                  <a:srgbClr val="32469A"/>
                </a:solidFill>
                <a:latin typeface="Segoe UI" pitchFamily="34" charset="0"/>
                <a:ea typeface="Segoe UI" pitchFamily="34" charset="0"/>
                <a:cs typeface="Segoe UI"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smtClean="0"/>
              <a:t>Click to edit Master title style</a:t>
            </a:r>
            <a:endParaRPr lang="en-US" dirty="0"/>
          </a:p>
        </p:txBody>
      </p:sp>
      <p:sp>
        <p:nvSpPr>
          <p:cNvPr id="7" name="Text Placeholder 2"/>
          <p:cNvSpPr>
            <a:spLocks noGrp="1"/>
          </p:cNvSpPr>
          <p:nvPr>
            <p:ph idx="1"/>
          </p:nvPr>
        </p:nvSpPr>
        <p:spPr>
          <a:xfrm>
            <a:off x="457200" y="1447800"/>
            <a:ext cx="8229600" cy="4525963"/>
          </a:xfrm>
          <a:prstGeom prst="rect">
            <a:avLst/>
          </a:prstGeom>
        </p:spPr>
        <p:txBody>
          <a:bodyPr vert="horz" lIns="91440" tIns="45720" rIns="91440" bIns="45720" rtlCol="0">
            <a:normAutofit/>
          </a:bodyPr>
          <a:lstStyle>
            <a:lvl1pPr>
              <a:defRPr>
                <a:latin typeface="Segoe UI" pitchFamily="34" charset="0"/>
                <a:ea typeface="Segoe UI" pitchFamily="34" charset="0"/>
                <a:cs typeface="Segoe UI" pitchFamily="34" charset="0"/>
              </a:defRPr>
            </a:lvl1pPr>
            <a:lvl2pPr>
              <a:defRPr>
                <a:latin typeface="Segoe UI" pitchFamily="34" charset="0"/>
                <a:ea typeface="Segoe UI" pitchFamily="34" charset="0"/>
                <a:cs typeface="Segoe UI" pitchFamily="34" charset="0"/>
              </a:defRPr>
            </a:lvl2pPr>
            <a:lvl3pPr>
              <a:defRPr>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Layout (no lin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lvl1pPr algn="ctr">
              <a:defRPr lang="en-US" sz="4000" b="1" kern="1200" dirty="0">
                <a:solidFill>
                  <a:srgbClr val="32469A"/>
                </a:solidFill>
                <a:latin typeface="Segoe UI" pitchFamily="34" charset="0"/>
                <a:ea typeface="Segoe UI" pitchFamily="34" charset="0"/>
                <a:cs typeface="Segoe UI"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smtClean="0"/>
              <a:t>Click to edit Master title style</a:t>
            </a:r>
            <a:endParaRPr lang="en-US" dirty="0"/>
          </a:p>
        </p:txBody>
      </p:sp>
      <p:sp>
        <p:nvSpPr>
          <p:cNvPr id="5" name="Text Placeholder 2"/>
          <p:cNvSpPr>
            <a:spLocks noGrp="1"/>
          </p:cNvSpPr>
          <p:nvPr>
            <p:ph idx="1"/>
          </p:nvPr>
        </p:nvSpPr>
        <p:spPr>
          <a:xfrm>
            <a:off x="457200" y="1447800"/>
            <a:ext cx="8229600" cy="4525963"/>
          </a:xfrm>
          <a:prstGeom prst="rect">
            <a:avLst/>
          </a:prstGeom>
        </p:spPr>
        <p:txBody>
          <a:bodyPr vert="horz" lIns="91440" tIns="45720" rIns="91440" bIns="45720" rtlCol="0">
            <a:normAutofit/>
          </a:bodyPr>
          <a:lstStyle>
            <a:lvl1pPr>
              <a:defRPr>
                <a:latin typeface="Segoe UI" pitchFamily="34" charset="0"/>
                <a:ea typeface="Segoe UI" pitchFamily="34" charset="0"/>
                <a:cs typeface="Segoe UI" pitchFamily="34" charset="0"/>
              </a:defRPr>
            </a:lvl1pPr>
            <a:lvl2pPr>
              <a:defRPr>
                <a:latin typeface="Segoe UI" pitchFamily="34" charset="0"/>
                <a:ea typeface="Segoe UI" pitchFamily="34" charset="0"/>
                <a:cs typeface="Segoe UI" pitchFamily="34" charset="0"/>
              </a:defRPr>
            </a:lvl2pPr>
            <a:lvl3pPr>
              <a:defRPr>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Layout">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lvl1pPr algn="ctr">
              <a:defRPr lang="en-US" sz="4000" b="1" kern="1200" dirty="0">
                <a:solidFill>
                  <a:srgbClr val="32469A"/>
                </a:solidFill>
                <a:latin typeface="Segoe UI" pitchFamily="34" charset="0"/>
                <a:ea typeface="Segoe UI" pitchFamily="34" charset="0"/>
                <a:cs typeface="Segoe UI"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smtClean="0"/>
              <a:t>Click to edit Master title style</a:t>
            </a:r>
            <a:endParaRPr lang="en-US" dirty="0"/>
          </a:p>
        </p:txBody>
      </p:sp>
      <p:sp>
        <p:nvSpPr>
          <p:cNvPr id="4" name="Text Placeholder 2"/>
          <p:cNvSpPr>
            <a:spLocks noGrp="1"/>
          </p:cNvSpPr>
          <p:nvPr>
            <p:ph idx="10"/>
          </p:nvPr>
        </p:nvSpPr>
        <p:spPr>
          <a:xfrm>
            <a:off x="457200" y="1373903"/>
            <a:ext cx="4038600" cy="4493498"/>
          </a:xfrm>
          <a:prstGeom prst="rect">
            <a:avLst/>
          </a:prstGeom>
        </p:spPr>
        <p:txBody>
          <a:bodyPr vert="horz" lIns="91440" tIns="45720" rIns="91440" bIns="45720" rtlCol="0">
            <a:normAutofit/>
          </a:bodyPr>
          <a:lstStyle>
            <a:lvl1pPr>
              <a:defRPr sz="2400"/>
            </a:lvl1pPr>
            <a:lvl2pPr>
              <a:defRPr sz="2000"/>
            </a:lvl2pPr>
            <a:lvl3pPr>
              <a:defRPr sz="1800"/>
            </a:lvl3pPr>
            <a:lvl4pPr>
              <a:defRPr sz="1700"/>
            </a:lvl4pPr>
            <a:lvl5pP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2"/>
          <p:cNvSpPr>
            <a:spLocks noGrp="1"/>
          </p:cNvSpPr>
          <p:nvPr>
            <p:ph idx="11"/>
          </p:nvPr>
        </p:nvSpPr>
        <p:spPr>
          <a:xfrm>
            <a:off x="4724400" y="1371600"/>
            <a:ext cx="3962400" cy="4495799"/>
          </a:xfrm>
          <a:prstGeom prst="rect">
            <a:avLst/>
          </a:prstGeom>
        </p:spPr>
        <p:txBody>
          <a:bodyPr vert="horz" lIns="91440" tIns="45720" rIns="91440" bIns="45720" rtlCol="0">
            <a:normAutofit/>
          </a:bodyPr>
          <a:lstStyle>
            <a:lvl1pPr>
              <a:defRPr sz="2400"/>
            </a:lvl1pPr>
            <a:lvl2pPr>
              <a:defRPr sz="2000"/>
            </a:lvl2pPr>
            <a:lvl3pPr>
              <a:defRPr sz="1800"/>
            </a:lvl3pPr>
            <a:lvl4pPr>
              <a:defRPr sz="1700"/>
            </a:lvl4pPr>
            <a:lvl5pP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3494894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Layout (no lin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lvl1pPr algn="l">
              <a:defRPr lang="en-US" sz="4000" b="1" kern="1200" dirty="0">
                <a:solidFill>
                  <a:srgbClr val="32469A"/>
                </a:solidFill>
                <a:latin typeface="Segoe UI" pitchFamily="34" charset="0"/>
                <a:ea typeface="Segoe UI" pitchFamily="34" charset="0"/>
                <a:cs typeface="Segoe UI"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smtClean="0"/>
              <a:t>Click to edit Master title style</a:t>
            </a:r>
            <a:endParaRPr lang="en-US" dirty="0"/>
          </a:p>
        </p:txBody>
      </p:sp>
      <p:sp>
        <p:nvSpPr>
          <p:cNvPr id="4" name="Text Placeholder 2"/>
          <p:cNvSpPr>
            <a:spLocks noGrp="1"/>
          </p:cNvSpPr>
          <p:nvPr>
            <p:ph idx="10"/>
          </p:nvPr>
        </p:nvSpPr>
        <p:spPr>
          <a:xfrm>
            <a:off x="457200" y="1373903"/>
            <a:ext cx="4038600" cy="4493498"/>
          </a:xfrm>
          <a:prstGeom prst="rect">
            <a:avLst/>
          </a:prstGeom>
        </p:spPr>
        <p:txBody>
          <a:bodyPr vert="horz" lIns="91440" tIns="45720" rIns="91440" bIns="45720" rtlCol="0">
            <a:normAutofit/>
          </a:bodyPr>
          <a:lstStyle>
            <a:lvl1pPr>
              <a:defRPr sz="2400"/>
            </a:lvl1pPr>
            <a:lvl2pPr>
              <a:defRPr sz="2000"/>
            </a:lvl2pPr>
            <a:lvl3pPr>
              <a:defRPr sz="1800"/>
            </a:lvl3pPr>
            <a:lvl4pPr>
              <a:defRPr sz="1700"/>
            </a:lvl4pPr>
            <a:lvl5pP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2"/>
          <p:cNvSpPr>
            <a:spLocks noGrp="1"/>
          </p:cNvSpPr>
          <p:nvPr>
            <p:ph idx="11"/>
          </p:nvPr>
        </p:nvSpPr>
        <p:spPr>
          <a:xfrm>
            <a:off x="4724400" y="1371600"/>
            <a:ext cx="3962400" cy="4495799"/>
          </a:xfrm>
          <a:prstGeom prst="rect">
            <a:avLst/>
          </a:prstGeom>
        </p:spPr>
        <p:txBody>
          <a:bodyPr vert="horz" lIns="91440" tIns="45720" rIns="91440" bIns="45720" rtlCol="0">
            <a:normAutofit/>
          </a:bodyPr>
          <a:lstStyle>
            <a:lvl1pPr>
              <a:defRPr sz="2400"/>
            </a:lvl1pPr>
            <a:lvl2pPr>
              <a:defRPr sz="2000"/>
            </a:lvl2pPr>
            <a:lvl3pPr>
              <a:defRPr sz="1800"/>
            </a:lvl3pPr>
            <a:lvl4pPr>
              <a:defRPr sz="1700"/>
            </a:lvl4pPr>
            <a:lvl5pPr>
              <a:defRPr sz="16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636380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094494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ctr">
              <a:defRPr sz="2000" b="1">
                <a:solidFill>
                  <a:srgbClr val="32469A"/>
                </a:solidFill>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410200"/>
            <a:ext cx="5486400" cy="76200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uk-U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lvl1pPr>
          </a:lstStyle>
          <a:p>
            <a:endParaRPr lang="uk-UA"/>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lvl1pPr>
          </a:lstStyle>
          <a:p>
            <a:endParaRPr lang="uk-UA"/>
          </a:p>
        </p:txBody>
      </p:sp>
      <p:sp>
        <p:nvSpPr>
          <p:cNvPr id="6" name="Slide Number Placeholder 5"/>
          <p:cNvSpPr>
            <a:spLocks noGrp="1"/>
          </p:cNvSpPr>
          <p:nvPr>
            <p:ph type="sldNum" sz="quarter" idx="12"/>
          </p:nvPr>
        </p:nvSpPr>
        <p:spPr>
          <a:xfrm>
            <a:off x="6553200" y="6245225"/>
            <a:ext cx="2133600" cy="476250"/>
          </a:xfrm>
          <a:prstGeom prst="rect">
            <a:avLst/>
          </a:prstGeom>
        </p:spPr>
        <p:txBody>
          <a:bodyPr/>
          <a:lstStyle>
            <a:lvl1pPr>
              <a:defRPr/>
            </a:lvl1pPr>
          </a:lstStyle>
          <a:p>
            <a:fld id="{B9C059A9-8052-4AEC-88C9-92F1051B864E}" type="slidenum">
              <a:rPr lang="uk-UA"/>
              <a:pPr/>
              <a:t>‹#›</a:t>
            </a:fld>
            <a:endParaRPr lang="uk-UA"/>
          </a:p>
        </p:txBody>
      </p:sp>
    </p:spTree>
    <p:extLst>
      <p:ext uri="{BB962C8B-B14F-4D97-AF65-F5344CB8AC3E}">
        <p14:creationId xmlns:p14="http://schemas.microsoft.com/office/powerpoint/2010/main" val="4032603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uk-UA"/>
          </a:p>
        </p:txBody>
      </p:sp>
      <p:sp>
        <p:nvSpPr>
          <p:cNvPr id="3" name="Table Placeholder 2"/>
          <p:cNvSpPr>
            <a:spLocks noGrp="1"/>
          </p:cNvSpPr>
          <p:nvPr>
            <p:ph type="tbl" idx="1"/>
          </p:nvPr>
        </p:nvSpPr>
        <p:spPr>
          <a:xfrm>
            <a:off x="457200" y="1600200"/>
            <a:ext cx="8229600" cy="4525963"/>
          </a:xfrm>
        </p:spPr>
        <p:txBody>
          <a:bodyPr/>
          <a:lstStyle/>
          <a:p>
            <a:endParaRPr lang="uk-UA"/>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lvl1pPr>
          </a:lstStyle>
          <a:p>
            <a:endParaRPr lang="uk-UA"/>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lvl1pPr>
          </a:lstStyle>
          <a:p>
            <a:endParaRPr lang="uk-UA"/>
          </a:p>
        </p:txBody>
      </p:sp>
      <p:sp>
        <p:nvSpPr>
          <p:cNvPr id="6" name="Slide Number Placeholder 5"/>
          <p:cNvSpPr>
            <a:spLocks noGrp="1"/>
          </p:cNvSpPr>
          <p:nvPr>
            <p:ph type="sldNum" sz="quarter" idx="12"/>
          </p:nvPr>
        </p:nvSpPr>
        <p:spPr>
          <a:xfrm>
            <a:off x="6553200" y="6245225"/>
            <a:ext cx="2133600" cy="476250"/>
          </a:xfrm>
          <a:prstGeom prst="rect">
            <a:avLst/>
          </a:prstGeom>
        </p:spPr>
        <p:txBody>
          <a:bodyPr/>
          <a:lstStyle>
            <a:lvl1pPr>
              <a:defRPr/>
            </a:lvl1pPr>
          </a:lstStyle>
          <a:p>
            <a:fld id="{84CE8FE0-C7D2-44DB-A333-0932B346386C}" type="slidenum">
              <a:rPr lang="uk-UA"/>
              <a:pPr/>
              <a:t>‹#›</a:t>
            </a:fld>
            <a:endParaRPr lang="uk-UA"/>
          </a:p>
        </p:txBody>
      </p:sp>
    </p:spTree>
    <p:extLst>
      <p:ext uri="{BB962C8B-B14F-4D97-AF65-F5344CB8AC3E}">
        <p14:creationId xmlns:p14="http://schemas.microsoft.com/office/powerpoint/2010/main" val="829509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3" name="Date Placeholder 2"/>
          <p:cNvSpPr>
            <a:spLocks noGrp="1"/>
          </p:cNvSpPr>
          <p:nvPr>
            <p:ph type="dt" sz="half" idx="10"/>
          </p:nvPr>
        </p:nvSpPr>
        <p:spPr>
          <a:xfrm>
            <a:off x="457200" y="6245225"/>
            <a:ext cx="2133600" cy="476250"/>
          </a:xfrm>
          <a:prstGeom prst="rect">
            <a:avLst/>
          </a:prstGeom>
        </p:spPr>
        <p:txBody>
          <a:bodyPr/>
          <a:lstStyle>
            <a:lvl1pPr>
              <a:defRPr/>
            </a:lvl1pPr>
          </a:lstStyle>
          <a:p>
            <a:endParaRPr lang="uk-UA"/>
          </a:p>
        </p:txBody>
      </p:sp>
      <p:sp>
        <p:nvSpPr>
          <p:cNvPr id="4" name="Footer Placeholder 3"/>
          <p:cNvSpPr>
            <a:spLocks noGrp="1"/>
          </p:cNvSpPr>
          <p:nvPr>
            <p:ph type="ftr" sz="quarter" idx="11"/>
          </p:nvPr>
        </p:nvSpPr>
        <p:spPr>
          <a:xfrm>
            <a:off x="3124200" y="6245225"/>
            <a:ext cx="2895600" cy="476250"/>
          </a:xfrm>
          <a:prstGeom prst="rect">
            <a:avLst/>
          </a:prstGeom>
        </p:spPr>
        <p:txBody>
          <a:bodyPr/>
          <a:lstStyle>
            <a:lvl1pPr>
              <a:defRPr/>
            </a:lvl1pPr>
          </a:lstStyle>
          <a:p>
            <a:endParaRPr lang="uk-UA"/>
          </a:p>
        </p:txBody>
      </p:sp>
      <p:sp>
        <p:nvSpPr>
          <p:cNvPr id="5" name="Slide Number Placeholder 4"/>
          <p:cNvSpPr>
            <a:spLocks noGrp="1"/>
          </p:cNvSpPr>
          <p:nvPr>
            <p:ph type="sldNum" sz="quarter" idx="12"/>
          </p:nvPr>
        </p:nvSpPr>
        <p:spPr>
          <a:xfrm>
            <a:off x="6553200" y="6245225"/>
            <a:ext cx="2133600" cy="476250"/>
          </a:xfrm>
          <a:prstGeom prst="rect">
            <a:avLst/>
          </a:prstGeom>
        </p:spPr>
        <p:txBody>
          <a:bodyPr/>
          <a:lstStyle>
            <a:lvl1pPr>
              <a:defRPr/>
            </a:lvl1pPr>
          </a:lstStyle>
          <a:p>
            <a:fld id="{AFE910CD-7C93-4B81-B4CB-AF64336F646E}" type="slidenum">
              <a:rPr lang="uk-UA"/>
              <a:pPr/>
              <a:t>‹#›</a:t>
            </a:fld>
            <a:endParaRPr lang="uk-UA"/>
          </a:p>
        </p:txBody>
      </p:sp>
    </p:spTree>
    <p:extLst>
      <p:ext uri="{BB962C8B-B14F-4D97-AF65-F5344CB8AC3E}">
        <p14:creationId xmlns:p14="http://schemas.microsoft.com/office/powerpoint/2010/main" val="2566318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uk-U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5" name="Date Placeholder 4"/>
          <p:cNvSpPr>
            <a:spLocks noGrp="1"/>
          </p:cNvSpPr>
          <p:nvPr>
            <p:ph type="dt" sz="half" idx="10"/>
          </p:nvPr>
        </p:nvSpPr>
        <p:spPr>
          <a:xfrm>
            <a:off x="457200" y="6245225"/>
            <a:ext cx="2133600" cy="476250"/>
          </a:xfrm>
          <a:prstGeom prst="rect">
            <a:avLst/>
          </a:prstGeom>
        </p:spPr>
        <p:txBody>
          <a:bodyPr/>
          <a:lstStyle>
            <a:lvl1pPr>
              <a:defRPr/>
            </a:lvl1pPr>
          </a:lstStyle>
          <a:p>
            <a:endParaRPr lang="uk-UA"/>
          </a:p>
        </p:txBody>
      </p:sp>
      <p:sp>
        <p:nvSpPr>
          <p:cNvPr id="6" name="Footer Placeholder 5"/>
          <p:cNvSpPr>
            <a:spLocks noGrp="1"/>
          </p:cNvSpPr>
          <p:nvPr>
            <p:ph type="ftr" sz="quarter" idx="11"/>
          </p:nvPr>
        </p:nvSpPr>
        <p:spPr>
          <a:xfrm>
            <a:off x="3124200" y="6245225"/>
            <a:ext cx="2895600" cy="476250"/>
          </a:xfrm>
          <a:prstGeom prst="rect">
            <a:avLst/>
          </a:prstGeom>
        </p:spPr>
        <p:txBody>
          <a:bodyPr/>
          <a:lstStyle>
            <a:lvl1pPr>
              <a:defRPr/>
            </a:lvl1pPr>
          </a:lstStyle>
          <a:p>
            <a:endParaRPr lang="uk-UA"/>
          </a:p>
        </p:txBody>
      </p:sp>
      <p:sp>
        <p:nvSpPr>
          <p:cNvPr id="7" name="Slide Number Placeholder 6"/>
          <p:cNvSpPr>
            <a:spLocks noGrp="1"/>
          </p:cNvSpPr>
          <p:nvPr>
            <p:ph type="sldNum" sz="quarter" idx="12"/>
          </p:nvPr>
        </p:nvSpPr>
        <p:spPr>
          <a:xfrm>
            <a:off x="6553200" y="6245225"/>
            <a:ext cx="2133600" cy="476250"/>
          </a:xfrm>
          <a:prstGeom prst="rect">
            <a:avLst/>
          </a:prstGeom>
        </p:spPr>
        <p:txBody>
          <a:bodyPr/>
          <a:lstStyle>
            <a:lvl1pPr>
              <a:defRPr/>
            </a:lvl1pPr>
          </a:lstStyle>
          <a:p>
            <a:fld id="{439CF794-F610-4085-ACA4-82B42ECC58A2}" type="slidenum">
              <a:rPr lang="uk-UA"/>
              <a:pPr/>
              <a:t>‹#›</a:t>
            </a:fld>
            <a:endParaRPr lang="uk-UA"/>
          </a:p>
        </p:txBody>
      </p:sp>
    </p:spTree>
    <p:extLst>
      <p:ext uri="{BB962C8B-B14F-4D97-AF65-F5344CB8AC3E}">
        <p14:creationId xmlns:p14="http://schemas.microsoft.com/office/powerpoint/2010/main" val="3320941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uk-UA"/>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5" name="Date Placeholder 4"/>
          <p:cNvSpPr>
            <a:spLocks noGrp="1"/>
          </p:cNvSpPr>
          <p:nvPr>
            <p:ph type="dt" sz="half" idx="10"/>
          </p:nvPr>
        </p:nvSpPr>
        <p:spPr>
          <a:xfrm>
            <a:off x="457200" y="6245225"/>
            <a:ext cx="2133600" cy="476250"/>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a:prstGeom prst="rect">
            <a:avLst/>
          </a:prstGeom>
        </p:spPr>
        <p:txBody>
          <a:bodyPr/>
          <a:lstStyle>
            <a:lvl1pPr>
              <a:defRPr/>
            </a:lvl1pPr>
          </a:lstStyle>
          <a:p>
            <a:fld id="{73383664-B67C-4023-9D08-14378E20BDB3}" type="slidenum">
              <a:rPr lang="en-US"/>
              <a:pPr/>
              <a:t>‹#›</a:t>
            </a:fld>
            <a:endParaRPr lang="en-US"/>
          </a:p>
        </p:txBody>
      </p:sp>
    </p:spTree>
    <p:extLst>
      <p:ext uri="{BB962C8B-B14F-4D97-AF65-F5344CB8AC3E}">
        <p14:creationId xmlns:p14="http://schemas.microsoft.com/office/powerpoint/2010/main" val="619585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8229600" cy="914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75" r:id="rId2"/>
    <p:sldLayoutId id="2147483655" r:id="rId3"/>
    <p:sldLayoutId id="2147483650" r:id="rId4"/>
    <p:sldLayoutId id="2147483674" r:id="rId5"/>
    <p:sldLayoutId id="2147483661" r:id="rId6"/>
    <p:sldLayoutId id="2147483660" r:id="rId7"/>
    <p:sldLayoutId id="2147483657" r:id="rId8"/>
    <p:sldLayoutId id="2147483676" r:id="rId9"/>
    <p:sldLayoutId id="2147483677" r:id="rId10"/>
    <p:sldLayoutId id="2147483678" r:id="rId11"/>
    <p:sldLayoutId id="2147483679" r:id="rId12"/>
    <p:sldLayoutId id="2147483680" r:id="rId13"/>
  </p:sldLayoutIdLst>
  <p:timing>
    <p:tnLst>
      <p:par>
        <p:cTn id="1" dur="indefinite" restart="never" nodeType="tmRoot"/>
      </p:par>
    </p:tnLst>
  </p:timing>
  <p:hf sldNum="0" hdr="0" ftr="0" dt="0"/>
  <p:txStyles>
    <p:titleStyle>
      <a:lvl1pPr algn="l" defTabSz="914400" rtl="0" eaLnBrk="1" latinLnBrk="0" hangingPunct="1">
        <a:spcBef>
          <a:spcPct val="0"/>
        </a:spcBef>
        <a:buNone/>
        <a:defRPr lang="en-US" sz="4000" b="1" kern="1200" dirty="0">
          <a:solidFill>
            <a:srgbClr val="32469A"/>
          </a:solidFill>
          <a:latin typeface="Segoe UI" pitchFamily="34" charset="0"/>
          <a:ea typeface="Segoe UI" pitchFamily="34" charset="0"/>
          <a:cs typeface="Segoe UI" pitchFamily="34" charset="0"/>
        </a:defRPr>
      </a:lvl1pPr>
    </p:titleStyle>
    <p:bodyStyle>
      <a:lvl1pPr marL="228600" indent="-228600" algn="l" defTabSz="914400" rtl="0" eaLnBrk="1" latinLnBrk="0" hangingPunct="1">
        <a:spcBef>
          <a:spcPct val="20000"/>
        </a:spcBef>
        <a:buClr>
          <a:srgbClr val="32469A"/>
        </a:buClr>
        <a:buFont typeface="Calibri" pitchFamily="34" charset="0"/>
        <a:buChar char="▪"/>
        <a:defRPr sz="3200" kern="1200">
          <a:solidFill>
            <a:schemeClr val="tx1"/>
          </a:solidFill>
          <a:latin typeface="Segoe UI" pitchFamily="34" charset="0"/>
          <a:ea typeface="Segoe UI" pitchFamily="34" charset="0"/>
          <a:cs typeface="Segoe UI" pitchFamily="34" charset="0"/>
        </a:defRPr>
      </a:lvl1pPr>
      <a:lvl2pPr marL="628650" indent="-285750" algn="l" defTabSz="914400" rtl="0" eaLnBrk="1" latinLnBrk="0" hangingPunct="1">
        <a:spcBef>
          <a:spcPct val="20000"/>
        </a:spcBef>
        <a:buFont typeface="Arial" pitchFamily="34" charset="0"/>
        <a:buChar char="–"/>
        <a:defRPr sz="2800" kern="1200">
          <a:solidFill>
            <a:schemeClr val="tx1"/>
          </a:solidFill>
          <a:latin typeface="Segoe UI" pitchFamily="34" charset="0"/>
          <a:ea typeface="Segoe UI" pitchFamily="34" charset="0"/>
          <a:cs typeface="Segoe UI" pitchFamily="34" charset="0"/>
        </a:defRPr>
      </a:lvl2pPr>
      <a:lvl3pPr marL="971550" indent="-171450" algn="l" defTabSz="914400" rtl="0" eaLnBrk="1" latinLnBrk="0" hangingPunct="1">
        <a:spcBef>
          <a:spcPct val="20000"/>
        </a:spcBef>
        <a:buFont typeface="Calibri" pitchFamily="34" charset="0"/>
        <a:buChar char="▪"/>
        <a:defRPr sz="2400" kern="1200">
          <a:solidFill>
            <a:schemeClr val="tx1"/>
          </a:solidFill>
          <a:latin typeface="Segoe UI" pitchFamily="34" charset="0"/>
          <a:ea typeface="Segoe UI" pitchFamily="34" charset="0"/>
          <a:cs typeface="Segoe UI" pitchFamily="34" charset="0"/>
        </a:defRPr>
      </a:lvl3pPr>
      <a:lvl4pPr marL="12573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4pPr>
      <a:lvl5pPr marL="1485900" indent="-228600" algn="l" defTabSz="914400" rtl="0" eaLnBrk="1" latinLnBrk="0" hangingPunct="1">
        <a:spcBef>
          <a:spcPct val="20000"/>
        </a:spcBef>
        <a:buFont typeface="Arial" pitchFamily="34" charset="0"/>
        <a:buChar char="»"/>
        <a:defRPr sz="2000" kern="1200">
          <a:solidFill>
            <a:schemeClr val="tx1"/>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uk.wikipedia.org/wiki/%D0%94%D0%B5%D0%BA%D0%BB%D0%B0%D1%80%D0%B0%D1%82%D0%B8%D0%B2%D0%BD%D0%B5_%D0%BF%D1%80%D0%BE%D0%B3%D1%80%D0%B0%D0%BC%D1%83%D0%B2%D0%B0%D0%BD%D0%BD%D1%8F" TargetMode="External"/><Relationship Id="rId2" Type="http://schemas.openxmlformats.org/officeDocument/2006/relationships/hyperlink" Target="http://uk.wikipedia.org/wiki/%D0%90%D0%BD%D0%B3%D0%BB%D1%96%D0%B9%D1%81%D1%8C%D0%BA%D0%B0_%D0%BC%D0%BE%D0%B2%D0%B0" TargetMode="External"/><Relationship Id="rId1" Type="http://schemas.openxmlformats.org/officeDocument/2006/relationships/slideLayout" Target="../slideLayouts/slideLayout9.xml"/><Relationship Id="rId5" Type="http://schemas.openxmlformats.org/officeDocument/2006/relationships/hyperlink" Target="http://uk.wikipedia.org/wiki/%D0%A0%D0%B5%D0%BB%D1%8F%D1%86%D1%96%D0%B9%D0%BD%D0%B0_%D0%B1%D0%B0%D0%B7%D0%B0_%D0%B4%D0%B0%D0%BD%D0%B8%D1%85" TargetMode="External"/><Relationship Id="rId4" Type="http://schemas.openxmlformats.org/officeDocument/2006/relationships/hyperlink" Target="http://uk.wikipedia.org/wiki/%D0%91%D0%B0%D0%B7%D0%B0_%D0%B4%D0%B0%D0%BD%D0%B8%D1%85"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uk.wikipedia.org/wiki/%D0%9F%D1%96%D0%B4%D0%B7%D0%B0%D0%BF%D0%B8%D1%82"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hyperlink" Target="http://uk.wikipedia.org/wiki/%D0%A4%D1%83%D0%BD%D0%BA%D1%86%D1%96%D0%BE%D0%BD%D0%B0%D0%BB%D1%8C%D0%BD%D0%B0_%D0%B7%D0%B0%D0%BB%D0%B5%D0%B6%D0%BD%D1%96%D1%81%D1%82%D1%8C" TargetMode="Externa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hyperlink" Target="http://uk.wikipedia.org/wiki/%D0%A0%D0%B5%D0%BB%D1%8F%D1%86%D1%96%D0%B9%D0%BD%D0%B0_%D0%BC%D0%BE%D0%B4%D0%B5%D0%BB%D1%8C_%D0%B4%D0%B0%D0%BD%D0%B8%D1%85" TargetMode="External"/><Relationship Id="rId2" Type="http://schemas.openxmlformats.org/officeDocument/2006/relationships/hyperlink" Target="http://uk.wikipedia.org/wiki/%D0%92%D1%96%D0%B4%D0%BD%D0%BE%D1%88%D0%B5%D0%BD%D0%BD%D1%8F_%28%D1%80%D0%B5%D0%BB%D1%8F%D1%86%D1%96%D0%B9%D0%BD%D0%B0_%D0%BC%D0%BE%D0%B4%D0%B5%D0%BB%D1%8C%29" TargetMode="External"/><Relationship Id="rId1" Type="http://schemas.openxmlformats.org/officeDocument/2006/relationships/slideLayout" Target="../slideLayouts/slideLayout9.xml"/><Relationship Id="rId4" Type="http://schemas.openxmlformats.org/officeDocument/2006/relationships/hyperlink" Target="http://uk.wikipedia.org/wiki/%D0%A0%D0%B5%D0%BB%D1%8F%D1%86%D1%96%D0%B9%D0%BD%D0%B0_%D0%B1%D0%B0%D0%B7%D0%B0_%D0%B4%D0%B0%D0%BD%D0%B8%D1%85" TargetMode="External"/></Relationships>
</file>

<file path=ppt/slides/_rels/slide57.xml.rels><?xml version="1.0" encoding="UTF-8" standalone="yes"?>
<Relationships xmlns="http://schemas.openxmlformats.org/package/2006/relationships"><Relationship Id="rId2" Type="http://schemas.openxmlformats.org/officeDocument/2006/relationships/hyperlink" Target="http://uk.wikipedia.org/wiki/%D0%9F%D0%B5%D1%80%D1%88%D0%B0_%D0%BD%D0%BE%D1%80%D0%BC%D0%B0%D0%BB%D1%8C%D0%BD%D0%B0_%D1%84%D0%BE%D1%80%D0%BC%D0%B0" TargetMode="Externa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hyperlink" Target="http://uk.wikipedia.org/wiki/%D0%94%D1%80%D1%83%D0%B3%D0%B0_%D0%BD%D0%BE%D1%80%D0%BC%D0%B0%D0%BB%D1%8C%D0%BD%D0%B0_%D1%84%D0%BE%D1%80%D0%BC%D0%B0" TargetMode="Externa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hyperlink" Target="http://uk.wikipedia.org/wiki/%D0%A2%D1%80%D0%B5%D1%82%D1%8F_%D0%BD%D0%BE%D1%80%D0%BC%D0%B0%D0%BB%D1%8C%D0%BD%D0%B0_%D1%84%D0%BE%D1%80%D0%BC%D0%B0" TargetMode="Externa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hyperlink" Target="http://uk.wikipedia.org/wiki/%D0%92%D1%96%D0%BA%D1%96%D0%BF%D0%B5%D0%B4%D1%96%D1%8F:%D0%9F%D0%BE%D1%81%D0%B8%D0%BB%D0%B0%D0%BD%D0%BD%D1%8F_%D0%BD%D0%B0_%D0%B4%D0%B6%D0%B5%D1%80%D0%B5%D0%BB%D0%B0" TargetMode="External"/><Relationship Id="rId2" Type="http://schemas.openxmlformats.org/officeDocument/2006/relationships/hyperlink" Target="http://uk.wikipedia.org/wiki/%D0%9D%D0%BE%D1%80%D0%BC%D0%B0%D0%BB%D1%8C%D0%BD%D0%B0_%D1%84%D0%BE%D1%80%D0%BC%D0%B0_%D0%91%D0%BE%D0%B9%D1%81%D0%B0_%E2%80%94_%D0%9A%D0%BE%D0%B4%D0%B4%D0%B0" TargetMode="Externa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hyperlink" Target="http://uk.wikipedia.org/wiki/%D0%92%D1%96%D0%BA%D1%96%D0%BF%D0%B5%D0%B4%D1%96%D1%8F:%D0%9F%D0%BE%D1%81%D0%B8%D0%BB%D0%B0%D0%BD%D0%BD%D1%8F_%D0%BD%D0%B0_%D0%B4%D0%B6%D0%B5%D1%80%D0%B5%D0%BB%D0%B0" TargetMode="Externa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hyperlink" Target="http://uk.wikipedia.org/wiki/%D0%A7%D0%B5%D1%82%D0%B2%D0%B5%D1%80%D1%82%D0%B0_%D0%BD%D0%BE%D1%80%D0%BC%D0%B0%D0%BB%D1%8C%D0%BD%D0%B0_%D1%84%D0%BE%D1%80%D0%BC%D0%B0" TargetMode="Externa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hyperlink" Target="http://uk.wikipedia.org/wiki/%D0%9F%27%D1%8F%D1%82%D0%B0_%D0%BD%D0%BE%D1%80%D0%BC%D0%B0%D0%BB%D1%8C%D0%BD%D0%B0_%D1%84%D0%BE%D1%80%D0%BC%D0%B0" TargetMode="Externa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SQL</a:t>
            </a:r>
            <a:endParaRPr lang="uk-UA" dirty="0"/>
          </a:p>
        </p:txBody>
      </p:sp>
      <p:sp>
        <p:nvSpPr>
          <p:cNvPr id="3" name="Subtitle 2"/>
          <p:cNvSpPr>
            <a:spLocks noGrp="1"/>
          </p:cNvSpPr>
          <p:nvPr>
            <p:ph type="subTitle" idx="1"/>
          </p:nvPr>
        </p:nvSpPr>
        <p:spPr>
          <a:xfrm>
            <a:off x="1371600" y="4267200"/>
            <a:ext cx="6400800" cy="762000"/>
          </a:xfrm>
        </p:spPr>
        <p:txBody>
          <a:bodyPr/>
          <a:lstStyle/>
          <a:p>
            <a:r>
              <a:rPr lang="en-US" dirty="0" smtClean="0"/>
              <a:t>Ivan </a:t>
            </a:r>
            <a:r>
              <a:rPr lang="en-US" dirty="0" err="1" smtClean="0"/>
              <a:t>Chyr</a:t>
            </a:r>
            <a:endParaRPr lang="uk-UA" dirty="0"/>
          </a:p>
        </p:txBody>
      </p:sp>
    </p:spTree>
    <p:extLst>
      <p:ext uri="{BB962C8B-B14F-4D97-AF65-F5344CB8AC3E}">
        <p14:creationId xmlns:p14="http://schemas.microsoft.com/office/powerpoint/2010/main" val="3381779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uk-UA"/>
              <a:t>Що це таке?</a:t>
            </a:r>
          </a:p>
        </p:txBody>
      </p:sp>
      <p:sp>
        <p:nvSpPr>
          <p:cNvPr id="6147" name="Rectangle 3"/>
          <p:cNvSpPr>
            <a:spLocks noGrp="1" noChangeArrowheads="1"/>
          </p:cNvSpPr>
          <p:nvPr>
            <p:ph type="body" idx="1"/>
          </p:nvPr>
        </p:nvSpPr>
        <p:spPr/>
        <p:txBody>
          <a:bodyPr/>
          <a:lstStyle/>
          <a:p>
            <a:pPr>
              <a:lnSpc>
                <a:spcPct val="90000"/>
              </a:lnSpc>
              <a:buFontTx/>
              <a:buNone/>
            </a:pPr>
            <a:r>
              <a:rPr lang="uk-UA" sz="2800" b="1" dirty="0"/>
              <a:t>	SQL</a:t>
            </a:r>
            <a:r>
              <a:rPr lang="uk-UA" sz="2800" dirty="0"/>
              <a:t> (</a:t>
            </a:r>
            <a:r>
              <a:rPr lang="uk-UA" sz="2800" dirty="0">
                <a:hlinkClick r:id="rId2" tooltip="Англійська мова"/>
              </a:rPr>
              <a:t>англ.</a:t>
            </a:r>
            <a:r>
              <a:rPr lang="uk-UA" sz="2800" dirty="0"/>
              <a:t> </a:t>
            </a:r>
            <a:r>
              <a:rPr lang="uk-UA" sz="2800" i="1" dirty="0"/>
              <a:t>Structured query language</a:t>
            </a:r>
            <a:r>
              <a:rPr lang="uk-UA" sz="2800" dirty="0"/>
              <a:t> — мова структурованих запитів) — </a:t>
            </a:r>
            <a:r>
              <a:rPr lang="uk-UA" sz="2800" dirty="0">
                <a:hlinkClick r:id="rId3" tooltip="Декларативне програмування"/>
              </a:rPr>
              <a:t>декларативна мова програмування</a:t>
            </a:r>
            <a:r>
              <a:rPr lang="uk-UA" sz="2800" dirty="0"/>
              <a:t> для взаємодії користувача з </a:t>
            </a:r>
            <a:r>
              <a:rPr lang="uk-UA" sz="2800" dirty="0">
                <a:hlinkClick r:id="rId4" tooltip="База даних"/>
              </a:rPr>
              <a:t>базами даних</a:t>
            </a:r>
            <a:r>
              <a:rPr lang="uk-UA" sz="2800" dirty="0"/>
              <a:t>, що застосовується для формування запитів, оновлення і керування </a:t>
            </a:r>
            <a:r>
              <a:rPr lang="uk-UA" sz="2800" dirty="0">
                <a:hlinkClick r:id="rId5" tooltip="Реляційна база даних"/>
              </a:rPr>
              <a:t>реляційними БД</a:t>
            </a:r>
            <a:r>
              <a:rPr lang="uk-UA" sz="2800" dirty="0"/>
              <a:t>, створення схеми бази даних і її модифікація, система контролю за доступом до бази даних.. Сам по собі SQL не є ні системою керування базами даних, ні окремим програмним продуктом. </a:t>
            </a:r>
          </a:p>
        </p:txBody>
      </p:sp>
    </p:spTree>
    <p:extLst>
      <p:ext uri="{BB962C8B-B14F-4D97-AF65-F5344CB8AC3E}">
        <p14:creationId xmlns:p14="http://schemas.microsoft.com/office/powerpoint/2010/main" val="1711021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endParaRPr lang="uk-UA"/>
          </a:p>
        </p:txBody>
      </p:sp>
      <p:sp>
        <p:nvSpPr>
          <p:cNvPr id="7171" name="Rectangle 3"/>
          <p:cNvSpPr>
            <a:spLocks noGrp="1" noChangeArrowheads="1"/>
          </p:cNvSpPr>
          <p:nvPr>
            <p:ph type="body" idx="1"/>
          </p:nvPr>
        </p:nvSpPr>
        <p:spPr>
          <a:xfrm>
            <a:off x="457200" y="304800"/>
            <a:ext cx="8229600" cy="6248400"/>
          </a:xfrm>
        </p:spPr>
        <p:txBody>
          <a:bodyPr/>
          <a:lstStyle/>
          <a:p>
            <a:pPr>
              <a:lnSpc>
                <a:spcPct val="90000"/>
              </a:lnSpc>
              <a:buFontTx/>
              <a:buNone/>
            </a:pPr>
            <a:r>
              <a:rPr lang="uk-UA"/>
              <a:t>	SQL — це діалогова мова програмування для здійснення </a:t>
            </a:r>
            <a:r>
              <a:rPr lang="uk-UA">
                <a:hlinkClick r:id="rId2"/>
              </a:rPr>
              <a:t>запиту</a:t>
            </a:r>
            <a:r>
              <a:rPr lang="uk-UA"/>
              <a:t> і внесення змін до бази даних, а також управління базами даних. Багато баз даних підтримує SQL з розширеннями до стандартної мови. Ядро SQL формує командна мова, яка дозволяє здійснювати пошук, вставку, обновлення, і вилучення даних, використовуючи систему управління і адміністративні функції. SQL також включає CLI (Call Level Interface) для доступу і управління базами даних дистанційно. </a:t>
            </a:r>
          </a:p>
        </p:txBody>
      </p:sp>
    </p:spTree>
    <p:extLst>
      <p:ext uri="{BB962C8B-B14F-4D97-AF65-F5344CB8AC3E}">
        <p14:creationId xmlns:p14="http://schemas.microsoft.com/office/powerpoint/2010/main" val="2204812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457200"/>
            <a:ext cx="8229600" cy="5745163"/>
          </a:xfrm>
        </p:spPr>
        <p:txBody>
          <a:bodyPr/>
          <a:lstStyle/>
          <a:p>
            <a:pPr>
              <a:buFontTx/>
              <a:buNone/>
            </a:pPr>
            <a:r>
              <a:rPr lang="uk-UA" sz="2800"/>
              <a:t>	Перша версія SQL була розроблена на початку 1970-х років у IBM. Ця версія носила назву SEQUEL і була призначена для обробки і пошуку даних, що містилися в реляційній базі даних IBM, System R . Мова SQL пізніше була стандартизована Американськими Держстандартами (ANSI) в 1986. Спочатку SQL розроблялась як мова запитів і управління даними, пізніші модифікації SQL створено продавцями системи управління базами даних, які додали процедурні конструкції, control-of-flow команд і розширення мов. </a:t>
            </a:r>
          </a:p>
        </p:txBody>
      </p:sp>
    </p:spTree>
    <p:extLst>
      <p:ext uri="{BB962C8B-B14F-4D97-AF65-F5344CB8AC3E}">
        <p14:creationId xmlns:p14="http://schemas.microsoft.com/office/powerpoint/2010/main" val="335745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r>
              <a:rPr lang="en-US"/>
              <a:t>SQL</a:t>
            </a:r>
            <a:endParaRPr lang="uk-UA"/>
          </a:p>
        </p:txBody>
      </p:sp>
      <p:sp>
        <p:nvSpPr>
          <p:cNvPr id="5123" name="Rectangle 3"/>
          <p:cNvSpPr>
            <a:spLocks noGrp="1" noChangeArrowheads="1"/>
          </p:cNvSpPr>
          <p:nvPr>
            <p:ph type="subTitle" idx="1"/>
          </p:nvPr>
        </p:nvSpPr>
        <p:spPr/>
        <p:txBody>
          <a:bodyPr/>
          <a:lstStyle/>
          <a:p>
            <a:endParaRPr lang="uk-UA"/>
          </a:p>
        </p:txBody>
      </p:sp>
    </p:spTree>
    <p:extLst>
      <p:ext uri="{BB962C8B-B14F-4D97-AF65-F5344CB8AC3E}">
        <p14:creationId xmlns:p14="http://schemas.microsoft.com/office/powerpoint/2010/main" val="31392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uk-UA"/>
          </a:p>
        </p:txBody>
      </p:sp>
      <p:sp>
        <p:nvSpPr>
          <p:cNvPr id="9219" name="Rectangle 3"/>
          <p:cNvSpPr>
            <a:spLocks noGrp="1" noChangeArrowheads="1"/>
          </p:cNvSpPr>
          <p:nvPr>
            <p:ph type="body" idx="1"/>
          </p:nvPr>
        </p:nvSpPr>
        <p:spPr>
          <a:xfrm>
            <a:off x="457200" y="1295400"/>
            <a:ext cx="8229600" cy="4525963"/>
          </a:xfrm>
        </p:spPr>
        <p:txBody>
          <a:bodyPr/>
          <a:lstStyle/>
          <a:p>
            <a:pPr>
              <a:lnSpc>
                <a:spcPct val="90000"/>
              </a:lnSpc>
            </a:pPr>
            <a:r>
              <a:rPr lang="uk-UA"/>
              <a:t>З випуском стандарту SQL:1999 такі розширення були формально запозичені як частина мови SQL через Persistent Stored Modules (SQL/PSM).</a:t>
            </a:r>
          </a:p>
          <a:p>
            <a:pPr>
              <a:lnSpc>
                <a:spcPct val="90000"/>
              </a:lnSpc>
            </a:pPr>
            <a:r>
              <a:rPr lang="uk-UA"/>
              <a:t>Критики SQL включає відсутність крос-платформенності , невідповідною обробкою відсутніх даних (дивіться Null (SQL)), і іноді неоднозначна граматика і семантика мови.</a:t>
            </a:r>
          </a:p>
        </p:txBody>
      </p:sp>
    </p:spTree>
    <p:extLst>
      <p:ext uri="{BB962C8B-B14F-4D97-AF65-F5344CB8AC3E}">
        <p14:creationId xmlns:p14="http://schemas.microsoft.com/office/powerpoint/2010/main" val="430630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uk-UA"/>
              <a:t>Що таке </a:t>
            </a:r>
            <a:r>
              <a:rPr lang="en-US"/>
              <a:t>SQL?</a:t>
            </a:r>
            <a:endParaRPr lang="uk-UA"/>
          </a:p>
        </p:txBody>
      </p:sp>
      <p:sp>
        <p:nvSpPr>
          <p:cNvPr id="10243" name="Rectangle 3"/>
          <p:cNvSpPr>
            <a:spLocks noGrp="1" noChangeArrowheads="1"/>
          </p:cNvSpPr>
          <p:nvPr>
            <p:ph type="body" idx="1"/>
          </p:nvPr>
        </p:nvSpPr>
        <p:spPr/>
        <p:txBody>
          <a:bodyPr/>
          <a:lstStyle/>
          <a:p>
            <a:pPr>
              <a:lnSpc>
                <a:spcPct val="90000"/>
              </a:lnSpc>
            </a:pPr>
            <a:r>
              <a:rPr lang="uk-UA" sz="2400"/>
              <a:t>SQL can execute queries against a database </a:t>
            </a:r>
          </a:p>
          <a:p>
            <a:pPr>
              <a:lnSpc>
                <a:spcPct val="90000"/>
              </a:lnSpc>
            </a:pPr>
            <a:r>
              <a:rPr lang="uk-UA" sz="2400"/>
              <a:t>SQL can retrieve data from a database </a:t>
            </a:r>
          </a:p>
          <a:p>
            <a:pPr>
              <a:lnSpc>
                <a:spcPct val="90000"/>
              </a:lnSpc>
            </a:pPr>
            <a:r>
              <a:rPr lang="uk-UA" sz="2400"/>
              <a:t>SQL can insert records in a database </a:t>
            </a:r>
          </a:p>
          <a:p>
            <a:pPr>
              <a:lnSpc>
                <a:spcPct val="90000"/>
              </a:lnSpc>
            </a:pPr>
            <a:r>
              <a:rPr lang="uk-UA" sz="2400"/>
              <a:t>SQL can update records in a database </a:t>
            </a:r>
          </a:p>
          <a:p>
            <a:pPr>
              <a:lnSpc>
                <a:spcPct val="90000"/>
              </a:lnSpc>
            </a:pPr>
            <a:r>
              <a:rPr lang="uk-UA" sz="2400"/>
              <a:t>SQL can delete records from a database </a:t>
            </a:r>
          </a:p>
          <a:p>
            <a:pPr>
              <a:lnSpc>
                <a:spcPct val="90000"/>
              </a:lnSpc>
            </a:pPr>
            <a:r>
              <a:rPr lang="uk-UA" sz="2400"/>
              <a:t>SQL can create new databases </a:t>
            </a:r>
          </a:p>
          <a:p>
            <a:pPr>
              <a:lnSpc>
                <a:spcPct val="90000"/>
              </a:lnSpc>
            </a:pPr>
            <a:r>
              <a:rPr lang="uk-UA" sz="2400"/>
              <a:t>SQL can create new tables in a database </a:t>
            </a:r>
          </a:p>
          <a:p>
            <a:pPr>
              <a:lnSpc>
                <a:spcPct val="90000"/>
              </a:lnSpc>
            </a:pPr>
            <a:r>
              <a:rPr lang="uk-UA" sz="2400"/>
              <a:t>SQL can create stored procedures in a database </a:t>
            </a:r>
          </a:p>
          <a:p>
            <a:pPr>
              <a:lnSpc>
                <a:spcPct val="90000"/>
              </a:lnSpc>
            </a:pPr>
            <a:r>
              <a:rPr lang="uk-UA" sz="2400"/>
              <a:t>SQL can create views in a database </a:t>
            </a:r>
          </a:p>
          <a:p>
            <a:pPr>
              <a:lnSpc>
                <a:spcPct val="90000"/>
              </a:lnSpc>
            </a:pPr>
            <a:r>
              <a:rPr lang="uk-UA" sz="2400"/>
              <a:t>SQL can set permissions on tables, procedures, and views </a:t>
            </a:r>
          </a:p>
          <a:p>
            <a:pPr>
              <a:lnSpc>
                <a:spcPct val="90000"/>
              </a:lnSpc>
            </a:pPr>
            <a:endParaRPr lang="uk-UA" sz="2400"/>
          </a:p>
        </p:txBody>
      </p:sp>
    </p:spTree>
    <p:extLst>
      <p:ext uri="{BB962C8B-B14F-4D97-AF65-F5344CB8AC3E}">
        <p14:creationId xmlns:p14="http://schemas.microsoft.com/office/powerpoint/2010/main" val="3239660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uk-UA"/>
              <a:t>стандарт</a:t>
            </a:r>
          </a:p>
        </p:txBody>
      </p:sp>
      <p:sp>
        <p:nvSpPr>
          <p:cNvPr id="11267" name="Rectangle 3"/>
          <p:cNvSpPr>
            <a:spLocks noGrp="1" noChangeArrowheads="1"/>
          </p:cNvSpPr>
          <p:nvPr>
            <p:ph type="body" idx="1"/>
          </p:nvPr>
        </p:nvSpPr>
        <p:spPr/>
        <p:txBody>
          <a:bodyPr/>
          <a:lstStyle/>
          <a:p>
            <a:pPr>
              <a:lnSpc>
                <a:spcPct val="90000"/>
              </a:lnSpc>
            </a:pPr>
            <a:r>
              <a:rPr lang="uk-UA" sz="2800"/>
              <a:t>Although SQL is an ANSI (American National Standards Institute) standard, there are many different versions of the SQL language.</a:t>
            </a:r>
          </a:p>
          <a:p>
            <a:pPr>
              <a:lnSpc>
                <a:spcPct val="90000"/>
              </a:lnSpc>
            </a:pPr>
            <a:r>
              <a:rPr lang="uk-UA" sz="2800"/>
              <a:t>However, to be compliant with the ANSI standard, they all support at least the major commands (such as SELECT, UPDATE, DELETE, INSERT, WHERE) in a similar manner.</a:t>
            </a:r>
            <a:endParaRPr lang="uk-UA" sz="2800" b="1"/>
          </a:p>
          <a:p>
            <a:pPr>
              <a:lnSpc>
                <a:spcPct val="90000"/>
              </a:lnSpc>
            </a:pPr>
            <a:r>
              <a:rPr lang="uk-UA" sz="2800" b="1"/>
              <a:t>Note:</a:t>
            </a:r>
            <a:r>
              <a:rPr lang="uk-UA" sz="2800"/>
              <a:t> Most of the SQL database programs also have their own proprietary extensions in addition to the SQL standard!</a:t>
            </a:r>
          </a:p>
        </p:txBody>
      </p:sp>
    </p:spTree>
    <p:extLst>
      <p:ext uri="{BB962C8B-B14F-4D97-AF65-F5344CB8AC3E}">
        <p14:creationId xmlns:p14="http://schemas.microsoft.com/office/powerpoint/2010/main" val="476515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uk-UA"/>
              <a:t>Використання у веб</a:t>
            </a:r>
          </a:p>
        </p:txBody>
      </p:sp>
      <p:sp>
        <p:nvSpPr>
          <p:cNvPr id="12291" name="Rectangle 3"/>
          <p:cNvSpPr>
            <a:spLocks noGrp="1" noChangeArrowheads="1"/>
          </p:cNvSpPr>
          <p:nvPr>
            <p:ph type="body" idx="1"/>
          </p:nvPr>
        </p:nvSpPr>
        <p:spPr/>
        <p:txBody>
          <a:bodyPr/>
          <a:lstStyle/>
          <a:p>
            <a:pPr>
              <a:lnSpc>
                <a:spcPct val="90000"/>
              </a:lnSpc>
            </a:pPr>
            <a:r>
              <a:rPr lang="uk-UA"/>
              <a:t>To build a web site that shows some data from a database, you will need the following:</a:t>
            </a:r>
          </a:p>
          <a:p>
            <a:pPr>
              <a:lnSpc>
                <a:spcPct val="90000"/>
              </a:lnSpc>
            </a:pPr>
            <a:r>
              <a:rPr lang="uk-UA"/>
              <a:t>An RDBMS database program (i.e. MS Access, SQL Server, MySQL) </a:t>
            </a:r>
          </a:p>
          <a:p>
            <a:pPr>
              <a:lnSpc>
                <a:spcPct val="90000"/>
              </a:lnSpc>
            </a:pPr>
            <a:r>
              <a:rPr lang="uk-UA"/>
              <a:t>A server-side scripting language, like PHP or ASP </a:t>
            </a:r>
          </a:p>
          <a:p>
            <a:pPr>
              <a:lnSpc>
                <a:spcPct val="90000"/>
              </a:lnSpc>
            </a:pPr>
            <a:r>
              <a:rPr lang="uk-UA"/>
              <a:t>SQL </a:t>
            </a:r>
          </a:p>
          <a:p>
            <a:pPr>
              <a:lnSpc>
                <a:spcPct val="90000"/>
              </a:lnSpc>
            </a:pPr>
            <a:r>
              <a:rPr lang="uk-UA"/>
              <a:t>HTML / CSS </a:t>
            </a:r>
          </a:p>
          <a:p>
            <a:pPr>
              <a:lnSpc>
                <a:spcPct val="90000"/>
              </a:lnSpc>
            </a:pPr>
            <a:endParaRPr lang="uk-UA"/>
          </a:p>
        </p:txBody>
      </p:sp>
    </p:spTree>
    <p:extLst>
      <p:ext uri="{BB962C8B-B14F-4D97-AF65-F5344CB8AC3E}">
        <p14:creationId xmlns:p14="http://schemas.microsoft.com/office/powerpoint/2010/main" val="3560836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uk-UA"/>
              <a:t>Таблиці БД</a:t>
            </a:r>
          </a:p>
        </p:txBody>
      </p:sp>
      <p:sp>
        <p:nvSpPr>
          <p:cNvPr id="13316" name="Rectangle 4"/>
          <p:cNvSpPr>
            <a:spLocks noChangeArrowheads="1"/>
          </p:cNvSpPr>
          <p:nvPr/>
        </p:nvSpPr>
        <p:spPr bwMode="auto">
          <a:xfrm>
            <a:off x="1590675" y="2374900"/>
            <a:ext cx="1247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uk-UA"/>
              <a:t>"Persons":</a:t>
            </a:r>
          </a:p>
        </p:txBody>
      </p:sp>
      <p:graphicFrame>
        <p:nvGraphicFramePr>
          <p:cNvPr id="13363" name="Group 51"/>
          <p:cNvGraphicFramePr>
            <a:graphicFrameLocks noGrp="1"/>
          </p:cNvGraphicFramePr>
          <p:nvPr/>
        </p:nvGraphicFramePr>
        <p:xfrm>
          <a:off x="1590675" y="2741613"/>
          <a:ext cx="5962650" cy="1741489"/>
        </p:xfrm>
        <a:graphic>
          <a:graphicData uri="http://schemas.openxmlformats.org/drawingml/2006/table">
            <a:tbl>
              <a:tblPr/>
              <a:tblGrid>
                <a:gridCol w="666750"/>
                <a:gridCol w="1276350"/>
                <a:gridCol w="1301750"/>
                <a:gridCol w="1492250"/>
                <a:gridCol w="1225550"/>
              </a:tblGrid>
              <a:tr h="6413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uk-UA" sz="1800" b="1" i="0" u="none" strike="noStrike" cap="none" normalizeH="0" baseline="0" smtClean="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P_Id</a:t>
                      </a:r>
                      <a:endParaRPr kumimoji="0" lang="uk-UA" sz="1800" b="0" i="0" u="none" strike="noStrike" cap="none" normalizeH="0" baseline="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LastName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FirstName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Address</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City</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noFill/>
                  </a:tcPr>
                </a:tc>
              </a:tr>
              <a:tr h="366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1</a:t>
                      </a:r>
                    </a:p>
                  </a:txBody>
                  <a:tcPr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Hansen</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Ola</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Timoteivn 10</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366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2</a:t>
                      </a:r>
                    </a:p>
                  </a:txBody>
                  <a:tcPr anchor="ct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Svendson</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Tove</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Borgvn 23</a:t>
                      </a: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3667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3</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Pettersen</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Kari</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Storgt 20</a:t>
                      </a: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Stavanger</a:t>
                      </a:r>
                    </a:p>
                  </a:txBody>
                  <a:tcPr anchor="ct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2824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uk-UA"/>
              <a:t>Звертання </a:t>
            </a:r>
            <a:r>
              <a:rPr lang="en-US"/>
              <a:t>SQL</a:t>
            </a:r>
            <a:endParaRPr lang="uk-UA"/>
          </a:p>
        </p:txBody>
      </p:sp>
      <p:sp>
        <p:nvSpPr>
          <p:cNvPr id="14339" name="Rectangle 3"/>
          <p:cNvSpPr>
            <a:spLocks noGrp="1" noChangeArrowheads="1"/>
          </p:cNvSpPr>
          <p:nvPr>
            <p:ph type="body" idx="1"/>
          </p:nvPr>
        </p:nvSpPr>
        <p:spPr/>
        <p:txBody>
          <a:bodyPr/>
          <a:lstStyle/>
          <a:p>
            <a:pPr>
              <a:buFontTx/>
              <a:buNone/>
            </a:pPr>
            <a:endParaRPr lang="en-US"/>
          </a:p>
          <a:p>
            <a:pPr>
              <a:buFontTx/>
              <a:buNone/>
            </a:pPr>
            <a:r>
              <a:rPr lang="uk-UA"/>
              <a:t>Most of the actions you need to perform on a database are done with SQL statements.</a:t>
            </a:r>
          </a:p>
          <a:p>
            <a:pPr>
              <a:buFontTx/>
              <a:buNone/>
            </a:pPr>
            <a:endParaRPr lang="en-US"/>
          </a:p>
          <a:p>
            <a:pPr>
              <a:buFontTx/>
              <a:buNone/>
            </a:pPr>
            <a:r>
              <a:rPr lang="uk-UA"/>
              <a:t>The following SQL statement will select all the records in the "Persons" table:</a:t>
            </a:r>
          </a:p>
          <a:p>
            <a:pPr>
              <a:buFontTx/>
              <a:buNone/>
            </a:pPr>
            <a:endParaRPr lang="en-US"/>
          </a:p>
          <a:p>
            <a:pPr algn="ctr">
              <a:buFontTx/>
              <a:buNone/>
            </a:pPr>
            <a:r>
              <a:rPr lang="en-US"/>
              <a:t>		</a:t>
            </a:r>
            <a:r>
              <a:rPr lang="uk-UA"/>
              <a:t>SELECT * FROM Persons</a:t>
            </a:r>
          </a:p>
        </p:txBody>
      </p:sp>
    </p:spTree>
    <p:extLst>
      <p:ext uri="{BB962C8B-B14F-4D97-AF65-F5344CB8AC3E}">
        <p14:creationId xmlns:p14="http://schemas.microsoft.com/office/powerpoint/2010/main" val="997041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uk-UA"/>
              <a:t>Увага!</a:t>
            </a:r>
          </a:p>
        </p:txBody>
      </p:sp>
      <p:sp>
        <p:nvSpPr>
          <p:cNvPr id="15363" name="Rectangle 3"/>
          <p:cNvSpPr>
            <a:spLocks noGrp="1" noChangeArrowheads="1"/>
          </p:cNvSpPr>
          <p:nvPr>
            <p:ph type="body" idx="1"/>
          </p:nvPr>
        </p:nvSpPr>
        <p:spPr/>
        <p:txBody>
          <a:bodyPr/>
          <a:lstStyle/>
          <a:p>
            <a:pPr>
              <a:buFontTx/>
              <a:buNone/>
            </a:pPr>
            <a:endParaRPr lang="uk-UA"/>
          </a:p>
          <a:p>
            <a:pPr>
              <a:buFontTx/>
              <a:buNone/>
            </a:pPr>
            <a:endParaRPr lang="uk-UA"/>
          </a:p>
          <a:p>
            <a:pPr>
              <a:buFontTx/>
              <a:buNone/>
            </a:pPr>
            <a:endParaRPr lang="uk-UA"/>
          </a:p>
          <a:p>
            <a:pPr algn="ctr">
              <a:buFontTx/>
              <a:buNone/>
            </a:pPr>
            <a:r>
              <a:rPr lang="uk-UA"/>
              <a:t>SQL is not case sensitive </a:t>
            </a:r>
          </a:p>
        </p:txBody>
      </p:sp>
      <p:sp>
        <p:nvSpPr>
          <p:cNvPr id="15364" name="Text Box 4"/>
          <p:cNvSpPr txBox="1">
            <a:spLocks noChangeArrowheads="1"/>
          </p:cNvSpPr>
          <p:nvPr/>
        </p:nvSpPr>
        <p:spPr bwMode="auto">
          <a:xfrm>
            <a:off x="5470525" y="5903913"/>
            <a:ext cx="234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uk-UA"/>
              <a:t>Про крапки з комою.</a:t>
            </a:r>
          </a:p>
        </p:txBody>
      </p:sp>
    </p:spTree>
    <p:extLst>
      <p:ext uri="{BB962C8B-B14F-4D97-AF65-F5344CB8AC3E}">
        <p14:creationId xmlns:p14="http://schemas.microsoft.com/office/powerpoint/2010/main" val="37309724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checkerboard(across)">
                                      <p:cBhvr>
                                        <p:cTn id="7" dur="500"/>
                                        <p:tgtEl>
                                          <p:spTgt spid="1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uk-UA" b="1"/>
              <a:t>SQL DML and DDL</a:t>
            </a:r>
          </a:p>
        </p:txBody>
      </p:sp>
      <p:sp>
        <p:nvSpPr>
          <p:cNvPr id="16387" name="Rectangle 3"/>
          <p:cNvSpPr>
            <a:spLocks noGrp="1" noChangeArrowheads="1"/>
          </p:cNvSpPr>
          <p:nvPr>
            <p:ph type="body" idx="1"/>
          </p:nvPr>
        </p:nvSpPr>
        <p:spPr/>
        <p:txBody>
          <a:bodyPr/>
          <a:lstStyle/>
          <a:p>
            <a:pPr>
              <a:buFontTx/>
              <a:buNone/>
            </a:pPr>
            <a:r>
              <a:rPr lang="uk-UA"/>
              <a:t>SQL can be divided into two parts: </a:t>
            </a:r>
          </a:p>
          <a:p>
            <a:pPr>
              <a:buFontTx/>
              <a:buNone/>
            </a:pPr>
            <a:endParaRPr lang="uk-UA"/>
          </a:p>
          <a:p>
            <a:pPr>
              <a:buFontTx/>
              <a:buNone/>
            </a:pPr>
            <a:r>
              <a:rPr lang="uk-UA"/>
              <a:t>The Data Manipulation Language (DML) </a:t>
            </a:r>
          </a:p>
          <a:p>
            <a:pPr>
              <a:buFontTx/>
              <a:buNone/>
            </a:pPr>
            <a:endParaRPr lang="en-US"/>
          </a:p>
          <a:p>
            <a:pPr>
              <a:buFontTx/>
              <a:buNone/>
            </a:pPr>
            <a:endParaRPr lang="en-US"/>
          </a:p>
          <a:p>
            <a:pPr>
              <a:buFontTx/>
              <a:buNone/>
            </a:pPr>
            <a:r>
              <a:rPr lang="en-US"/>
              <a:t>T</a:t>
            </a:r>
            <a:r>
              <a:rPr lang="uk-UA"/>
              <a:t>he Data Definition Language (DDL). </a:t>
            </a:r>
          </a:p>
        </p:txBody>
      </p:sp>
    </p:spTree>
    <p:extLst>
      <p:ext uri="{BB962C8B-B14F-4D97-AF65-F5344CB8AC3E}">
        <p14:creationId xmlns:p14="http://schemas.microsoft.com/office/powerpoint/2010/main" val="34401610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457200" y="457200"/>
            <a:ext cx="8229600" cy="5791200"/>
          </a:xfrm>
        </p:spPr>
        <p:txBody>
          <a:bodyPr/>
          <a:lstStyle/>
          <a:p>
            <a:pPr>
              <a:buFontTx/>
              <a:buNone/>
            </a:pPr>
            <a:r>
              <a:rPr lang="uk-UA"/>
              <a:t>The query and update commands form the DML part of SQL:</a:t>
            </a:r>
          </a:p>
          <a:p>
            <a:pPr>
              <a:buFontTx/>
              <a:buNone/>
            </a:pPr>
            <a:endParaRPr lang="uk-UA"/>
          </a:p>
          <a:p>
            <a:pPr>
              <a:buFontTx/>
              <a:buNone/>
            </a:pPr>
            <a:endParaRPr lang="uk-UA"/>
          </a:p>
          <a:p>
            <a:r>
              <a:rPr lang="uk-UA" b="1"/>
              <a:t>SELECT</a:t>
            </a:r>
            <a:r>
              <a:rPr lang="uk-UA"/>
              <a:t> - extracts data from a database </a:t>
            </a:r>
          </a:p>
          <a:p>
            <a:r>
              <a:rPr lang="uk-UA" b="1"/>
              <a:t>UPDATE</a:t>
            </a:r>
            <a:r>
              <a:rPr lang="uk-UA"/>
              <a:t> - updates data in a database </a:t>
            </a:r>
          </a:p>
          <a:p>
            <a:r>
              <a:rPr lang="uk-UA" b="1"/>
              <a:t>DELETE</a:t>
            </a:r>
            <a:r>
              <a:rPr lang="uk-UA"/>
              <a:t> - deletes data from a database </a:t>
            </a:r>
          </a:p>
          <a:p>
            <a:r>
              <a:rPr lang="uk-UA" b="1"/>
              <a:t>INSERT INTO</a:t>
            </a:r>
            <a:r>
              <a:rPr lang="uk-UA"/>
              <a:t> - inserts new data into a database </a:t>
            </a:r>
          </a:p>
          <a:p>
            <a:endParaRPr lang="uk-UA"/>
          </a:p>
        </p:txBody>
      </p:sp>
    </p:spTree>
    <p:extLst>
      <p:ext uri="{BB962C8B-B14F-4D97-AF65-F5344CB8AC3E}">
        <p14:creationId xmlns:p14="http://schemas.microsoft.com/office/powerpoint/2010/main" val="1545950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endParaRPr lang="uk-UA"/>
          </a:p>
        </p:txBody>
      </p:sp>
      <p:sp>
        <p:nvSpPr>
          <p:cNvPr id="18435" name="Rectangle 3"/>
          <p:cNvSpPr>
            <a:spLocks noGrp="1" noChangeArrowheads="1"/>
          </p:cNvSpPr>
          <p:nvPr>
            <p:ph type="body" idx="1"/>
          </p:nvPr>
        </p:nvSpPr>
        <p:spPr>
          <a:xfrm>
            <a:off x="457200" y="304800"/>
            <a:ext cx="8229600" cy="5821363"/>
          </a:xfrm>
        </p:spPr>
        <p:txBody>
          <a:bodyPr/>
          <a:lstStyle/>
          <a:p>
            <a:pPr>
              <a:lnSpc>
                <a:spcPct val="90000"/>
              </a:lnSpc>
              <a:buFontTx/>
              <a:buNone/>
            </a:pPr>
            <a:r>
              <a:rPr lang="uk-UA" sz="2800"/>
              <a:t>	The DDL part of SQL permits database tables to be created or deleted. It also defines indexes (keys), specifies links between tables, and imposes constraints between tables. The most important DDL statements in SQL are:</a:t>
            </a:r>
          </a:p>
          <a:p>
            <a:pPr>
              <a:lnSpc>
                <a:spcPct val="90000"/>
              </a:lnSpc>
              <a:buFontTx/>
              <a:buNone/>
            </a:pPr>
            <a:endParaRPr lang="uk-UA" sz="2800"/>
          </a:p>
          <a:p>
            <a:pPr>
              <a:lnSpc>
                <a:spcPct val="90000"/>
              </a:lnSpc>
            </a:pPr>
            <a:r>
              <a:rPr lang="uk-UA" sz="2800" b="1"/>
              <a:t>CREATE DATABASE</a:t>
            </a:r>
            <a:r>
              <a:rPr lang="uk-UA" sz="2800"/>
              <a:t> - creates a new database </a:t>
            </a:r>
          </a:p>
          <a:p>
            <a:pPr>
              <a:lnSpc>
                <a:spcPct val="90000"/>
              </a:lnSpc>
            </a:pPr>
            <a:r>
              <a:rPr lang="uk-UA" sz="2800" b="1"/>
              <a:t>ALTER DATABASE</a:t>
            </a:r>
            <a:r>
              <a:rPr lang="uk-UA" sz="2800"/>
              <a:t> - modifies a database </a:t>
            </a:r>
          </a:p>
          <a:p>
            <a:pPr>
              <a:lnSpc>
                <a:spcPct val="90000"/>
              </a:lnSpc>
            </a:pPr>
            <a:r>
              <a:rPr lang="uk-UA" sz="2800" b="1"/>
              <a:t>CREATE TABLE</a:t>
            </a:r>
            <a:r>
              <a:rPr lang="uk-UA" sz="2800"/>
              <a:t> - creates a new table </a:t>
            </a:r>
          </a:p>
          <a:p>
            <a:pPr>
              <a:lnSpc>
                <a:spcPct val="90000"/>
              </a:lnSpc>
            </a:pPr>
            <a:r>
              <a:rPr lang="uk-UA" sz="2800" b="1"/>
              <a:t>ALTER TABLE</a:t>
            </a:r>
            <a:r>
              <a:rPr lang="uk-UA" sz="2800"/>
              <a:t> - modifies a table </a:t>
            </a:r>
          </a:p>
          <a:p>
            <a:pPr>
              <a:lnSpc>
                <a:spcPct val="90000"/>
              </a:lnSpc>
            </a:pPr>
            <a:r>
              <a:rPr lang="uk-UA" sz="2800" b="1"/>
              <a:t>DROP TABLE</a:t>
            </a:r>
            <a:r>
              <a:rPr lang="uk-UA" sz="2800"/>
              <a:t> - deletes a table </a:t>
            </a:r>
          </a:p>
          <a:p>
            <a:pPr>
              <a:lnSpc>
                <a:spcPct val="90000"/>
              </a:lnSpc>
            </a:pPr>
            <a:r>
              <a:rPr lang="uk-UA" sz="2800" b="1"/>
              <a:t>CREATE INDEX</a:t>
            </a:r>
            <a:r>
              <a:rPr lang="uk-UA" sz="2800"/>
              <a:t> - creates an index (search key) </a:t>
            </a:r>
          </a:p>
          <a:p>
            <a:pPr>
              <a:lnSpc>
                <a:spcPct val="90000"/>
              </a:lnSpc>
            </a:pPr>
            <a:r>
              <a:rPr lang="uk-UA" sz="2800" b="1"/>
              <a:t>DROP INDEX</a:t>
            </a:r>
            <a:r>
              <a:rPr lang="uk-UA" sz="2800"/>
              <a:t> - deletes an index </a:t>
            </a:r>
          </a:p>
          <a:p>
            <a:pPr>
              <a:lnSpc>
                <a:spcPct val="90000"/>
              </a:lnSpc>
            </a:pPr>
            <a:endParaRPr lang="uk-UA" sz="2800"/>
          </a:p>
        </p:txBody>
      </p:sp>
    </p:spTree>
    <p:extLst>
      <p:ext uri="{BB962C8B-B14F-4D97-AF65-F5344CB8AC3E}">
        <p14:creationId xmlns:p14="http://schemas.microsoft.com/office/powerpoint/2010/main" val="2377541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SELECT</a:t>
            </a:r>
            <a:endParaRPr lang="uk-UA"/>
          </a:p>
        </p:txBody>
      </p:sp>
      <p:sp>
        <p:nvSpPr>
          <p:cNvPr id="19459" name="Rectangle 3"/>
          <p:cNvSpPr>
            <a:spLocks noGrp="1" noChangeArrowheads="1"/>
          </p:cNvSpPr>
          <p:nvPr>
            <p:ph type="body" idx="1"/>
          </p:nvPr>
        </p:nvSpPr>
        <p:spPr/>
        <p:txBody>
          <a:bodyPr/>
          <a:lstStyle/>
          <a:p>
            <a:pPr>
              <a:lnSpc>
                <a:spcPct val="80000"/>
              </a:lnSpc>
              <a:buFontTx/>
              <a:buNone/>
            </a:pPr>
            <a:r>
              <a:rPr lang="uk-UA" sz="2400"/>
              <a:t>The SELECT statement is used to select data from a database.The result is stored in a result table, called the result-set.</a:t>
            </a:r>
            <a:endParaRPr lang="uk-UA" sz="2400" b="1"/>
          </a:p>
          <a:p>
            <a:pPr>
              <a:lnSpc>
                <a:spcPct val="80000"/>
              </a:lnSpc>
              <a:buFontTx/>
              <a:buNone/>
            </a:pPr>
            <a:endParaRPr lang="en-US" sz="2400" b="1"/>
          </a:p>
          <a:p>
            <a:pPr>
              <a:lnSpc>
                <a:spcPct val="80000"/>
              </a:lnSpc>
              <a:buFontTx/>
              <a:buNone/>
            </a:pPr>
            <a:r>
              <a:rPr lang="uk-UA" sz="2400" b="1"/>
              <a:t>SQL SELECT Syntax</a:t>
            </a:r>
          </a:p>
          <a:p>
            <a:pPr>
              <a:lnSpc>
                <a:spcPct val="80000"/>
              </a:lnSpc>
              <a:buFontTx/>
              <a:buNone/>
            </a:pPr>
            <a:r>
              <a:rPr lang="en-US" sz="2400"/>
              <a:t>			</a:t>
            </a:r>
            <a:r>
              <a:rPr lang="uk-UA" sz="2400"/>
              <a:t>SELECT column_name(s)</a:t>
            </a:r>
            <a:br>
              <a:rPr lang="uk-UA" sz="2400"/>
            </a:br>
            <a:r>
              <a:rPr lang="en-US" sz="2400"/>
              <a:t>		</a:t>
            </a:r>
            <a:r>
              <a:rPr lang="uk-UA" sz="2400"/>
              <a:t>FROM table_name</a:t>
            </a:r>
          </a:p>
          <a:p>
            <a:pPr>
              <a:lnSpc>
                <a:spcPct val="80000"/>
              </a:lnSpc>
              <a:buFontTx/>
              <a:buNone/>
            </a:pPr>
            <a:r>
              <a:rPr lang="uk-UA" sz="2400"/>
              <a:t>and</a:t>
            </a:r>
          </a:p>
          <a:p>
            <a:pPr>
              <a:lnSpc>
                <a:spcPct val="80000"/>
              </a:lnSpc>
              <a:buFontTx/>
              <a:buNone/>
            </a:pPr>
            <a:r>
              <a:rPr lang="en-US" sz="2400"/>
              <a:t>	</a:t>
            </a:r>
          </a:p>
          <a:p>
            <a:pPr>
              <a:lnSpc>
                <a:spcPct val="80000"/>
              </a:lnSpc>
              <a:buFontTx/>
              <a:buNone/>
            </a:pPr>
            <a:r>
              <a:rPr lang="en-US" sz="2400"/>
              <a:t>			</a:t>
            </a:r>
            <a:r>
              <a:rPr lang="uk-UA" sz="2400"/>
              <a:t>SELECT * FROM table_name</a:t>
            </a:r>
          </a:p>
          <a:p>
            <a:pPr>
              <a:lnSpc>
                <a:spcPct val="80000"/>
              </a:lnSpc>
              <a:buFontTx/>
              <a:buNone/>
            </a:pPr>
            <a:endParaRPr lang="en-US" sz="2400"/>
          </a:p>
          <a:p>
            <a:pPr>
              <a:lnSpc>
                <a:spcPct val="80000"/>
              </a:lnSpc>
              <a:buFontTx/>
              <a:buNone/>
            </a:pPr>
            <a:r>
              <a:rPr lang="uk-UA" sz="2400"/>
              <a:t> </a:t>
            </a:r>
            <a:r>
              <a:rPr lang="uk-UA" sz="2400" b="1"/>
              <a:t>Note:</a:t>
            </a:r>
            <a:r>
              <a:rPr lang="uk-UA" sz="2400"/>
              <a:t> SQL is not case sensitive. SELECT is the same as select.</a:t>
            </a:r>
          </a:p>
        </p:txBody>
      </p:sp>
    </p:spTree>
    <p:extLst>
      <p:ext uri="{BB962C8B-B14F-4D97-AF65-F5344CB8AC3E}">
        <p14:creationId xmlns:p14="http://schemas.microsoft.com/office/powerpoint/2010/main" val="2688847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SELECT *</a:t>
            </a:r>
            <a:endParaRPr lang="uk-UA"/>
          </a:p>
        </p:txBody>
      </p:sp>
      <p:sp>
        <p:nvSpPr>
          <p:cNvPr id="20483" name="Rectangle 3"/>
          <p:cNvSpPr>
            <a:spLocks noGrp="1" noChangeArrowheads="1"/>
          </p:cNvSpPr>
          <p:nvPr>
            <p:ph type="body" idx="1"/>
          </p:nvPr>
        </p:nvSpPr>
        <p:spPr/>
        <p:txBody>
          <a:bodyPr/>
          <a:lstStyle/>
          <a:p>
            <a:pPr>
              <a:buFontTx/>
              <a:buNone/>
            </a:pPr>
            <a:r>
              <a:rPr lang="uk-UA" sz="2800"/>
              <a:t>Now we want to select all the columns from the "Persons" table.</a:t>
            </a:r>
            <a:endParaRPr lang="en-US" sz="2800"/>
          </a:p>
          <a:p>
            <a:pPr>
              <a:buFontTx/>
              <a:buNone/>
            </a:pPr>
            <a:endParaRPr lang="uk-UA" sz="2800"/>
          </a:p>
          <a:p>
            <a:pPr>
              <a:buFontTx/>
              <a:buNone/>
            </a:pPr>
            <a:r>
              <a:rPr lang="uk-UA" sz="2800"/>
              <a:t>We use the following SELECT statement: </a:t>
            </a:r>
          </a:p>
          <a:p>
            <a:pPr>
              <a:buFontTx/>
              <a:buNone/>
            </a:pPr>
            <a:r>
              <a:rPr lang="en-US" sz="2800"/>
              <a:t>		</a:t>
            </a:r>
          </a:p>
          <a:p>
            <a:pPr>
              <a:buFontTx/>
              <a:buNone/>
            </a:pPr>
            <a:r>
              <a:rPr lang="en-US" sz="2800"/>
              <a:t>			</a:t>
            </a:r>
            <a:r>
              <a:rPr lang="uk-UA" sz="2800"/>
              <a:t>SELECT * FROM Persons</a:t>
            </a:r>
            <a:endParaRPr lang="en-US" sz="2800"/>
          </a:p>
          <a:p>
            <a:pPr>
              <a:buFontTx/>
              <a:buNone/>
            </a:pPr>
            <a:endParaRPr lang="uk-UA" sz="2800" b="1"/>
          </a:p>
          <a:p>
            <a:pPr>
              <a:buFontTx/>
              <a:buNone/>
            </a:pPr>
            <a:r>
              <a:rPr lang="uk-UA" sz="2800" b="1"/>
              <a:t>Tip:</a:t>
            </a:r>
            <a:r>
              <a:rPr lang="uk-UA" sz="2800"/>
              <a:t> The asterisk (*) is a quick way of selecting all columns!</a:t>
            </a:r>
          </a:p>
        </p:txBody>
      </p:sp>
    </p:spTree>
    <p:extLst>
      <p:ext uri="{BB962C8B-B14F-4D97-AF65-F5344CB8AC3E}">
        <p14:creationId xmlns:p14="http://schemas.microsoft.com/office/powerpoint/2010/main" val="2004502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uk-UA" b="1"/>
              <a:t>SELECT DISTINCT</a:t>
            </a:r>
          </a:p>
        </p:txBody>
      </p:sp>
      <p:sp>
        <p:nvSpPr>
          <p:cNvPr id="21507" name="Rectangle 3"/>
          <p:cNvSpPr>
            <a:spLocks noGrp="1" noChangeArrowheads="1"/>
          </p:cNvSpPr>
          <p:nvPr>
            <p:ph type="body" idx="1"/>
          </p:nvPr>
        </p:nvSpPr>
        <p:spPr/>
        <p:txBody>
          <a:bodyPr/>
          <a:lstStyle/>
          <a:p>
            <a:pPr>
              <a:lnSpc>
                <a:spcPct val="90000"/>
              </a:lnSpc>
              <a:buFontTx/>
              <a:buNone/>
            </a:pPr>
            <a:r>
              <a:rPr lang="uk-UA" sz="2400"/>
              <a:t>In a table, some of the columns may contain</a:t>
            </a:r>
            <a:endParaRPr lang="en-US" sz="2400"/>
          </a:p>
          <a:p>
            <a:pPr>
              <a:lnSpc>
                <a:spcPct val="90000"/>
              </a:lnSpc>
              <a:buFontTx/>
              <a:buNone/>
            </a:pPr>
            <a:r>
              <a:rPr lang="uk-UA" sz="2400"/>
              <a:t>duplicate values. This is not a problem, however,</a:t>
            </a:r>
            <a:endParaRPr lang="en-US" sz="2400"/>
          </a:p>
          <a:p>
            <a:pPr>
              <a:lnSpc>
                <a:spcPct val="90000"/>
              </a:lnSpc>
              <a:buFontTx/>
              <a:buNone/>
            </a:pPr>
            <a:r>
              <a:rPr lang="uk-UA" sz="2400"/>
              <a:t>sometimes you will want to list only the different</a:t>
            </a:r>
            <a:endParaRPr lang="en-US" sz="2400"/>
          </a:p>
          <a:p>
            <a:pPr>
              <a:lnSpc>
                <a:spcPct val="90000"/>
              </a:lnSpc>
              <a:buFontTx/>
              <a:buNone/>
            </a:pPr>
            <a:r>
              <a:rPr lang="uk-UA" sz="2400"/>
              <a:t>(distinct) values in a table.</a:t>
            </a:r>
            <a:r>
              <a:rPr lang="en-US" sz="2400"/>
              <a:t> </a:t>
            </a:r>
            <a:r>
              <a:rPr lang="uk-UA" sz="2400"/>
              <a:t>The DISTINCT keyword</a:t>
            </a:r>
            <a:endParaRPr lang="en-US" sz="2400"/>
          </a:p>
          <a:p>
            <a:pPr>
              <a:lnSpc>
                <a:spcPct val="90000"/>
              </a:lnSpc>
              <a:buFontTx/>
              <a:buNone/>
            </a:pPr>
            <a:r>
              <a:rPr lang="uk-UA" sz="2400"/>
              <a:t>can be used to return only distinct (different) values.</a:t>
            </a:r>
            <a:endParaRPr lang="uk-UA" sz="2400" b="1"/>
          </a:p>
          <a:p>
            <a:pPr>
              <a:lnSpc>
                <a:spcPct val="90000"/>
              </a:lnSpc>
              <a:buFontTx/>
              <a:buNone/>
            </a:pPr>
            <a:endParaRPr lang="en-US" sz="2400" b="1"/>
          </a:p>
          <a:p>
            <a:pPr algn="ctr">
              <a:lnSpc>
                <a:spcPct val="90000"/>
              </a:lnSpc>
              <a:buFontTx/>
              <a:buNone/>
            </a:pPr>
            <a:r>
              <a:rPr lang="en-US" sz="2400" b="1"/>
              <a:t>		</a:t>
            </a:r>
            <a:r>
              <a:rPr lang="uk-UA" sz="2400" b="1"/>
              <a:t>SQL SELECT DISTINCT Syntax</a:t>
            </a:r>
          </a:p>
          <a:p>
            <a:pPr>
              <a:lnSpc>
                <a:spcPct val="90000"/>
              </a:lnSpc>
              <a:buFontTx/>
              <a:buNone/>
            </a:pPr>
            <a:endParaRPr lang="en-US" sz="2400"/>
          </a:p>
          <a:p>
            <a:pPr algn="ctr">
              <a:lnSpc>
                <a:spcPct val="90000"/>
              </a:lnSpc>
              <a:buFontTx/>
              <a:buNone/>
            </a:pPr>
            <a:r>
              <a:rPr lang="en-US" sz="2400"/>
              <a:t> </a:t>
            </a:r>
            <a:r>
              <a:rPr lang="uk-UA" sz="2400"/>
              <a:t>SELECT DISTINCT column_name(s)</a:t>
            </a:r>
            <a:r>
              <a:rPr lang="en-US" sz="2400"/>
              <a:t> </a:t>
            </a:r>
            <a:r>
              <a:rPr lang="uk-UA" sz="2400"/>
              <a:t>FROM table_name</a:t>
            </a:r>
          </a:p>
        </p:txBody>
      </p:sp>
    </p:spTree>
    <p:extLst>
      <p:ext uri="{BB962C8B-B14F-4D97-AF65-F5344CB8AC3E}">
        <p14:creationId xmlns:p14="http://schemas.microsoft.com/office/powerpoint/2010/main" val="2380708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WHERE</a:t>
            </a:r>
            <a:endParaRPr lang="uk-UA"/>
          </a:p>
        </p:txBody>
      </p:sp>
      <p:sp>
        <p:nvSpPr>
          <p:cNvPr id="22531" name="Rectangle 3"/>
          <p:cNvSpPr>
            <a:spLocks noGrp="1" noChangeArrowheads="1"/>
          </p:cNvSpPr>
          <p:nvPr>
            <p:ph type="body" idx="1"/>
          </p:nvPr>
        </p:nvSpPr>
        <p:spPr/>
        <p:txBody>
          <a:bodyPr/>
          <a:lstStyle/>
          <a:p>
            <a:pPr>
              <a:buFontTx/>
              <a:buNone/>
            </a:pPr>
            <a:r>
              <a:rPr lang="uk-UA"/>
              <a:t>The WHERE clause is used to extract only</a:t>
            </a:r>
            <a:endParaRPr lang="en-US"/>
          </a:p>
          <a:p>
            <a:pPr>
              <a:buFontTx/>
              <a:buNone/>
            </a:pPr>
            <a:r>
              <a:rPr lang="uk-UA"/>
              <a:t>those records that fulfill a specified criterion.</a:t>
            </a:r>
            <a:endParaRPr lang="uk-UA" b="1"/>
          </a:p>
          <a:p>
            <a:pPr>
              <a:buFontTx/>
              <a:buNone/>
            </a:pPr>
            <a:endParaRPr lang="en-US" b="1"/>
          </a:p>
          <a:p>
            <a:pPr>
              <a:buFontTx/>
              <a:buNone/>
            </a:pPr>
            <a:r>
              <a:rPr lang="uk-UA" b="1"/>
              <a:t>SQL WHERE Syntax</a:t>
            </a:r>
          </a:p>
          <a:p>
            <a:pPr>
              <a:buFontTx/>
              <a:buNone/>
            </a:pPr>
            <a:endParaRPr lang="en-US"/>
          </a:p>
          <a:p>
            <a:pPr>
              <a:buFontTx/>
              <a:buNone/>
            </a:pPr>
            <a:r>
              <a:rPr lang="en-US"/>
              <a:t>	</a:t>
            </a:r>
            <a:r>
              <a:rPr lang="uk-UA"/>
              <a:t>SELECT column_name(s)</a:t>
            </a:r>
            <a:br>
              <a:rPr lang="uk-UA"/>
            </a:br>
            <a:r>
              <a:rPr lang="uk-UA"/>
              <a:t>FROM table_name</a:t>
            </a:r>
            <a:br>
              <a:rPr lang="uk-UA"/>
            </a:br>
            <a:r>
              <a:rPr lang="uk-UA"/>
              <a:t>WHERE column_name operator value</a:t>
            </a:r>
          </a:p>
        </p:txBody>
      </p:sp>
    </p:spTree>
    <p:extLst>
      <p:ext uri="{BB962C8B-B14F-4D97-AF65-F5344CB8AC3E}">
        <p14:creationId xmlns:p14="http://schemas.microsoft.com/office/powerpoint/2010/main" val="1908615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uk-UA"/>
              <a:t>лапки</a:t>
            </a:r>
          </a:p>
        </p:txBody>
      </p:sp>
      <p:sp>
        <p:nvSpPr>
          <p:cNvPr id="23555" name="Rectangle 3"/>
          <p:cNvSpPr>
            <a:spLocks noGrp="1" noChangeArrowheads="1"/>
          </p:cNvSpPr>
          <p:nvPr>
            <p:ph type="body" idx="1"/>
          </p:nvPr>
        </p:nvSpPr>
        <p:spPr/>
        <p:txBody>
          <a:bodyPr/>
          <a:lstStyle/>
          <a:p>
            <a:pPr>
              <a:buFontTx/>
              <a:buNone/>
            </a:pPr>
            <a:r>
              <a:rPr lang="uk-UA"/>
              <a:t>SQL uses single quotes around text values (most database systems will also accept double quotes).</a:t>
            </a:r>
          </a:p>
          <a:p>
            <a:pPr>
              <a:buFontTx/>
              <a:buNone/>
            </a:pPr>
            <a:r>
              <a:rPr lang="uk-UA"/>
              <a:t>Although, numeric values should not be enclosed in quotes.</a:t>
            </a:r>
          </a:p>
        </p:txBody>
      </p:sp>
    </p:spTree>
    <p:extLst>
      <p:ext uri="{BB962C8B-B14F-4D97-AF65-F5344CB8AC3E}">
        <p14:creationId xmlns:p14="http://schemas.microsoft.com/office/powerpoint/2010/main" val="3761198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endParaRPr lang="uk-UA"/>
          </a:p>
        </p:txBody>
      </p:sp>
      <p:sp>
        <p:nvSpPr>
          <p:cNvPr id="24579" name="Rectangle 3"/>
          <p:cNvSpPr>
            <a:spLocks noGrp="1" noChangeArrowheads="1"/>
          </p:cNvSpPr>
          <p:nvPr>
            <p:ph type="body" idx="1"/>
          </p:nvPr>
        </p:nvSpPr>
        <p:spPr>
          <a:xfrm>
            <a:off x="457200" y="381000"/>
            <a:ext cx="8229600" cy="5745163"/>
          </a:xfrm>
        </p:spPr>
        <p:txBody>
          <a:bodyPr/>
          <a:lstStyle/>
          <a:p>
            <a:pPr>
              <a:buFontTx/>
              <a:buNone/>
            </a:pPr>
            <a:endParaRPr lang="uk-UA"/>
          </a:p>
          <a:p>
            <a:pPr>
              <a:buFontTx/>
              <a:buNone/>
            </a:pPr>
            <a:r>
              <a:rPr lang="uk-UA"/>
              <a:t>	This is correct:</a:t>
            </a:r>
            <a:br>
              <a:rPr lang="uk-UA"/>
            </a:br>
            <a:r>
              <a:rPr lang="uk-UA"/>
              <a:t/>
            </a:r>
            <a:br>
              <a:rPr lang="uk-UA"/>
            </a:br>
            <a:r>
              <a:rPr lang="uk-UA"/>
              <a:t>SELECT * FROM Persons WHERE FirstName='Tove'</a:t>
            </a:r>
            <a:br>
              <a:rPr lang="uk-UA"/>
            </a:br>
            <a:r>
              <a:rPr lang="uk-UA"/>
              <a:t/>
            </a:r>
            <a:br>
              <a:rPr lang="uk-UA"/>
            </a:br>
            <a:r>
              <a:rPr lang="uk-UA"/>
              <a:t>This is wrong:</a:t>
            </a:r>
            <a:br>
              <a:rPr lang="uk-UA"/>
            </a:br>
            <a:r>
              <a:rPr lang="uk-UA"/>
              <a:t/>
            </a:r>
            <a:br>
              <a:rPr lang="uk-UA"/>
            </a:br>
            <a:r>
              <a:rPr lang="uk-UA"/>
              <a:t>SELECT * FROM Persons WHERE FirstName=Tove </a:t>
            </a:r>
          </a:p>
        </p:txBody>
      </p:sp>
    </p:spTree>
    <p:extLst>
      <p:ext uri="{BB962C8B-B14F-4D97-AF65-F5344CB8AC3E}">
        <p14:creationId xmlns:p14="http://schemas.microsoft.com/office/powerpoint/2010/main" val="3015340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endParaRPr lang="uk-UA"/>
          </a:p>
        </p:txBody>
      </p:sp>
      <p:sp>
        <p:nvSpPr>
          <p:cNvPr id="25603" name="Rectangle 3"/>
          <p:cNvSpPr>
            <a:spLocks noGrp="1" noChangeArrowheads="1"/>
          </p:cNvSpPr>
          <p:nvPr>
            <p:ph type="body" idx="1"/>
          </p:nvPr>
        </p:nvSpPr>
        <p:spPr>
          <a:xfrm>
            <a:off x="457200" y="381000"/>
            <a:ext cx="8229600" cy="5745163"/>
          </a:xfrm>
        </p:spPr>
        <p:txBody>
          <a:bodyPr/>
          <a:lstStyle/>
          <a:p>
            <a:pPr>
              <a:buFontTx/>
              <a:buNone/>
            </a:pPr>
            <a:r>
              <a:rPr lang="uk-UA"/>
              <a:t>	</a:t>
            </a:r>
          </a:p>
          <a:p>
            <a:pPr>
              <a:buFontTx/>
              <a:buNone/>
            </a:pPr>
            <a:r>
              <a:rPr lang="uk-UA"/>
              <a:t>	This is correct:</a:t>
            </a:r>
            <a:br>
              <a:rPr lang="uk-UA"/>
            </a:br>
            <a:r>
              <a:rPr lang="uk-UA"/>
              <a:t/>
            </a:r>
            <a:br>
              <a:rPr lang="uk-UA"/>
            </a:br>
            <a:r>
              <a:rPr lang="uk-UA"/>
              <a:t>SELECT * FROM Persons WHERE Year=1965</a:t>
            </a:r>
            <a:br>
              <a:rPr lang="uk-UA"/>
            </a:br>
            <a:r>
              <a:rPr lang="uk-UA"/>
              <a:t/>
            </a:r>
            <a:br>
              <a:rPr lang="uk-UA"/>
            </a:br>
            <a:r>
              <a:rPr lang="uk-UA"/>
              <a:t>This is wrong:</a:t>
            </a:r>
            <a:br>
              <a:rPr lang="uk-UA"/>
            </a:br>
            <a:r>
              <a:rPr lang="uk-UA"/>
              <a:t/>
            </a:r>
            <a:br>
              <a:rPr lang="uk-UA"/>
            </a:br>
            <a:r>
              <a:rPr lang="uk-UA"/>
              <a:t>SELECT * FROM Persons WHERE Year='1965' </a:t>
            </a:r>
          </a:p>
        </p:txBody>
      </p:sp>
    </p:spTree>
    <p:extLst>
      <p:ext uri="{BB962C8B-B14F-4D97-AF65-F5344CB8AC3E}">
        <p14:creationId xmlns:p14="http://schemas.microsoft.com/office/powerpoint/2010/main" val="195394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75" name="Rectangle 51"/>
          <p:cNvSpPr>
            <a:spLocks noGrp="1" noChangeArrowheads="1"/>
          </p:cNvSpPr>
          <p:nvPr>
            <p:ph type="title"/>
          </p:nvPr>
        </p:nvSpPr>
        <p:spPr/>
        <p:txBody>
          <a:bodyPr/>
          <a:lstStyle/>
          <a:p>
            <a:r>
              <a:rPr lang="uk-UA" sz="3200"/>
              <a:t>Operators Allowed in the WHERE Clause</a:t>
            </a:r>
          </a:p>
        </p:txBody>
      </p:sp>
      <p:graphicFrame>
        <p:nvGraphicFramePr>
          <p:cNvPr id="26678" name="Group 54"/>
          <p:cNvGraphicFramePr>
            <a:graphicFrameLocks noGrp="1"/>
          </p:cNvGraphicFramePr>
          <p:nvPr>
            <p:ph idx="1"/>
          </p:nvPr>
        </p:nvGraphicFramePr>
        <p:xfrm>
          <a:off x="457200" y="1600200"/>
          <a:ext cx="8377238" cy="4713609"/>
        </p:xfrm>
        <a:graphic>
          <a:graphicData uri="http://schemas.openxmlformats.org/drawingml/2006/table">
            <a:tbl>
              <a:tblPr/>
              <a:tblGrid>
                <a:gridCol w="1314450"/>
                <a:gridCol w="7062788"/>
              </a:tblGrid>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Operator</a:t>
                      </a:r>
                      <a:endParaRPr kumimoji="0" lang="uk-UA" sz="18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Description</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Equal</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&lt;&gt;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Not equal</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&gt;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Greater than</a:t>
                      </a:r>
                    </a:p>
                  </a:txBody>
                  <a:tcPr anchor="ctr" horzOverflow="overflow">
                    <a:lnL>
                      <a:noFill/>
                    </a:lnL>
                    <a:lnR cap="flat">
                      <a:noFill/>
                    </a:lnR>
                    <a:lnT>
                      <a:noFill/>
                    </a:lnT>
                    <a:lnB>
                      <a:noFill/>
                    </a:lnB>
                    <a:lnTlToBr>
                      <a:noFill/>
                    </a:lnTlToBr>
                    <a:lnBlToTr>
                      <a:noFill/>
                    </a:lnBlToTr>
                    <a:noFill/>
                  </a:tcPr>
                </a:tc>
              </a:tr>
              <a:tr h="45402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Less than</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&gt;=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Greater than or equal</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Less than or equal</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BETWEEN</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Between an inclusive range</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LIKE</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Search for a pattern</a:t>
                      </a:r>
                    </a:p>
                  </a:txBody>
                  <a:tcPr anchor="ctr" horzOverflow="overflow">
                    <a:lnL>
                      <a:noFill/>
                    </a:lnL>
                    <a:lnR cap="flat">
                      <a:noFill/>
                    </a:lnR>
                    <a:lnT>
                      <a:noFill/>
                    </a:lnT>
                    <a:lnB>
                      <a:noFill/>
                    </a:lnB>
                    <a:lnTlToBr>
                      <a:noFill/>
                    </a:lnTlToBr>
                    <a:lnBlToTr>
                      <a:noFill/>
                    </a:lnBlToTr>
                    <a:noFill/>
                  </a:tcPr>
                </a:tc>
              </a:tr>
              <a:tr h="4524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IN</a:t>
                      </a:r>
                    </a:p>
                  </a:txBody>
                  <a:tcP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If you know the exact value you want to return for at least one of the columns</a:t>
                      </a:r>
                    </a:p>
                  </a:txBody>
                  <a:tcPr anchor="ct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401558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uk-UA" b="1"/>
              <a:t>AND &amp; OR</a:t>
            </a:r>
          </a:p>
        </p:txBody>
      </p:sp>
      <p:sp>
        <p:nvSpPr>
          <p:cNvPr id="28675" name="Rectangle 3"/>
          <p:cNvSpPr>
            <a:spLocks noGrp="1" noChangeArrowheads="1"/>
          </p:cNvSpPr>
          <p:nvPr>
            <p:ph type="body" idx="1"/>
          </p:nvPr>
        </p:nvSpPr>
        <p:spPr/>
        <p:txBody>
          <a:bodyPr/>
          <a:lstStyle/>
          <a:p>
            <a:pPr>
              <a:buFontTx/>
              <a:buNone/>
            </a:pPr>
            <a:endParaRPr lang="uk-UA"/>
          </a:p>
          <a:p>
            <a:pPr>
              <a:buFontTx/>
              <a:buNone/>
            </a:pPr>
            <a:r>
              <a:rPr lang="uk-UA"/>
              <a:t>The AND operator displays a record if both the first condition and the second condition is true.</a:t>
            </a:r>
          </a:p>
          <a:p>
            <a:pPr>
              <a:buFontTx/>
              <a:buNone/>
            </a:pPr>
            <a:endParaRPr lang="uk-UA"/>
          </a:p>
          <a:p>
            <a:pPr>
              <a:buFontTx/>
              <a:buNone/>
            </a:pPr>
            <a:r>
              <a:rPr lang="uk-UA"/>
              <a:t>The OR operator displays a record if either the first condition or the second condition is true.</a:t>
            </a:r>
          </a:p>
        </p:txBody>
      </p:sp>
    </p:spTree>
    <p:extLst>
      <p:ext uri="{BB962C8B-B14F-4D97-AF65-F5344CB8AC3E}">
        <p14:creationId xmlns:p14="http://schemas.microsoft.com/office/powerpoint/2010/main" val="3099325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70" name="Group 50"/>
          <p:cNvGraphicFramePr>
            <a:graphicFrameLocks noGrp="1"/>
          </p:cNvGraphicFramePr>
          <p:nvPr>
            <p:ph/>
          </p:nvPr>
        </p:nvGraphicFramePr>
        <p:xfrm>
          <a:off x="457200" y="274638"/>
          <a:ext cx="8229600" cy="5851526"/>
        </p:xfrm>
        <a:graphic>
          <a:graphicData uri="http://schemas.openxmlformats.org/drawingml/2006/table">
            <a:tbl>
              <a:tblPr/>
              <a:tblGrid>
                <a:gridCol w="920750"/>
                <a:gridCol w="1760538"/>
                <a:gridCol w="1797050"/>
                <a:gridCol w="2058987"/>
                <a:gridCol w="1692275"/>
              </a:tblGrid>
              <a:tr h="14636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1" i="0" u="none" strike="noStrike" cap="none" normalizeH="0" baseline="0" smtClean="0">
                          <a:ln>
                            <a:noFill/>
                          </a:ln>
                          <a:solidFill>
                            <a:schemeClr val="tx1"/>
                          </a:solidFill>
                          <a:effectLst/>
                          <a:latin typeface="Arial" charset="0"/>
                        </a:rPr>
                        <a:t>P_Id</a:t>
                      </a:r>
                      <a:endParaRPr kumimoji="0" lang="uk-UA" sz="2400" b="0" i="0" u="none" strike="noStrike" cap="none" normalizeH="0" baseline="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1" i="0" u="none" strike="noStrike" cap="none" normalizeH="0" baseline="0" smtClean="0">
                          <a:ln>
                            <a:noFill/>
                          </a:ln>
                          <a:solidFill>
                            <a:schemeClr val="tx1"/>
                          </a:solidFill>
                          <a:effectLst/>
                          <a:latin typeface="Arial" charset="0"/>
                        </a:rPr>
                        <a:t>LastName</a:t>
                      </a:r>
                      <a:endParaRPr kumimoji="0" lang="uk-UA" sz="24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1" i="0" u="none" strike="noStrike" cap="none" normalizeH="0" baseline="0" smtClean="0">
                          <a:ln>
                            <a:noFill/>
                          </a:ln>
                          <a:solidFill>
                            <a:schemeClr val="tx1"/>
                          </a:solidFill>
                          <a:effectLst/>
                          <a:latin typeface="Arial" charset="0"/>
                        </a:rPr>
                        <a:t>FirstName</a:t>
                      </a:r>
                      <a:endParaRPr kumimoji="0" lang="uk-UA" sz="24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1" i="0" u="none" strike="noStrike" cap="none" normalizeH="0" baseline="0" smtClean="0">
                          <a:ln>
                            <a:noFill/>
                          </a:ln>
                          <a:solidFill>
                            <a:schemeClr val="tx1"/>
                          </a:solidFill>
                          <a:effectLst/>
                          <a:latin typeface="Arial" charset="0"/>
                        </a:rPr>
                        <a:t>Address</a:t>
                      </a:r>
                      <a:endParaRPr kumimoji="0" lang="uk-UA" sz="24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1" i="0" u="none" strike="noStrike" cap="none" normalizeH="0" baseline="0" smtClean="0">
                          <a:ln>
                            <a:noFill/>
                          </a:ln>
                          <a:solidFill>
                            <a:schemeClr val="tx1"/>
                          </a:solidFill>
                          <a:effectLst/>
                          <a:latin typeface="Arial" charset="0"/>
                        </a:rPr>
                        <a:t>City</a:t>
                      </a:r>
                      <a:endParaRPr kumimoji="0" lang="uk-UA" sz="2400" b="0"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noFill/>
                  </a:tcPr>
                </a:tc>
              </a:tr>
              <a:tr h="14620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1</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Hansen</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Ola</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Timoteivn 10</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14636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2</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Svendson</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Tove</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Borgvn 23</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14620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3</a:t>
                      </a: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Pettersen</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Kari</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Storgt 20</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2400" b="0" i="0" u="none" strike="noStrike" cap="none" normalizeH="0" baseline="0" smtClean="0">
                          <a:ln>
                            <a:noFill/>
                          </a:ln>
                          <a:solidFill>
                            <a:schemeClr val="tx1"/>
                          </a:solidFill>
                          <a:effectLst/>
                          <a:latin typeface="Arial" charset="0"/>
                        </a:rPr>
                        <a:t>Stavanger</a:t>
                      </a:r>
                    </a:p>
                  </a:txBody>
                  <a:tcPr anchor="ct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2369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endParaRPr lang="uk-UA"/>
          </a:p>
        </p:txBody>
      </p:sp>
      <p:sp>
        <p:nvSpPr>
          <p:cNvPr id="29699" name="Rectangle 3"/>
          <p:cNvSpPr>
            <a:spLocks noGrp="1" noChangeArrowheads="1"/>
          </p:cNvSpPr>
          <p:nvPr>
            <p:ph type="body" idx="1"/>
          </p:nvPr>
        </p:nvSpPr>
        <p:spPr>
          <a:xfrm>
            <a:off x="457200" y="304800"/>
            <a:ext cx="8229600" cy="6248400"/>
          </a:xfrm>
        </p:spPr>
        <p:txBody>
          <a:bodyPr/>
          <a:lstStyle/>
          <a:p>
            <a:pPr>
              <a:lnSpc>
                <a:spcPct val="90000"/>
              </a:lnSpc>
            </a:pPr>
            <a:r>
              <a:rPr lang="uk-UA"/>
              <a:t>SELECT * FROM Persons</a:t>
            </a:r>
            <a:br>
              <a:rPr lang="uk-UA"/>
            </a:br>
            <a:r>
              <a:rPr lang="uk-UA"/>
              <a:t>WHERE FirstName='Tove'</a:t>
            </a:r>
            <a:br>
              <a:rPr lang="uk-UA"/>
            </a:br>
            <a:r>
              <a:rPr lang="uk-UA"/>
              <a:t>AND LastName='Svendson' </a:t>
            </a:r>
          </a:p>
          <a:p>
            <a:pPr>
              <a:lnSpc>
                <a:spcPct val="90000"/>
              </a:lnSpc>
            </a:pPr>
            <a:endParaRPr lang="uk-UA"/>
          </a:p>
          <a:p>
            <a:pPr>
              <a:lnSpc>
                <a:spcPct val="90000"/>
              </a:lnSpc>
            </a:pPr>
            <a:r>
              <a:rPr lang="uk-UA"/>
              <a:t>SELECT * FROM Persons</a:t>
            </a:r>
            <a:br>
              <a:rPr lang="uk-UA"/>
            </a:br>
            <a:r>
              <a:rPr lang="uk-UA"/>
              <a:t>WHERE FirstName='Tove'</a:t>
            </a:r>
            <a:br>
              <a:rPr lang="uk-UA"/>
            </a:br>
            <a:r>
              <a:rPr lang="uk-UA"/>
              <a:t>OR FirstName='Ola' </a:t>
            </a:r>
          </a:p>
          <a:p>
            <a:pPr>
              <a:lnSpc>
                <a:spcPct val="90000"/>
              </a:lnSpc>
            </a:pPr>
            <a:endParaRPr lang="uk-UA"/>
          </a:p>
          <a:p>
            <a:pPr>
              <a:lnSpc>
                <a:spcPct val="90000"/>
              </a:lnSpc>
            </a:pPr>
            <a:r>
              <a:rPr lang="uk-UA"/>
              <a:t>SELECT * FROM Persons WHERE</a:t>
            </a:r>
            <a:br>
              <a:rPr lang="uk-UA"/>
            </a:br>
            <a:r>
              <a:rPr lang="uk-UA"/>
              <a:t>LastName='Svendson'</a:t>
            </a:r>
            <a:br>
              <a:rPr lang="uk-UA"/>
            </a:br>
            <a:r>
              <a:rPr lang="uk-UA"/>
              <a:t>AND (FirstName='Tove' OR FirstName='Ola') </a:t>
            </a:r>
          </a:p>
        </p:txBody>
      </p:sp>
    </p:spTree>
    <p:extLst>
      <p:ext uri="{BB962C8B-B14F-4D97-AF65-F5344CB8AC3E}">
        <p14:creationId xmlns:p14="http://schemas.microsoft.com/office/powerpoint/2010/main" val="678181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endParaRPr lang="uk-UA"/>
          </a:p>
        </p:txBody>
      </p:sp>
      <p:sp>
        <p:nvSpPr>
          <p:cNvPr id="32771" name="Rectangle 3"/>
          <p:cNvSpPr>
            <a:spLocks noGrp="1" noChangeArrowheads="1"/>
          </p:cNvSpPr>
          <p:nvPr>
            <p:ph type="body" idx="1"/>
          </p:nvPr>
        </p:nvSpPr>
        <p:spPr/>
        <p:txBody>
          <a:bodyPr/>
          <a:lstStyle/>
          <a:p>
            <a:pPr>
              <a:lnSpc>
                <a:spcPct val="80000"/>
              </a:lnSpc>
              <a:buFontTx/>
              <a:buNone/>
            </a:pPr>
            <a:r>
              <a:rPr lang="uk-UA" sz="2800"/>
              <a:t>The ORDER BY keyword is used to sort the result</a:t>
            </a:r>
          </a:p>
          <a:p>
            <a:pPr>
              <a:lnSpc>
                <a:spcPct val="80000"/>
              </a:lnSpc>
              <a:buFontTx/>
              <a:buNone/>
            </a:pPr>
            <a:r>
              <a:rPr lang="uk-UA" sz="2800"/>
              <a:t>set by a specified column.The ORDER BY</a:t>
            </a:r>
          </a:p>
          <a:p>
            <a:pPr>
              <a:lnSpc>
                <a:spcPct val="80000"/>
              </a:lnSpc>
              <a:buFontTx/>
              <a:buNone/>
            </a:pPr>
            <a:r>
              <a:rPr lang="uk-UA" sz="2800"/>
              <a:t>keyword sort the records in ascending order by</a:t>
            </a:r>
          </a:p>
          <a:p>
            <a:pPr>
              <a:lnSpc>
                <a:spcPct val="80000"/>
              </a:lnSpc>
              <a:buFontTx/>
              <a:buNone/>
            </a:pPr>
            <a:r>
              <a:rPr lang="uk-UA" sz="2800"/>
              <a:t>default.If you want to sort the records in a</a:t>
            </a:r>
          </a:p>
          <a:p>
            <a:pPr>
              <a:lnSpc>
                <a:spcPct val="80000"/>
              </a:lnSpc>
              <a:buFontTx/>
              <a:buNone/>
            </a:pPr>
            <a:r>
              <a:rPr lang="uk-UA" sz="2800"/>
              <a:t>descending order, you can use the DESC</a:t>
            </a:r>
          </a:p>
          <a:p>
            <a:pPr>
              <a:lnSpc>
                <a:spcPct val="80000"/>
              </a:lnSpc>
              <a:buFontTx/>
              <a:buNone/>
            </a:pPr>
            <a:r>
              <a:rPr lang="uk-UA" sz="2800"/>
              <a:t>keyword.</a:t>
            </a:r>
            <a:endParaRPr lang="uk-UA" sz="2800" b="1"/>
          </a:p>
          <a:p>
            <a:pPr>
              <a:lnSpc>
                <a:spcPct val="80000"/>
              </a:lnSpc>
              <a:buFontTx/>
              <a:buNone/>
            </a:pPr>
            <a:endParaRPr lang="uk-UA" sz="2800" b="1"/>
          </a:p>
          <a:p>
            <a:pPr>
              <a:lnSpc>
                <a:spcPct val="80000"/>
              </a:lnSpc>
              <a:buFontTx/>
              <a:buNone/>
            </a:pPr>
            <a:r>
              <a:rPr lang="uk-UA" sz="2800"/>
              <a:t>	SELECT column_name(s)</a:t>
            </a:r>
            <a:br>
              <a:rPr lang="uk-UA" sz="2800"/>
            </a:br>
            <a:r>
              <a:rPr lang="uk-UA" sz="2800"/>
              <a:t>FROM table_name</a:t>
            </a:r>
            <a:br>
              <a:rPr lang="uk-UA" sz="2800"/>
            </a:br>
            <a:r>
              <a:rPr lang="uk-UA" sz="2800"/>
              <a:t>ORDER BY column_name(s) ASC|DESC</a:t>
            </a:r>
          </a:p>
        </p:txBody>
      </p:sp>
    </p:spTree>
    <p:extLst>
      <p:ext uri="{BB962C8B-B14F-4D97-AF65-F5344CB8AC3E}">
        <p14:creationId xmlns:p14="http://schemas.microsoft.com/office/powerpoint/2010/main" val="4165346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uk-UA" b="1"/>
              <a:t>INSERT INTO </a:t>
            </a:r>
          </a:p>
        </p:txBody>
      </p:sp>
      <p:sp>
        <p:nvSpPr>
          <p:cNvPr id="33795" name="Rectangle 3"/>
          <p:cNvSpPr>
            <a:spLocks noGrp="1" noChangeArrowheads="1"/>
          </p:cNvSpPr>
          <p:nvPr>
            <p:ph type="body" idx="1"/>
          </p:nvPr>
        </p:nvSpPr>
        <p:spPr>
          <a:xfrm>
            <a:off x="457200" y="1600200"/>
            <a:ext cx="8229600" cy="5029200"/>
          </a:xfrm>
        </p:spPr>
        <p:txBody>
          <a:bodyPr/>
          <a:lstStyle/>
          <a:p>
            <a:pPr>
              <a:lnSpc>
                <a:spcPct val="80000"/>
              </a:lnSpc>
              <a:buFontTx/>
              <a:buNone/>
            </a:pPr>
            <a:r>
              <a:rPr lang="uk-UA" sz="2400"/>
              <a:t>It is possible to write the INSERT INTO statement</a:t>
            </a:r>
          </a:p>
          <a:p>
            <a:pPr>
              <a:lnSpc>
                <a:spcPct val="80000"/>
              </a:lnSpc>
              <a:buFontTx/>
              <a:buNone/>
            </a:pPr>
            <a:r>
              <a:rPr lang="uk-UA" sz="2400"/>
              <a:t>in two forms. The first form doesn't specify the</a:t>
            </a:r>
          </a:p>
          <a:p>
            <a:pPr>
              <a:lnSpc>
                <a:spcPct val="80000"/>
              </a:lnSpc>
              <a:buFontTx/>
              <a:buNone/>
            </a:pPr>
            <a:r>
              <a:rPr lang="uk-UA" sz="2400"/>
              <a:t>column names where the data will be inserted,</a:t>
            </a:r>
          </a:p>
          <a:p>
            <a:pPr>
              <a:lnSpc>
                <a:spcPct val="80000"/>
              </a:lnSpc>
              <a:buFontTx/>
              <a:buNone/>
            </a:pPr>
            <a:r>
              <a:rPr lang="uk-UA" sz="2400"/>
              <a:t>only their values:</a:t>
            </a:r>
          </a:p>
          <a:p>
            <a:pPr>
              <a:lnSpc>
                <a:spcPct val="80000"/>
              </a:lnSpc>
              <a:buFontTx/>
              <a:buNone/>
            </a:pPr>
            <a:endParaRPr lang="uk-UA" sz="2400"/>
          </a:p>
          <a:p>
            <a:pPr>
              <a:lnSpc>
                <a:spcPct val="80000"/>
              </a:lnSpc>
              <a:buFontTx/>
              <a:buNone/>
            </a:pPr>
            <a:r>
              <a:rPr lang="uk-UA" sz="2400"/>
              <a:t>		INSERT INTO table_name</a:t>
            </a:r>
            <a:br>
              <a:rPr lang="uk-UA" sz="2400"/>
            </a:br>
            <a:r>
              <a:rPr lang="uk-UA" sz="2400"/>
              <a:t>	VALUES (value1, value2, value3,...)</a:t>
            </a:r>
          </a:p>
          <a:p>
            <a:pPr>
              <a:lnSpc>
                <a:spcPct val="80000"/>
              </a:lnSpc>
              <a:buFontTx/>
              <a:buNone/>
            </a:pPr>
            <a:endParaRPr lang="uk-UA" sz="2400"/>
          </a:p>
          <a:p>
            <a:pPr>
              <a:lnSpc>
                <a:spcPct val="80000"/>
              </a:lnSpc>
              <a:buFontTx/>
              <a:buNone/>
            </a:pPr>
            <a:r>
              <a:rPr lang="uk-UA" sz="2400"/>
              <a:t>The second form specifies both the column names and the values to be inserted:</a:t>
            </a:r>
          </a:p>
          <a:p>
            <a:pPr>
              <a:lnSpc>
                <a:spcPct val="80000"/>
              </a:lnSpc>
              <a:buFontTx/>
              <a:buNone/>
            </a:pPr>
            <a:endParaRPr lang="uk-UA" sz="2400"/>
          </a:p>
          <a:p>
            <a:pPr>
              <a:lnSpc>
                <a:spcPct val="80000"/>
              </a:lnSpc>
              <a:buFontTx/>
              <a:buNone/>
            </a:pPr>
            <a:r>
              <a:rPr lang="uk-UA" sz="2400"/>
              <a:t>		INSERT INTO table_name (column1, column2, column3,...)</a:t>
            </a:r>
            <a:br>
              <a:rPr lang="uk-UA" sz="2400"/>
            </a:br>
            <a:r>
              <a:rPr lang="uk-UA" sz="2400"/>
              <a:t>	VALUES (value1, value2, value3,...)</a:t>
            </a:r>
          </a:p>
        </p:txBody>
      </p:sp>
    </p:spTree>
    <p:extLst>
      <p:ext uri="{BB962C8B-B14F-4D97-AF65-F5344CB8AC3E}">
        <p14:creationId xmlns:p14="http://schemas.microsoft.com/office/powerpoint/2010/main" val="63336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0"/>
            <a:ext cx="8229600" cy="1143000"/>
          </a:xfrm>
        </p:spPr>
        <p:txBody>
          <a:bodyPr>
            <a:normAutofit fontScale="90000"/>
          </a:bodyPr>
          <a:lstStyle/>
          <a:p>
            <a:r>
              <a:rPr lang="uk-UA" sz="3600"/>
              <a:t>Insert Data Only in Specified Columns</a:t>
            </a:r>
          </a:p>
        </p:txBody>
      </p:sp>
      <p:sp>
        <p:nvSpPr>
          <p:cNvPr id="34819" name="Rectangle 3"/>
          <p:cNvSpPr>
            <a:spLocks noGrp="1" noChangeArrowheads="1"/>
          </p:cNvSpPr>
          <p:nvPr>
            <p:ph type="body" idx="1"/>
          </p:nvPr>
        </p:nvSpPr>
        <p:spPr>
          <a:xfrm>
            <a:off x="152400" y="990600"/>
            <a:ext cx="8839200" cy="5715000"/>
          </a:xfrm>
        </p:spPr>
        <p:txBody>
          <a:bodyPr/>
          <a:lstStyle/>
          <a:p>
            <a:pPr>
              <a:lnSpc>
                <a:spcPct val="80000"/>
              </a:lnSpc>
              <a:buFontTx/>
              <a:buNone/>
            </a:pPr>
            <a:r>
              <a:rPr lang="uk-UA" sz="2400"/>
              <a:t>It is also possible to only add data in specific columns.The following</a:t>
            </a:r>
          </a:p>
          <a:p>
            <a:pPr>
              <a:lnSpc>
                <a:spcPct val="80000"/>
              </a:lnSpc>
              <a:buFontTx/>
              <a:buNone/>
            </a:pPr>
            <a:r>
              <a:rPr lang="uk-UA" sz="2400"/>
              <a:t>SQL statement will add a new row, but only add data in the "P_Id",</a:t>
            </a:r>
          </a:p>
          <a:p>
            <a:pPr>
              <a:lnSpc>
                <a:spcPct val="80000"/>
              </a:lnSpc>
              <a:buFontTx/>
              <a:buNone/>
            </a:pPr>
            <a:r>
              <a:rPr lang="uk-UA" sz="2400"/>
              <a:t>"LastName" and the "FirstName" columns:</a:t>
            </a:r>
          </a:p>
          <a:p>
            <a:pPr>
              <a:lnSpc>
                <a:spcPct val="80000"/>
              </a:lnSpc>
              <a:buFontTx/>
              <a:buNone/>
            </a:pPr>
            <a:r>
              <a:rPr lang="uk-UA" sz="2400"/>
              <a:t>		</a:t>
            </a:r>
          </a:p>
          <a:p>
            <a:pPr>
              <a:lnSpc>
                <a:spcPct val="80000"/>
              </a:lnSpc>
              <a:buFontTx/>
              <a:buNone/>
            </a:pPr>
            <a:r>
              <a:rPr lang="uk-UA" sz="2400"/>
              <a:t>		INSERT INTO Persons (P_Id, LastName, FirstName)</a:t>
            </a:r>
            <a:br>
              <a:rPr lang="uk-UA" sz="2400"/>
            </a:br>
            <a:r>
              <a:rPr lang="uk-UA" sz="2400"/>
              <a:t>	VALUES (5, 'Tjessem', 'Jakob')</a:t>
            </a:r>
          </a:p>
          <a:p>
            <a:pPr>
              <a:lnSpc>
                <a:spcPct val="80000"/>
              </a:lnSpc>
              <a:buFontTx/>
              <a:buNone/>
            </a:pPr>
            <a:endParaRPr lang="uk-UA" sz="2400"/>
          </a:p>
          <a:p>
            <a:pPr>
              <a:lnSpc>
                <a:spcPct val="80000"/>
              </a:lnSpc>
              <a:buFontTx/>
              <a:buNone/>
            </a:pPr>
            <a:r>
              <a:rPr lang="uk-UA" sz="2400"/>
              <a:t>The "Persons" table will now look like this:</a:t>
            </a:r>
          </a:p>
          <a:p>
            <a:pPr>
              <a:lnSpc>
                <a:spcPct val="80000"/>
              </a:lnSpc>
            </a:pPr>
            <a:endParaRPr lang="uk-UA" sz="2400" b="1"/>
          </a:p>
          <a:p>
            <a:pPr>
              <a:lnSpc>
                <a:spcPct val="80000"/>
              </a:lnSpc>
              <a:buFontTx/>
              <a:buNone/>
            </a:pPr>
            <a:r>
              <a:rPr lang="uk-UA" sz="2000" b="1"/>
              <a:t>P_Id 	LastName 	FirstName 	Address 	City </a:t>
            </a:r>
          </a:p>
          <a:p>
            <a:pPr>
              <a:lnSpc>
                <a:spcPct val="80000"/>
              </a:lnSpc>
              <a:buFontTx/>
              <a:buNone/>
            </a:pPr>
            <a:r>
              <a:rPr lang="uk-UA" sz="2000"/>
              <a:t>1 		Hansen 	Ola 		Timoteivn 10 Sandnes </a:t>
            </a:r>
          </a:p>
          <a:p>
            <a:pPr>
              <a:lnSpc>
                <a:spcPct val="80000"/>
              </a:lnSpc>
              <a:buFontTx/>
              <a:buNone/>
            </a:pPr>
            <a:r>
              <a:rPr lang="uk-UA" sz="2000"/>
              <a:t>2 		Svendson 	Tove 		Borgvn 23 	Sandnes </a:t>
            </a:r>
          </a:p>
          <a:p>
            <a:pPr>
              <a:lnSpc>
                <a:spcPct val="80000"/>
              </a:lnSpc>
              <a:buFontTx/>
              <a:buNone/>
            </a:pPr>
            <a:r>
              <a:rPr lang="uk-UA" sz="2000"/>
              <a:t>3 		Pettersen 	Kari 		Storgt 20 	Stavanger</a:t>
            </a:r>
          </a:p>
          <a:p>
            <a:pPr>
              <a:lnSpc>
                <a:spcPct val="80000"/>
              </a:lnSpc>
              <a:buFontTx/>
              <a:buNone/>
            </a:pPr>
            <a:r>
              <a:rPr lang="uk-UA" sz="2000"/>
              <a:t>4 		Nilsen 		Johan 		Bakken 2 	Stavanger </a:t>
            </a:r>
          </a:p>
          <a:p>
            <a:pPr>
              <a:lnSpc>
                <a:spcPct val="80000"/>
              </a:lnSpc>
              <a:buFontTx/>
              <a:buNone/>
            </a:pPr>
            <a:r>
              <a:rPr lang="uk-UA" sz="2000"/>
              <a:t>5 		Tjessem 	Jakob  </a:t>
            </a:r>
          </a:p>
        </p:txBody>
      </p:sp>
    </p:spTree>
    <p:extLst>
      <p:ext uri="{BB962C8B-B14F-4D97-AF65-F5344CB8AC3E}">
        <p14:creationId xmlns:p14="http://schemas.microsoft.com/office/powerpoint/2010/main" val="1427740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uk-UA" b="1"/>
              <a:t>UPDATE </a:t>
            </a:r>
          </a:p>
        </p:txBody>
      </p:sp>
      <p:sp>
        <p:nvSpPr>
          <p:cNvPr id="35843" name="Rectangle 3"/>
          <p:cNvSpPr>
            <a:spLocks noGrp="1" noChangeArrowheads="1"/>
          </p:cNvSpPr>
          <p:nvPr>
            <p:ph type="body" idx="1"/>
          </p:nvPr>
        </p:nvSpPr>
        <p:spPr/>
        <p:txBody>
          <a:bodyPr/>
          <a:lstStyle/>
          <a:p>
            <a:pPr>
              <a:buFontTx/>
              <a:buNone/>
            </a:pPr>
            <a:endParaRPr lang="uk-UA"/>
          </a:p>
          <a:p>
            <a:pPr>
              <a:buFontTx/>
              <a:buNone/>
            </a:pPr>
            <a:endParaRPr lang="uk-UA"/>
          </a:p>
          <a:p>
            <a:pPr>
              <a:buFontTx/>
              <a:buNone/>
            </a:pPr>
            <a:r>
              <a:rPr lang="uk-UA"/>
              <a:t>	UPDATE table_name</a:t>
            </a:r>
            <a:br>
              <a:rPr lang="uk-UA"/>
            </a:br>
            <a:r>
              <a:rPr lang="uk-UA"/>
              <a:t>SET column1=value, column2=value2,...</a:t>
            </a:r>
            <a:br>
              <a:rPr lang="uk-UA"/>
            </a:br>
            <a:r>
              <a:rPr lang="uk-UA"/>
              <a:t>WHERE some_column=some_value </a:t>
            </a:r>
          </a:p>
        </p:txBody>
      </p:sp>
    </p:spTree>
    <p:extLst>
      <p:ext uri="{BB962C8B-B14F-4D97-AF65-F5344CB8AC3E}">
        <p14:creationId xmlns:p14="http://schemas.microsoft.com/office/powerpoint/2010/main" val="2563671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endParaRPr lang="uk-UA"/>
          </a:p>
        </p:txBody>
      </p:sp>
      <p:sp>
        <p:nvSpPr>
          <p:cNvPr id="36867" name="Rectangle 3"/>
          <p:cNvSpPr>
            <a:spLocks noGrp="1" noChangeArrowheads="1"/>
          </p:cNvSpPr>
          <p:nvPr>
            <p:ph type="body" idx="1"/>
          </p:nvPr>
        </p:nvSpPr>
        <p:spPr>
          <a:xfrm>
            <a:off x="457200" y="381000"/>
            <a:ext cx="8229600" cy="6172200"/>
          </a:xfrm>
        </p:spPr>
        <p:txBody>
          <a:bodyPr/>
          <a:lstStyle/>
          <a:p>
            <a:endParaRPr lang="uk-UA"/>
          </a:p>
          <a:p>
            <a:r>
              <a:rPr lang="uk-UA"/>
              <a:t>UPDATE Persons</a:t>
            </a:r>
            <a:br>
              <a:rPr lang="uk-UA"/>
            </a:br>
            <a:r>
              <a:rPr lang="uk-UA"/>
              <a:t>SET Address='Nissestien 67', City='Sandnes'</a:t>
            </a:r>
            <a:br>
              <a:rPr lang="uk-UA"/>
            </a:br>
            <a:r>
              <a:rPr lang="uk-UA"/>
              <a:t>WHERE LastName='Tjessem' AND FirstName='Jakob' </a:t>
            </a:r>
          </a:p>
          <a:p>
            <a:endParaRPr lang="uk-UA"/>
          </a:p>
          <a:p>
            <a:r>
              <a:rPr lang="uk-UA"/>
              <a:t>UPDATE Persons</a:t>
            </a:r>
            <a:br>
              <a:rPr lang="uk-UA"/>
            </a:br>
            <a:r>
              <a:rPr lang="uk-UA"/>
              <a:t>SET Address='Nissestien 67', City='Sandnes' </a:t>
            </a:r>
          </a:p>
        </p:txBody>
      </p:sp>
    </p:spTree>
    <p:extLst>
      <p:ext uri="{BB962C8B-B14F-4D97-AF65-F5344CB8AC3E}">
        <p14:creationId xmlns:p14="http://schemas.microsoft.com/office/powerpoint/2010/main" val="4006861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DELETE</a:t>
            </a:r>
            <a:endParaRPr lang="uk-UA"/>
          </a:p>
        </p:txBody>
      </p:sp>
      <p:sp>
        <p:nvSpPr>
          <p:cNvPr id="37891" name="Rectangle 3"/>
          <p:cNvSpPr>
            <a:spLocks noGrp="1" noChangeArrowheads="1"/>
          </p:cNvSpPr>
          <p:nvPr>
            <p:ph type="body" idx="1"/>
          </p:nvPr>
        </p:nvSpPr>
        <p:spPr/>
        <p:txBody>
          <a:bodyPr/>
          <a:lstStyle/>
          <a:p>
            <a:pPr>
              <a:buFontTx/>
              <a:buNone/>
            </a:pPr>
            <a:endParaRPr lang="en-US"/>
          </a:p>
          <a:p>
            <a:pPr>
              <a:buFontTx/>
              <a:buNone/>
            </a:pPr>
            <a:endParaRPr lang="en-US"/>
          </a:p>
          <a:p>
            <a:pPr>
              <a:buFontTx/>
              <a:buNone/>
            </a:pPr>
            <a:endParaRPr lang="en-US"/>
          </a:p>
          <a:p>
            <a:pPr>
              <a:buFontTx/>
              <a:buNone/>
            </a:pPr>
            <a:r>
              <a:rPr lang="en-US"/>
              <a:t>	</a:t>
            </a:r>
            <a:r>
              <a:rPr lang="uk-UA"/>
              <a:t>DELETE FROM table_name</a:t>
            </a:r>
            <a:br>
              <a:rPr lang="uk-UA"/>
            </a:br>
            <a:r>
              <a:rPr lang="uk-UA"/>
              <a:t>WHERE some_column=some_value </a:t>
            </a:r>
          </a:p>
        </p:txBody>
      </p:sp>
    </p:spTree>
    <p:extLst>
      <p:ext uri="{BB962C8B-B14F-4D97-AF65-F5344CB8AC3E}">
        <p14:creationId xmlns:p14="http://schemas.microsoft.com/office/powerpoint/2010/main" val="958056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DELETE FROM ALL ROWS</a:t>
            </a:r>
            <a:endParaRPr lang="uk-UA"/>
          </a:p>
        </p:txBody>
      </p:sp>
      <p:sp>
        <p:nvSpPr>
          <p:cNvPr id="38915" name="Rectangle 3"/>
          <p:cNvSpPr>
            <a:spLocks noGrp="1" noChangeArrowheads="1"/>
          </p:cNvSpPr>
          <p:nvPr>
            <p:ph type="body" idx="1"/>
          </p:nvPr>
        </p:nvSpPr>
        <p:spPr/>
        <p:txBody>
          <a:bodyPr/>
          <a:lstStyle/>
          <a:p>
            <a:pPr>
              <a:buFontTx/>
              <a:buNone/>
            </a:pPr>
            <a:endParaRPr lang="en-US"/>
          </a:p>
          <a:p>
            <a:pPr>
              <a:buFontTx/>
              <a:buNone/>
            </a:pPr>
            <a:endParaRPr lang="en-US"/>
          </a:p>
          <a:p>
            <a:pPr>
              <a:buFontTx/>
              <a:buNone/>
            </a:pPr>
            <a:r>
              <a:rPr lang="en-US"/>
              <a:t>	</a:t>
            </a:r>
            <a:r>
              <a:rPr lang="uk-UA"/>
              <a:t>DELETE FROM table_name</a:t>
            </a:r>
            <a:br>
              <a:rPr lang="uk-UA"/>
            </a:br>
            <a:r>
              <a:rPr lang="uk-UA"/>
              <a:t/>
            </a:r>
            <a:br>
              <a:rPr lang="uk-UA"/>
            </a:br>
            <a:r>
              <a:rPr lang="uk-UA"/>
              <a:t>or</a:t>
            </a:r>
            <a:br>
              <a:rPr lang="uk-UA"/>
            </a:br>
            <a:r>
              <a:rPr lang="uk-UA"/>
              <a:t/>
            </a:r>
            <a:br>
              <a:rPr lang="uk-UA"/>
            </a:br>
            <a:r>
              <a:rPr lang="uk-UA"/>
              <a:t>DELETE * FROM table_name </a:t>
            </a:r>
          </a:p>
        </p:txBody>
      </p:sp>
    </p:spTree>
    <p:extLst>
      <p:ext uri="{BB962C8B-B14F-4D97-AF65-F5344CB8AC3E}">
        <p14:creationId xmlns:p14="http://schemas.microsoft.com/office/powerpoint/2010/main" val="4277208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SQL II</a:t>
            </a:r>
            <a:endParaRPr lang="uk-UA"/>
          </a:p>
        </p:txBody>
      </p:sp>
      <p:sp>
        <p:nvSpPr>
          <p:cNvPr id="4099" name="Rectangle 3"/>
          <p:cNvSpPr>
            <a:spLocks noGrp="1" noChangeArrowheads="1"/>
          </p:cNvSpPr>
          <p:nvPr>
            <p:ph type="subTitle" idx="1"/>
          </p:nvPr>
        </p:nvSpPr>
        <p:spPr/>
        <p:txBody>
          <a:bodyPr>
            <a:normAutofit fontScale="47500" lnSpcReduction="20000"/>
          </a:bodyPr>
          <a:lstStyle/>
          <a:p>
            <a:pPr algn="r">
              <a:lnSpc>
                <a:spcPct val="90000"/>
              </a:lnSpc>
            </a:pPr>
            <a:endParaRPr lang="en-US" sz="1600" i="1"/>
          </a:p>
          <a:p>
            <a:pPr algn="r">
              <a:lnSpc>
                <a:spcPct val="90000"/>
              </a:lnSpc>
            </a:pPr>
            <a:endParaRPr lang="en-US" sz="1600" i="1"/>
          </a:p>
          <a:p>
            <a:pPr algn="r">
              <a:lnSpc>
                <a:spcPct val="90000"/>
              </a:lnSpc>
            </a:pPr>
            <a:endParaRPr lang="en-US" sz="1600" i="1"/>
          </a:p>
          <a:p>
            <a:pPr algn="r">
              <a:lnSpc>
                <a:spcPct val="90000"/>
              </a:lnSpc>
            </a:pPr>
            <a:endParaRPr lang="en-US" sz="1600" i="1"/>
          </a:p>
          <a:p>
            <a:pPr algn="r">
              <a:lnSpc>
                <a:spcPct val="90000"/>
              </a:lnSpc>
            </a:pPr>
            <a:endParaRPr lang="en-US" sz="1600" i="1"/>
          </a:p>
          <a:p>
            <a:pPr algn="r">
              <a:lnSpc>
                <a:spcPct val="90000"/>
              </a:lnSpc>
            </a:pPr>
            <a:r>
              <a:rPr lang="en-US" sz="1600" i="1"/>
              <a:t>Insert, delete, update etc.</a:t>
            </a:r>
            <a:endParaRPr lang="uk-UA" sz="1600" i="1"/>
          </a:p>
        </p:txBody>
      </p:sp>
    </p:spTree>
    <p:extLst>
      <p:ext uri="{BB962C8B-B14F-4D97-AF65-F5344CB8AC3E}">
        <p14:creationId xmlns:p14="http://schemas.microsoft.com/office/powerpoint/2010/main" val="4142460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uk-UA" b="1"/>
              <a:t>INSERT INTO </a:t>
            </a:r>
          </a:p>
        </p:txBody>
      </p:sp>
      <p:sp>
        <p:nvSpPr>
          <p:cNvPr id="5123" name="Rectangle 3"/>
          <p:cNvSpPr>
            <a:spLocks noGrp="1" noChangeArrowheads="1"/>
          </p:cNvSpPr>
          <p:nvPr>
            <p:ph type="body" idx="1"/>
          </p:nvPr>
        </p:nvSpPr>
        <p:spPr>
          <a:xfrm>
            <a:off x="457200" y="1600200"/>
            <a:ext cx="8229600" cy="5029200"/>
          </a:xfrm>
        </p:spPr>
        <p:txBody>
          <a:bodyPr/>
          <a:lstStyle/>
          <a:p>
            <a:pPr>
              <a:lnSpc>
                <a:spcPct val="80000"/>
              </a:lnSpc>
              <a:buFontTx/>
              <a:buNone/>
            </a:pPr>
            <a:r>
              <a:rPr lang="uk-UA" sz="2400"/>
              <a:t>It is possible to write the INSERT INTO statement</a:t>
            </a:r>
          </a:p>
          <a:p>
            <a:pPr>
              <a:lnSpc>
                <a:spcPct val="80000"/>
              </a:lnSpc>
              <a:buFontTx/>
              <a:buNone/>
            </a:pPr>
            <a:r>
              <a:rPr lang="uk-UA" sz="2400"/>
              <a:t>in two forms. The first form doesn't specify the</a:t>
            </a:r>
          </a:p>
          <a:p>
            <a:pPr>
              <a:lnSpc>
                <a:spcPct val="80000"/>
              </a:lnSpc>
              <a:buFontTx/>
              <a:buNone/>
            </a:pPr>
            <a:r>
              <a:rPr lang="uk-UA" sz="2400"/>
              <a:t>column names where the data will be inserted,</a:t>
            </a:r>
          </a:p>
          <a:p>
            <a:pPr>
              <a:lnSpc>
                <a:spcPct val="80000"/>
              </a:lnSpc>
              <a:buFontTx/>
              <a:buNone/>
            </a:pPr>
            <a:r>
              <a:rPr lang="uk-UA" sz="2400"/>
              <a:t>only their values:</a:t>
            </a:r>
          </a:p>
          <a:p>
            <a:pPr>
              <a:lnSpc>
                <a:spcPct val="80000"/>
              </a:lnSpc>
              <a:buFontTx/>
              <a:buNone/>
            </a:pPr>
            <a:endParaRPr lang="uk-UA" sz="2400"/>
          </a:p>
          <a:p>
            <a:pPr>
              <a:lnSpc>
                <a:spcPct val="80000"/>
              </a:lnSpc>
              <a:buFontTx/>
              <a:buNone/>
            </a:pPr>
            <a:r>
              <a:rPr lang="uk-UA" sz="2400"/>
              <a:t>		INSERT INTO table_name</a:t>
            </a:r>
            <a:br>
              <a:rPr lang="uk-UA" sz="2400"/>
            </a:br>
            <a:r>
              <a:rPr lang="uk-UA" sz="2400"/>
              <a:t>	VALUES (value1, value2, value3,...)</a:t>
            </a:r>
          </a:p>
          <a:p>
            <a:pPr>
              <a:lnSpc>
                <a:spcPct val="80000"/>
              </a:lnSpc>
              <a:buFontTx/>
              <a:buNone/>
            </a:pPr>
            <a:endParaRPr lang="uk-UA" sz="2400"/>
          </a:p>
          <a:p>
            <a:pPr>
              <a:lnSpc>
                <a:spcPct val="80000"/>
              </a:lnSpc>
              <a:buFontTx/>
              <a:buNone/>
            </a:pPr>
            <a:r>
              <a:rPr lang="uk-UA" sz="2400"/>
              <a:t>The second form specifies both the column names and the values to be inserted:</a:t>
            </a:r>
          </a:p>
          <a:p>
            <a:pPr>
              <a:lnSpc>
                <a:spcPct val="80000"/>
              </a:lnSpc>
              <a:buFontTx/>
              <a:buNone/>
            </a:pPr>
            <a:endParaRPr lang="uk-UA" sz="2400"/>
          </a:p>
          <a:p>
            <a:pPr>
              <a:lnSpc>
                <a:spcPct val="80000"/>
              </a:lnSpc>
              <a:buFontTx/>
              <a:buNone/>
            </a:pPr>
            <a:r>
              <a:rPr lang="uk-UA" sz="2400"/>
              <a:t>		INSERT INTO table_name (column1, column2, column3,...)</a:t>
            </a:r>
            <a:br>
              <a:rPr lang="uk-UA" sz="2400"/>
            </a:br>
            <a:r>
              <a:rPr lang="uk-UA" sz="2400"/>
              <a:t>	VALUES (value1, value2, value3,...)</a:t>
            </a:r>
          </a:p>
        </p:txBody>
      </p:sp>
    </p:spTree>
    <p:extLst>
      <p:ext uri="{BB962C8B-B14F-4D97-AF65-F5344CB8AC3E}">
        <p14:creationId xmlns:p14="http://schemas.microsoft.com/office/powerpoint/2010/main" val="2155258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0"/>
            <a:ext cx="8229600" cy="1143000"/>
          </a:xfrm>
        </p:spPr>
        <p:txBody>
          <a:bodyPr>
            <a:normAutofit fontScale="90000"/>
          </a:bodyPr>
          <a:lstStyle/>
          <a:p>
            <a:r>
              <a:rPr lang="uk-UA" sz="3600"/>
              <a:t>Insert Data Only in Specified Columns</a:t>
            </a:r>
          </a:p>
        </p:txBody>
      </p:sp>
      <p:sp>
        <p:nvSpPr>
          <p:cNvPr id="6147" name="Rectangle 3"/>
          <p:cNvSpPr>
            <a:spLocks noGrp="1" noChangeArrowheads="1"/>
          </p:cNvSpPr>
          <p:nvPr>
            <p:ph type="body" idx="1"/>
          </p:nvPr>
        </p:nvSpPr>
        <p:spPr>
          <a:xfrm>
            <a:off x="152400" y="990600"/>
            <a:ext cx="8839200" cy="5715000"/>
          </a:xfrm>
        </p:spPr>
        <p:txBody>
          <a:bodyPr/>
          <a:lstStyle/>
          <a:p>
            <a:pPr>
              <a:lnSpc>
                <a:spcPct val="80000"/>
              </a:lnSpc>
              <a:buFontTx/>
              <a:buNone/>
            </a:pPr>
            <a:r>
              <a:rPr lang="uk-UA" sz="2400"/>
              <a:t>It is also possible to only add data in specific columns.The following</a:t>
            </a:r>
          </a:p>
          <a:p>
            <a:pPr>
              <a:lnSpc>
                <a:spcPct val="80000"/>
              </a:lnSpc>
              <a:buFontTx/>
              <a:buNone/>
            </a:pPr>
            <a:r>
              <a:rPr lang="uk-UA" sz="2400"/>
              <a:t>SQL statement will add a new row, but only add data in the "P_Id",</a:t>
            </a:r>
          </a:p>
          <a:p>
            <a:pPr>
              <a:lnSpc>
                <a:spcPct val="80000"/>
              </a:lnSpc>
              <a:buFontTx/>
              <a:buNone/>
            </a:pPr>
            <a:r>
              <a:rPr lang="uk-UA" sz="2400"/>
              <a:t>"LastName" and the "FirstName" columns:</a:t>
            </a:r>
          </a:p>
          <a:p>
            <a:pPr>
              <a:lnSpc>
                <a:spcPct val="80000"/>
              </a:lnSpc>
              <a:buFontTx/>
              <a:buNone/>
            </a:pPr>
            <a:r>
              <a:rPr lang="uk-UA" sz="2400"/>
              <a:t>		</a:t>
            </a:r>
          </a:p>
          <a:p>
            <a:pPr>
              <a:lnSpc>
                <a:spcPct val="80000"/>
              </a:lnSpc>
              <a:buFontTx/>
              <a:buNone/>
            </a:pPr>
            <a:r>
              <a:rPr lang="uk-UA" sz="2400"/>
              <a:t>		INSERT INTO Persons (P_Id, LastName, FirstName)</a:t>
            </a:r>
            <a:br>
              <a:rPr lang="uk-UA" sz="2400"/>
            </a:br>
            <a:r>
              <a:rPr lang="uk-UA" sz="2400"/>
              <a:t>	VALUES (5, 'Tjessem', 'Jakob')</a:t>
            </a:r>
          </a:p>
          <a:p>
            <a:pPr>
              <a:lnSpc>
                <a:spcPct val="80000"/>
              </a:lnSpc>
              <a:buFontTx/>
              <a:buNone/>
            </a:pPr>
            <a:endParaRPr lang="uk-UA" sz="2400"/>
          </a:p>
          <a:p>
            <a:pPr>
              <a:lnSpc>
                <a:spcPct val="80000"/>
              </a:lnSpc>
              <a:buFontTx/>
              <a:buNone/>
            </a:pPr>
            <a:r>
              <a:rPr lang="uk-UA" sz="2400"/>
              <a:t>The "Persons" table will now look like this:</a:t>
            </a:r>
          </a:p>
          <a:p>
            <a:pPr>
              <a:lnSpc>
                <a:spcPct val="80000"/>
              </a:lnSpc>
            </a:pPr>
            <a:endParaRPr lang="uk-UA" sz="2400" b="1"/>
          </a:p>
          <a:p>
            <a:pPr>
              <a:lnSpc>
                <a:spcPct val="80000"/>
              </a:lnSpc>
              <a:buFontTx/>
              <a:buNone/>
            </a:pPr>
            <a:r>
              <a:rPr lang="uk-UA" sz="2000" b="1"/>
              <a:t>P_Id 	LastName 	FirstName 	Address 	City </a:t>
            </a:r>
          </a:p>
          <a:p>
            <a:pPr>
              <a:lnSpc>
                <a:spcPct val="80000"/>
              </a:lnSpc>
              <a:buFontTx/>
              <a:buNone/>
            </a:pPr>
            <a:r>
              <a:rPr lang="uk-UA" sz="2000"/>
              <a:t>1 		Hansen 	Ola 		Timoteivn 10 Sandnes </a:t>
            </a:r>
          </a:p>
          <a:p>
            <a:pPr>
              <a:lnSpc>
                <a:spcPct val="80000"/>
              </a:lnSpc>
              <a:buFontTx/>
              <a:buNone/>
            </a:pPr>
            <a:r>
              <a:rPr lang="uk-UA" sz="2000"/>
              <a:t>2 		Svendson 	Tove 		Borgvn 23 	Sandnes </a:t>
            </a:r>
          </a:p>
          <a:p>
            <a:pPr>
              <a:lnSpc>
                <a:spcPct val="80000"/>
              </a:lnSpc>
              <a:buFontTx/>
              <a:buNone/>
            </a:pPr>
            <a:r>
              <a:rPr lang="uk-UA" sz="2000"/>
              <a:t>3 		Pettersen 	Kari 		Storgt 20 	Stavanger</a:t>
            </a:r>
          </a:p>
          <a:p>
            <a:pPr>
              <a:lnSpc>
                <a:spcPct val="80000"/>
              </a:lnSpc>
              <a:buFontTx/>
              <a:buNone/>
            </a:pPr>
            <a:r>
              <a:rPr lang="uk-UA" sz="2000"/>
              <a:t>4 		Nilsen 		Johan 		Bakken 2 	Stavanger </a:t>
            </a:r>
          </a:p>
          <a:p>
            <a:pPr>
              <a:lnSpc>
                <a:spcPct val="80000"/>
              </a:lnSpc>
              <a:buFontTx/>
              <a:buNone/>
            </a:pPr>
            <a:r>
              <a:rPr lang="uk-UA" sz="2000"/>
              <a:t>5 		Tjessem 	Jakob  </a:t>
            </a:r>
          </a:p>
        </p:txBody>
      </p:sp>
    </p:spTree>
    <p:extLst>
      <p:ext uri="{BB962C8B-B14F-4D97-AF65-F5344CB8AC3E}">
        <p14:creationId xmlns:p14="http://schemas.microsoft.com/office/powerpoint/2010/main" val="2658437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uk-UA" b="1"/>
              <a:t>UPDATE </a:t>
            </a:r>
          </a:p>
        </p:txBody>
      </p:sp>
      <p:sp>
        <p:nvSpPr>
          <p:cNvPr id="7171" name="Rectangle 3"/>
          <p:cNvSpPr>
            <a:spLocks noGrp="1" noChangeArrowheads="1"/>
          </p:cNvSpPr>
          <p:nvPr>
            <p:ph type="body" idx="1"/>
          </p:nvPr>
        </p:nvSpPr>
        <p:spPr/>
        <p:txBody>
          <a:bodyPr/>
          <a:lstStyle/>
          <a:p>
            <a:pPr>
              <a:buFontTx/>
              <a:buNone/>
            </a:pPr>
            <a:endParaRPr lang="uk-UA"/>
          </a:p>
          <a:p>
            <a:pPr>
              <a:buFontTx/>
              <a:buNone/>
            </a:pPr>
            <a:endParaRPr lang="uk-UA"/>
          </a:p>
          <a:p>
            <a:pPr>
              <a:buFontTx/>
              <a:buNone/>
            </a:pPr>
            <a:r>
              <a:rPr lang="uk-UA"/>
              <a:t>	UPDATE table_name</a:t>
            </a:r>
            <a:br>
              <a:rPr lang="uk-UA"/>
            </a:br>
            <a:r>
              <a:rPr lang="uk-UA"/>
              <a:t>SET column1=value, column2=value2,...</a:t>
            </a:r>
            <a:br>
              <a:rPr lang="uk-UA"/>
            </a:br>
            <a:r>
              <a:rPr lang="uk-UA"/>
              <a:t>WHERE some_column=some_value </a:t>
            </a:r>
          </a:p>
        </p:txBody>
      </p:sp>
    </p:spTree>
    <p:extLst>
      <p:ext uri="{BB962C8B-B14F-4D97-AF65-F5344CB8AC3E}">
        <p14:creationId xmlns:p14="http://schemas.microsoft.com/office/powerpoint/2010/main" val="6276502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endParaRPr lang="uk-UA"/>
          </a:p>
        </p:txBody>
      </p:sp>
      <p:sp>
        <p:nvSpPr>
          <p:cNvPr id="8195" name="Rectangle 3"/>
          <p:cNvSpPr>
            <a:spLocks noGrp="1" noChangeArrowheads="1"/>
          </p:cNvSpPr>
          <p:nvPr>
            <p:ph type="body" idx="1"/>
          </p:nvPr>
        </p:nvSpPr>
        <p:spPr>
          <a:xfrm>
            <a:off x="457200" y="381000"/>
            <a:ext cx="8229600" cy="6172200"/>
          </a:xfrm>
        </p:spPr>
        <p:txBody>
          <a:bodyPr/>
          <a:lstStyle/>
          <a:p>
            <a:endParaRPr lang="uk-UA"/>
          </a:p>
          <a:p>
            <a:r>
              <a:rPr lang="uk-UA"/>
              <a:t>UPDATE Persons</a:t>
            </a:r>
            <a:br>
              <a:rPr lang="uk-UA"/>
            </a:br>
            <a:r>
              <a:rPr lang="uk-UA"/>
              <a:t>SET Address='Nissestien 67', City='Sandnes'</a:t>
            </a:r>
            <a:br>
              <a:rPr lang="uk-UA"/>
            </a:br>
            <a:r>
              <a:rPr lang="uk-UA"/>
              <a:t>WHERE LastName='Tjessem' AND FirstName='Jakob' </a:t>
            </a:r>
          </a:p>
          <a:p>
            <a:endParaRPr lang="uk-UA"/>
          </a:p>
          <a:p>
            <a:r>
              <a:rPr lang="uk-UA"/>
              <a:t>UPDATE Persons</a:t>
            </a:r>
            <a:br>
              <a:rPr lang="uk-UA"/>
            </a:br>
            <a:r>
              <a:rPr lang="uk-UA"/>
              <a:t>SET Address='Nissestien 67', City='Sandnes' </a:t>
            </a:r>
          </a:p>
        </p:txBody>
      </p:sp>
    </p:spTree>
    <p:extLst>
      <p:ext uri="{BB962C8B-B14F-4D97-AF65-F5344CB8AC3E}">
        <p14:creationId xmlns:p14="http://schemas.microsoft.com/office/powerpoint/2010/main" val="3382604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DELETE</a:t>
            </a:r>
            <a:endParaRPr lang="uk-UA"/>
          </a:p>
        </p:txBody>
      </p:sp>
      <p:sp>
        <p:nvSpPr>
          <p:cNvPr id="9219" name="Rectangle 3"/>
          <p:cNvSpPr>
            <a:spLocks noGrp="1" noChangeArrowheads="1"/>
          </p:cNvSpPr>
          <p:nvPr>
            <p:ph type="body" idx="1"/>
          </p:nvPr>
        </p:nvSpPr>
        <p:spPr/>
        <p:txBody>
          <a:bodyPr/>
          <a:lstStyle/>
          <a:p>
            <a:pPr>
              <a:buFontTx/>
              <a:buNone/>
            </a:pPr>
            <a:endParaRPr lang="en-US"/>
          </a:p>
          <a:p>
            <a:pPr>
              <a:buFontTx/>
              <a:buNone/>
            </a:pPr>
            <a:endParaRPr lang="en-US"/>
          </a:p>
          <a:p>
            <a:pPr>
              <a:buFontTx/>
              <a:buNone/>
            </a:pPr>
            <a:endParaRPr lang="en-US"/>
          </a:p>
          <a:p>
            <a:pPr>
              <a:buFontTx/>
              <a:buNone/>
            </a:pPr>
            <a:r>
              <a:rPr lang="en-US"/>
              <a:t>	</a:t>
            </a:r>
            <a:r>
              <a:rPr lang="uk-UA"/>
              <a:t>DELETE FROM table_name</a:t>
            </a:r>
            <a:br>
              <a:rPr lang="uk-UA"/>
            </a:br>
            <a:r>
              <a:rPr lang="uk-UA"/>
              <a:t>WHERE some_column=some_value </a:t>
            </a:r>
          </a:p>
        </p:txBody>
      </p:sp>
    </p:spTree>
    <p:extLst>
      <p:ext uri="{BB962C8B-B14F-4D97-AF65-F5344CB8AC3E}">
        <p14:creationId xmlns:p14="http://schemas.microsoft.com/office/powerpoint/2010/main" val="528366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DELETE FROM ALL ROWS</a:t>
            </a:r>
            <a:endParaRPr lang="uk-UA"/>
          </a:p>
        </p:txBody>
      </p:sp>
      <p:sp>
        <p:nvSpPr>
          <p:cNvPr id="10243" name="Rectangle 3"/>
          <p:cNvSpPr>
            <a:spLocks noGrp="1" noChangeArrowheads="1"/>
          </p:cNvSpPr>
          <p:nvPr>
            <p:ph type="body" idx="1"/>
          </p:nvPr>
        </p:nvSpPr>
        <p:spPr/>
        <p:txBody>
          <a:bodyPr/>
          <a:lstStyle/>
          <a:p>
            <a:pPr>
              <a:buFontTx/>
              <a:buNone/>
            </a:pPr>
            <a:endParaRPr lang="en-US"/>
          </a:p>
          <a:p>
            <a:pPr>
              <a:buFontTx/>
              <a:buNone/>
            </a:pPr>
            <a:endParaRPr lang="en-US"/>
          </a:p>
          <a:p>
            <a:pPr>
              <a:buFontTx/>
              <a:buNone/>
            </a:pPr>
            <a:r>
              <a:rPr lang="en-US"/>
              <a:t>	</a:t>
            </a:r>
            <a:r>
              <a:rPr lang="uk-UA"/>
              <a:t>DELETE FROM table_name</a:t>
            </a:r>
            <a:br>
              <a:rPr lang="uk-UA"/>
            </a:br>
            <a:r>
              <a:rPr lang="uk-UA"/>
              <a:t/>
            </a:r>
            <a:br>
              <a:rPr lang="uk-UA"/>
            </a:br>
            <a:r>
              <a:rPr lang="uk-UA"/>
              <a:t>or</a:t>
            </a:r>
            <a:br>
              <a:rPr lang="uk-UA"/>
            </a:br>
            <a:r>
              <a:rPr lang="uk-UA"/>
              <a:t/>
            </a:r>
            <a:br>
              <a:rPr lang="uk-UA"/>
            </a:br>
            <a:r>
              <a:rPr lang="uk-UA"/>
              <a:t>DELETE * FROM table_name </a:t>
            </a:r>
          </a:p>
        </p:txBody>
      </p:sp>
    </p:spTree>
    <p:extLst>
      <p:ext uri="{BB962C8B-B14F-4D97-AF65-F5344CB8AC3E}">
        <p14:creationId xmlns:p14="http://schemas.microsoft.com/office/powerpoint/2010/main" val="3419637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uk-UA" b="1"/>
              <a:t>TOP </a:t>
            </a:r>
          </a:p>
        </p:txBody>
      </p:sp>
      <p:sp>
        <p:nvSpPr>
          <p:cNvPr id="11267" name="Rectangle 3"/>
          <p:cNvSpPr>
            <a:spLocks noGrp="1" noChangeArrowheads="1"/>
          </p:cNvSpPr>
          <p:nvPr>
            <p:ph type="body" idx="1"/>
          </p:nvPr>
        </p:nvSpPr>
        <p:spPr/>
        <p:txBody>
          <a:bodyPr/>
          <a:lstStyle/>
          <a:p>
            <a:r>
              <a:rPr lang="uk-UA"/>
              <a:t>The TOP clause is used to specify the number of records to return.</a:t>
            </a:r>
          </a:p>
          <a:p>
            <a:r>
              <a:rPr lang="uk-UA"/>
              <a:t>The TOP clause can be very useful on large tables with thousands of records. Returning a large number of records can impact on performance.</a:t>
            </a:r>
            <a:endParaRPr lang="uk-UA" b="1"/>
          </a:p>
          <a:p>
            <a:r>
              <a:rPr lang="uk-UA" b="1"/>
              <a:t>Note:</a:t>
            </a:r>
            <a:r>
              <a:rPr lang="uk-UA"/>
              <a:t> Not all database systems support the TOP clause.</a:t>
            </a:r>
          </a:p>
        </p:txBody>
      </p:sp>
    </p:spTree>
    <p:extLst>
      <p:ext uri="{BB962C8B-B14F-4D97-AF65-F5344CB8AC3E}">
        <p14:creationId xmlns:p14="http://schemas.microsoft.com/office/powerpoint/2010/main" val="2896931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endParaRPr lang="uk-UA"/>
          </a:p>
        </p:txBody>
      </p:sp>
      <p:sp>
        <p:nvSpPr>
          <p:cNvPr id="12291" name="Rectangle 3"/>
          <p:cNvSpPr>
            <a:spLocks noGrp="1" noChangeArrowheads="1"/>
          </p:cNvSpPr>
          <p:nvPr>
            <p:ph type="body" idx="1"/>
          </p:nvPr>
        </p:nvSpPr>
        <p:spPr>
          <a:xfrm>
            <a:off x="457200" y="304800"/>
            <a:ext cx="8229600" cy="5821363"/>
          </a:xfrm>
        </p:spPr>
        <p:txBody>
          <a:bodyPr/>
          <a:lstStyle/>
          <a:p>
            <a:pPr>
              <a:lnSpc>
                <a:spcPct val="90000"/>
              </a:lnSpc>
              <a:buFontTx/>
              <a:buNone/>
            </a:pPr>
            <a:r>
              <a:rPr lang="en-US"/>
              <a:t>	</a:t>
            </a:r>
          </a:p>
          <a:p>
            <a:pPr>
              <a:lnSpc>
                <a:spcPct val="90000"/>
              </a:lnSpc>
              <a:buFontTx/>
              <a:buNone/>
            </a:pPr>
            <a:endParaRPr lang="en-US"/>
          </a:p>
          <a:p>
            <a:pPr>
              <a:lnSpc>
                <a:spcPct val="90000"/>
              </a:lnSpc>
              <a:buFontTx/>
              <a:buNone/>
            </a:pPr>
            <a:endParaRPr lang="en-US"/>
          </a:p>
          <a:p>
            <a:pPr>
              <a:lnSpc>
                <a:spcPct val="90000"/>
              </a:lnSpc>
              <a:buFontTx/>
              <a:buNone/>
            </a:pPr>
            <a:endParaRPr lang="en-US"/>
          </a:p>
          <a:p>
            <a:pPr>
              <a:lnSpc>
                <a:spcPct val="90000"/>
              </a:lnSpc>
              <a:buFontTx/>
              <a:buNone/>
            </a:pPr>
            <a:r>
              <a:rPr lang="en-US"/>
              <a:t>	</a:t>
            </a:r>
            <a:r>
              <a:rPr lang="uk-UA"/>
              <a:t>SELECT TOP number|percent column_name(s)</a:t>
            </a:r>
            <a:br>
              <a:rPr lang="uk-UA"/>
            </a:br>
            <a:r>
              <a:rPr lang="uk-UA"/>
              <a:t>FROM table_name </a:t>
            </a:r>
            <a:endParaRPr lang="en-US"/>
          </a:p>
          <a:p>
            <a:pPr>
              <a:lnSpc>
                <a:spcPct val="90000"/>
              </a:lnSpc>
              <a:buFontTx/>
              <a:buNone/>
            </a:pPr>
            <a:endParaRPr lang="en-US"/>
          </a:p>
          <a:p>
            <a:pPr>
              <a:lnSpc>
                <a:spcPct val="90000"/>
              </a:lnSpc>
              <a:buFontTx/>
              <a:buNone/>
            </a:pPr>
            <a:endParaRPr lang="en-US"/>
          </a:p>
          <a:p>
            <a:pPr>
              <a:lnSpc>
                <a:spcPct val="90000"/>
              </a:lnSpc>
              <a:buFontTx/>
              <a:buNone/>
            </a:pPr>
            <a:r>
              <a:rPr lang="uk-UA"/>
              <a:t>SELECT TOP 50 PERCENT * FROM Persons </a:t>
            </a:r>
            <a:endParaRPr lang="en-US"/>
          </a:p>
          <a:p>
            <a:pPr>
              <a:lnSpc>
                <a:spcPct val="90000"/>
              </a:lnSpc>
              <a:buFontTx/>
              <a:buNone/>
            </a:pPr>
            <a:endParaRPr lang="uk-UA"/>
          </a:p>
        </p:txBody>
      </p:sp>
    </p:spTree>
    <p:extLst>
      <p:ext uri="{BB962C8B-B14F-4D97-AF65-F5344CB8AC3E}">
        <p14:creationId xmlns:p14="http://schemas.microsoft.com/office/powerpoint/2010/main" val="1229143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endParaRPr lang="uk-UA"/>
          </a:p>
        </p:txBody>
      </p:sp>
      <p:sp>
        <p:nvSpPr>
          <p:cNvPr id="13315" name="Rectangle 3"/>
          <p:cNvSpPr>
            <a:spLocks noGrp="1" noChangeArrowheads="1"/>
          </p:cNvSpPr>
          <p:nvPr>
            <p:ph type="body" idx="1"/>
          </p:nvPr>
        </p:nvSpPr>
        <p:spPr/>
        <p:txBody>
          <a:bodyPr/>
          <a:lstStyle/>
          <a:p>
            <a:pPr>
              <a:lnSpc>
                <a:spcPct val="80000"/>
              </a:lnSpc>
              <a:buFontTx/>
              <a:buNone/>
            </a:pPr>
            <a:r>
              <a:rPr lang="uk-UA" sz="1800" b="1"/>
              <a:t>MySQL Syntax</a:t>
            </a:r>
          </a:p>
          <a:p>
            <a:pPr>
              <a:lnSpc>
                <a:spcPct val="80000"/>
              </a:lnSpc>
              <a:buFontTx/>
              <a:buNone/>
            </a:pPr>
            <a:r>
              <a:rPr lang="en-US" sz="1800"/>
              <a:t>				</a:t>
            </a:r>
            <a:r>
              <a:rPr lang="uk-UA" sz="1800"/>
              <a:t>SELECT column_name(s)</a:t>
            </a:r>
            <a:br>
              <a:rPr lang="uk-UA" sz="1800"/>
            </a:br>
            <a:r>
              <a:rPr lang="en-US" sz="1800"/>
              <a:t>			</a:t>
            </a:r>
            <a:r>
              <a:rPr lang="uk-UA" sz="1800"/>
              <a:t>FROM table_name</a:t>
            </a:r>
            <a:br>
              <a:rPr lang="uk-UA" sz="1800"/>
            </a:br>
            <a:r>
              <a:rPr lang="en-US" sz="1800"/>
              <a:t>			</a:t>
            </a:r>
            <a:r>
              <a:rPr lang="uk-UA" sz="1800"/>
              <a:t>LIMIT number</a:t>
            </a:r>
            <a:endParaRPr lang="uk-UA" sz="1800" b="1"/>
          </a:p>
          <a:p>
            <a:pPr>
              <a:lnSpc>
                <a:spcPct val="80000"/>
              </a:lnSpc>
              <a:buFontTx/>
              <a:buNone/>
            </a:pPr>
            <a:r>
              <a:rPr lang="uk-UA" sz="1800" b="1"/>
              <a:t>Example</a:t>
            </a:r>
          </a:p>
          <a:p>
            <a:pPr>
              <a:lnSpc>
                <a:spcPct val="80000"/>
              </a:lnSpc>
              <a:buFontTx/>
              <a:buNone/>
            </a:pPr>
            <a:r>
              <a:rPr lang="en-US" sz="1800"/>
              <a:t>				</a:t>
            </a:r>
            <a:r>
              <a:rPr lang="uk-UA" sz="1800"/>
              <a:t>SELECT *</a:t>
            </a:r>
            <a:br>
              <a:rPr lang="uk-UA" sz="1800"/>
            </a:br>
            <a:r>
              <a:rPr lang="en-US" sz="1800"/>
              <a:t>			</a:t>
            </a:r>
            <a:r>
              <a:rPr lang="uk-UA" sz="1800"/>
              <a:t>FROM Persons</a:t>
            </a:r>
            <a:br>
              <a:rPr lang="uk-UA" sz="1800"/>
            </a:br>
            <a:r>
              <a:rPr lang="en-US" sz="1800"/>
              <a:t>			</a:t>
            </a:r>
            <a:r>
              <a:rPr lang="uk-UA" sz="1800"/>
              <a:t>LIMIT 5</a:t>
            </a:r>
            <a:endParaRPr lang="uk-UA" sz="1800" b="1"/>
          </a:p>
          <a:p>
            <a:pPr>
              <a:lnSpc>
                <a:spcPct val="80000"/>
              </a:lnSpc>
              <a:buFontTx/>
              <a:buNone/>
            </a:pPr>
            <a:endParaRPr lang="en-US" sz="1800" b="1"/>
          </a:p>
          <a:p>
            <a:pPr>
              <a:lnSpc>
                <a:spcPct val="80000"/>
              </a:lnSpc>
              <a:buFontTx/>
              <a:buNone/>
            </a:pPr>
            <a:r>
              <a:rPr lang="uk-UA" sz="1800" b="1"/>
              <a:t>Oracle Syntax</a:t>
            </a:r>
          </a:p>
          <a:p>
            <a:pPr>
              <a:lnSpc>
                <a:spcPct val="80000"/>
              </a:lnSpc>
              <a:buFontTx/>
              <a:buNone/>
            </a:pPr>
            <a:r>
              <a:rPr lang="en-US" sz="1800"/>
              <a:t>				</a:t>
            </a:r>
            <a:r>
              <a:rPr lang="uk-UA" sz="1800"/>
              <a:t>SELECT column_name(s)</a:t>
            </a:r>
            <a:br>
              <a:rPr lang="uk-UA" sz="1800"/>
            </a:br>
            <a:r>
              <a:rPr lang="en-US" sz="1800"/>
              <a:t>			</a:t>
            </a:r>
            <a:r>
              <a:rPr lang="uk-UA" sz="1800"/>
              <a:t>FROM table_name</a:t>
            </a:r>
            <a:br>
              <a:rPr lang="uk-UA" sz="1800"/>
            </a:br>
            <a:r>
              <a:rPr lang="en-US" sz="1800"/>
              <a:t>			</a:t>
            </a:r>
            <a:r>
              <a:rPr lang="uk-UA" sz="1800"/>
              <a:t>WHERE ROWNUM &lt;= number</a:t>
            </a:r>
            <a:endParaRPr lang="uk-UA" sz="1800" b="1"/>
          </a:p>
          <a:p>
            <a:pPr>
              <a:lnSpc>
                <a:spcPct val="80000"/>
              </a:lnSpc>
              <a:buFontTx/>
              <a:buNone/>
            </a:pPr>
            <a:r>
              <a:rPr lang="uk-UA" sz="1800" b="1"/>
              <a:t>Example</a:t>
            </a:r>
          </a:p>
          <a:p>
            <a:pPr>
              <a:lnSpc>
                <a:spcPct val="80000"/>
              </a:lnSpc>
              <a:buFontTx/>
              <a:buNone/>
            </a:pPr>
            <a:r>
              <a:rPr lang="en-US" sz="1800"/>
              <a:t>				</a:t>
            </a:r>
            <a:r>
              <a:rPr lang="uk-UA" sz="1800"/>
              <a:t>SELECT *</a:t>
            </a:r>
            <a:br>
              <a:rPr lang="uk-UA" sz="1800"/>
            </a:br>
            <a:r>
              <a:rPr lang="en-US" sz="1800"/>
              <a:t>			</a:t>
            </a:r>
            <a:r>
              <a:rPr lang="uk-UA" sz="1800"/>
              <a:t>FROM Persons</a:t>
            </a:r>
            <a:br>
              <a:rPr lang="uk-UA" sz="1800"/>
            </a:br>
            <a:r>
              <a:rPr lang="en-US" sz="1800"/>
              <a:t>			</a:t>
            </a:r>
            <a:r>
              <a:rPr lang="uk-UA" sz="1800"/>
              <a:t>WHERE ROWNUM &lt;=5</a:t>
            </a:r>
          </a:p>
        </p:txBody>
      </p:sp>
    </p:spTree>
    <p:extLst>
      <p:ext uri="{BB962C8B-B14F-4D97-AF65-F5344CB8AC3E}">
        <p14:creationId xmlns:p14="http://schemas.microsoft.com/office/powerpoint/2010/main" val="1578451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uk-UA" b="1"/>
              <a:t>LIKE </a:t>
            </a:r>
          </a:p>
        </p:txBody>
      </p:sp>
      <p:sp>
        <p:nvSpPr>
          <p:cNvPr id="14339" name="Rectangle 3"/>
          <p:cNvSpPr>
            <a:spLocks noGrp="1" noChangeArrowheads="1"/>
          </p:cNvSpPr>
          <p:nvPr>
            <p:ph type="body" idx="1"/>
          </p:nvPr>
        </p:nvSpPr>
        <p:spPr/>
        <p:txBody>
          <a:bodyPr/>
          <a:lstStyle/>
          <a:p>
            <a:pPr>
              <a:buFontTx/>
              <a:buNone/>
            </a:pPr>
            <a:endParaRPr lang="en-US"/>
          </a:p>
          <a:p>
            <a:pPr>
              <a:buFontTx/>
              <a:buNone/>
            </a:pPr>
            <a:endParaRPr lang="uk-UA"/>
          </a:p>
        </p:txBody>
      </p:sp>
      <p:sp>
        <p:nvSpPr>
          <p:cNvPr id="14341" name="Rectangle 5"/>
          <p:cNvSpPr>
            <a:spLocks noChangeArrowheads="1"/>
          </p:cNvSpPr>
          <p:nvPr/>
        </p:nvSpPr>
        <p:spPr bwMode="auto">
          <a:xfrm>
            <a:off x="533400" y="1743075"/>
            <a:ext cx="8153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uk-UA" sz="2800"/>
              <a:t>The LIKE operator is used to search for a specified pattern in a column.</a:t>
            </a:r>
            <a:endParaRPr lang="en-US" sz="2800"/>
          </a:p>
          <a:p>
            <a:endParaRPr lang="en-US" sz="2800" b="1"/>
          </a:p>
          <a:p>
            <a:endParaRPr lang="en-US" sz="2800" b="1"/>
          </a:p>
          <a:p>
            <a:endParaRPr lang="en-US" sz="2800" b="1"/>
          </a:p>
          <a:p>
            <a:endParaRPr lang="uk-UA" sz="2800" b="1"/>
          </a:p>
          <a:p>
            <a:r>
              <a:rPr lang="uk-UA" sz="2800" b="1"/>
              <a:t>SQL LIKE Syntax</a:t>
            </a:r>
          </a:p>
          <a:p>
            <a:r>
              <a:rPr lang="en-US" sz="2800"/>
              <a:t>		</a:t>
            </a:r>
            <a:r>
              <a:rPr lang="uk-UA" sz="2800"/>
              <a:t>SELECT column_name(s)</a:t>
            </a:r>
            <a:br>
              <a:rPr lang="uk-UA" sz="2800"/>
            </a:br>
            <a:r>
              <a:rPr lang="en-US" sz="2800"/>
              <a:t>		</a:t>
            </a:r>
            <a:r>
              <a:rPr lang="uk-UA" sz="2800"/>
              <a:t>FROM table_name</a:t>
            </a:r>
            <a:br>
              <a:rPr lang="uk-UA" sz="2800"/>
            </a:br>
            <a:r>
              <a:rPr lang="en-US" sz="2800"/>
              <a:t>		</a:t>
            </a:r>
            <a:r>
              <a:rPr lang="uk-UA" sz="2800"/>
              <a:t>WHERE column_name LIKE pattern</a:t>
            </a:r>
          </a:p>
        </p:txBody>
      </p:sp>
    </p:spTree>
    <p:extLst>
      <p:ext uri="{BB962C8B-B14F-4D97-AF65-F5344CB8AC3E}">
        <p14:creationId xmlns:p14="http://schemas.microsoft.com/office/powerpoint/2010/main" val="19970386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endParaRPr lang="uk-UA"/>
          </a:p>
        </p:txBody>
      </p:sp>
      <p:sp>
        <p:nvSpPr>
          <p:cNvPr id="15363" name="Rectangle 3"/>
          <p:cNvSpPr>
            <a:spLocks noGrp="1" noChangeArrowheads="1"/>
          </p:cNvSpPr>
          <p:nvPr>
            <p:ph type="body" idx="1"/>
          </p:nvPr>
        </p:nvSpPr>
        <p:spPr>
          <a:xfrm>
            <a:off x="457200" y="304800"/>
            <a:ext cx="8229600" cy="5821363"/>
          </a:xfrm>
        </p:spPr>
        <p:txBody>
          <a:bodyPr/>
          <a:lstStyle/>
          <a:p>
            <a:pPr>
              <a:lnSpc>
                <a:spcPct val="90000"/>
              </a:lnSpc>
            </a:pPr>
            <a:r>
              <a:rPr lang="uk-UA"/>
              <a:t>Now we want to select the persons living in a city that starts with "s" from the table above.</a:t>
            </a:r>
          </a:p>
          <a:p>
            <a:pPr>
              <a:lnSpc>
                <a:spcPct val="90000"/>
              </a:lnSpc>
            </a:pPr>
            <a:r>
              <a:rPr lang="uk-UA"/>
              <a:t>We use the following SELECT statement:</a:t>
            </a:r>
            <a:endParaRPr lang="en-US"/>
          </a:p>
          <a:p>
            <a:pPr>
              <a:lnSpc>
                <a:spcPct val="90000"/>
              </a:lnSpc>
            </a:pPr>
            <a:endParaRPr lang="uk-UA"/>
          </a:p>
          <a:p>
            <a:pPr>
              <a:lnSpc>
                <a:spcPct val="90000"/>
              </a:lnSpc>
              <a:buFontTx/>
              <a:buNone/>
            </a:pPr>
            <a:r>
              <a:rPr lang="en-US"/>
              <a:t>			</a:t>
            </a:r>
            <a:r>
              <a:rPr lang="uk-UA"/>
              <a:t>SELECT * FROM Persons</a:t>
            </a:r>
            <a:br>
              <a:rPr lang="uk-UA"/>
            </a:br>
            <a:r>
              <a:rPr lang="en-US"/>
              <a:t>		</a:t>
            </a:r>
            <a:r>
              <a:rPr lang="uk-UA"/>
              <a:t>WHERE City LIKE 's%‘</a:t>
            </a:r>
            <a:endParaRPr lang="en-US"/>
          </a:p>
          <a:p>
            <a:pPr>
              <a:lnSpc>
                <a:spcPct val="90000"/>
              </a:lnSpc>
              <a:buFontTx/>
              <a:buNone/>
            </a:pPr>
            <a:endParaRPr lang="uk-UA"/>
          </a:p>
          <a:p>
            <a:pPr>
              <a:lnSpc>
                <a:spcPct val="90000"/>
              </a:lnSpc>
            </a:pPr>
            <a:r>
              <a:rPr lang="uk-UA"/>
              <a:t>The "%" sign can be used to define wildcards (missing letters in the pattern) both before and after the pattern.</a:t>
            </a:r>
          </a:p>
        </p:txBody>
      </p:sp>
    </p:spTree>
    <p:extLst>
      <p:ext uri="{BB962C8B-B14F-4D97-AF65-F5344CB8AC3E}">
        <p14:creationId xmlns:p14="http://schemas.microsoft.com/office/powerpoint/2010/main" val="33210902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endParaRPr lang="uk-UA"/>
          </a:p>
        </p:txBody>
      </p:sp>
      <p:sp>
        <p:nvSpPr>
          <p:cNvPr id="16387" name="Rectangle 3"/>
          <p:cNvSpPr>
            <a:spLocks noGrp="1" noChangeArrowheads="1"/>
          </p:cNvSpPr>
          <p:nvPr>
            <p:ph type="body" idx="1"/>
          </p:nvPr>
        </p:nvSpPr>
        <p:spPr>
          <a:xfrm>
            <a:off x="457200" y="304800"/>
            <a:ext cx="8229600" cy="6172200"/>
          </a:xfrm>
        </p:spPr>
        <p:txBody>
          <a:bodyPr/>
          <a:lstStyle/>
          <a:p>
            <a:pPr>
              <a:lnSpc>
                <a:spcPct val="80000"/>
              </a:lnSpc>
            </a:pPr>
            <a:r>
              <a:rPr lang="uk-UA" sz="2800"/>
              <a:t>Next, we want to select the persons living in a city that ends with an "s" from the "Persons" table.</a:t>
            </a:r>
          </a:p>
          <a:p>
            <a:pPr>
              <a:lnSpc>
                <a:spcPct val="80000"/>
              </a:lnSpc>
            </a:pPr>
            <a:r>
              <a:rPr lang="uk-UA" sz="2800"/>
              <a:t>We use the following SELECT statement:</a:t>
            </a:r>
          </a:p>
          <a:p>
            <a:pPr>
              <a:lnSpc>
                <a:spcPct val="80000"/>
              </a:lnSpc>
              <a:buFontTx/>
              <a:buNone/>
            </a:pPr>
            <a:r>
              <a:rPr lang="en-US" sz="2800"/>
              <a:t>			</a:t>
            </a:r>
          </a:p>
          <a:p>
            <a:pPr>
              <a:lnSpc>
                <a:spcPct val="80000"/>
              </a:lnSpc>
              <a:buFontTx/>
              <a:buNone/>
            </a:pPr>
            <a:r>
              <a:rPr lang="en-US" sz="2800"/>
              <a:t>			</a:t>
            </a:r>
            <a:r>
              <a:rPr lang="uk-UA" sz="2800"/>
              <a:t>SELECT * FROM Persons</a:t>
            </a:r>
            <a:br>
              <a:rPr lang="uk-UA" sz="2800"/>
            </a:br>
            <a:r>
              <a:rPr lang="en-US" sz="2800"/>
              <a:t>		</a:t>
            </a:r>
            <a:r>
              <a:rPr lang="uk-UA" sz="2800"/>
              <a:t>WHERE City LIKE '%s‘</a:t>
            </a:r>
            <a:endParaRPr lang="en-US" sz="2800"/>
          </a:p>
          <a:p>
            <a:pPr>
              <a:lnSpc>
                <a:spcPct val="80000"/>
              </a:lnSpc>
              <a:buFontTx/>
              <a:buNone/>
            </a:pPr>
            <a:endParaRPr lang="en-US" sz="2800"/>
          </a:p>
          <a:p>
            <a:pPr>
              <a:lnSpc>
                <a:spcPct val="80000"/>
              </a:lnSpc>
            </a:pPr>
            <a:r>
              <a:rPr lang="en-US" sz="2800"/>
              <a:t>N</a:t>
            </a:r>
            <a:r>
              <a:rPr lang="uk-UA" sz="2800"/>
              <a:t>ext, we want to select the persons living in a city that contains the pattern "tav" from the "Persons" table.</a:t>
            </a:r>
          </a:p>
          <a:p>
            <a:pPr>
              <a:lnSpc>
                <a:spcPct val="80000"/>
              </a:lnSpc>
            </a:pPr>
            <a:r>
              <a:rPr lang="uk-UA" sz="2800"/>
              <a:t>We use the following SELECT statement:</a:t>
            </a:r>
            <a:endParaRPr lang="en-US" sz="2800"/>
          </a:p>
          <a:p>
            <a:pPr>
              <a:lnSpc>
                <a:spcPct val="80000"/>
              </a:lnSpc>
            </a:pPr>
            <a:endParaRPr lang="uk-UA" sz="2800"/>
          </a:p>
          <a:p>
            <a:pPr>
              <a:lnSpc>
                <a:spcPct val="80000"/>
              </a:lnSpc>
              <a:buFontTx/>
              <a:buNone/>
            </a:pPr>
            <a:r>
              <a:rPr lang="en-US" sz="2800"/>
              <a:t>			</a:t>
            </a:r>
            <a:r>
              <a:rPr lang="uk-UA" sz="2800"/>
              <a:t>SELECT * FROM Persons</a:t>
            </a:r>
            <a:br>
              <a:rPr lang="uk-UA" sz="2800"/>
            </a:br>
            <a:r>
              <a:rPr lang="en-US" sz="2800"/>
              <a:t>		</a:t>
            </a:r>
            <a:r>
              <a:rPr lang="uk-UA" sz="2800"/>
              <a:t>WHERE City LIKE '%tav%'</a:t>
            </a:r>
          </a:p>
        </p:txBody>
      </p:sp>
    </p:spTree>
    <p:extLst>
      <p:ext uri="{BB962C8B-B14F-4D97-AF65-F5344CB8AC3E}">
        <p14:creationId xmlns:p14="http://schemas.microsoft.com/office/powerpoint/2010/main" val="2173818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uk-UA" b="1"/>
              <a:t>Wildcards </a:t>
            </a:r>
          </a:p>
        </p:txBody>
      </p:sp>
      <p:sp>
        <p:nvSpPr>
          <p:cNvPr id="17411" name="Rectangle 3"/>
          <p:cNvSpPr>
            <a:spLocks noGrp="1" noChangeArrowheads="1"/>
          </p:cNvSpPr>
          <p:nvPr>
            <p:ph type="body" idx="1"/>
          </p:nvPr>
        </p:nvSpPr>
        <p:spPr/>
        <p:txBody>
          <a:bodyPr/>
          <a:lstStyle/>
          <a:p>
            <a:r>
              <a:rPr lang="uk-UA"/>
              <a:t>SQL wildcards can substitute for one or more characters when searching for data in a database.</a:t>
            </a:r>
            <a:endParaRPr lang="en-US"/>
          </a:p>
          <a:p>
            <a:endParaRPr lang="uk-UA"/>
          </a:p>
          <a:p>
            <a:r>
              <a:rPr lang="uk-UA"/>
              <a:t>SQL wildcards must be used with the SQL LIKE operator.</a:t>
            </a:r>
          </a:p>
        </p:txBody>
      </p:sp>
    </p:spTree>
    <p:extLst>
      <p:ext uri="{BB962C8B-B14F-4D97-AF65-F5344CB8AC3E}">
        <p14:creationId xmlns:p14="http://schemas.microsoft.com/office/powerpoint/2010/main" val="3344408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66" name="Group 34"/>
          <p:cNvGraphicFramePr>
            <a:graphicFrameLocks noGrp="1"/>
          </p:cNvGraphicFramePr>
          <p:nvPr>
            <p:ph/>
          </p:nvPr>
        </p:nvGraphicFramePr>
        <p:xfrm>
          <a:off x="533400" y="609600"/>
          <a:ext cx="8388350" cy="6369051"/>
        </p:xfrm>
        <a:graphic>
          <a:graphicData uri="http://schemas.openxmlformats.org/drawingml/2006/table">
            <a:tbl>
              <a:tblPr/>
              <a:tblGrid>
                <a:gridCol w="1898650"/>
                <a:gridCol w="6489700"/>
              </a:tblGrid>
              <a:tr h="14097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1" i="0" u="none" strike="noStrike" cap="none" normalizeH="0" baseline="0" smtClean="0">
                          <a:ln>
                            <a:noFill/>
                          </a:ln>
                          <a:solidFill>
                            <a:schemeClr val="tx1"/>
                          </a:solidFill>
                          <a:effectLst/>
                          <a:latin typeface="Arial" charset="0"/>
                        </a:rPr>
                        <a:t>Wildcard</a:t>
                      </a:r>
                      <a:endParaRPr kumimoji="0" lang="uk-UA" sz="3200" b="0" i="0" u="none" strike="noStrike" cap="none" normalizeH="0" baseline="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3200" b="1" i="0" u="none" strike="noStrike" cap="none" normalizeH="0" baseline="0" smtClean="0">
                        <a:ln>
                          <a:noFill/>
                        </a:ln>
                        <a:solidFill>
                          <a:schemeClr val="tx1"/>
                        </a:solidFill>
                        <a:effectLst/>
                        <a:latin typeface="Arial" charset="0"/>
                      </a:endParaRPr>
                    </a:p>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1" i="0" u="none" strike="noStrike" cap="none" normalizeH="0" baseline="0" smtClean="0">
                          <a:ln>
                            <a:noFill/>
                          </a:ln>
                          <a:solidFill>
                            <a:schemeClr val="tx1"/>
                          </a:solidFill>
                          <a:effectLst/>
                          <a:latin typeface="Arial" charset="0"/>
                        </a:rPr>
                        <a:t>Description</a:t>
                      </a:r>
                      <a:endParaRPr kumimoji="0" lang="uk-UA" sz="32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8080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A substitute for zero or more characters </a:t>
                      </a:r>
                    </a:p>
                  </a:txBody>
                  <a:tcPr horzOverflow="overflow">
                    <a:lnL>
                      <a:noFill/>
                    </a:lnL>
                    <a:lnR cap="flat">
                      <a:noFill/>
                    </a:lnR>
                    <a:lnT>
                      <a:noFill/>
                    </a:lnT>
                    <a:lnB>
                      <a:noFill/>
                    </a:lnB>
                    <a:lnTlToBr>
                      <a:noFill/>
                    </a:lnTlToBr>
                    <a:lnBlToTr>
                      <a:noFill/>
                    </a:lnBlToTr>
                    <a:noFill/>
                  </a:tcPr>
                </a:tc>
              </a:tr>
              <a:tr h="8080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_</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A substitute for exactly one character</a:t>
                      </a:r>
                    </a:p>
                  </a:txBody>
                  <a:tcPr horzOverflow="overflow">
                    <a:lnL>
                      <a:noFill/>
                    </a:lnL>
                    <a:lnR cap="flat">
                      <a:noFill/>
                    </a:lnR>
                    <a:lnT>
                      <a:noFill/>
                    </a:lnT>
                    <a:lnB>
                      <a:noFill/>
                    </a:lnB>
                    <a:lnTlToBr>
                      <a:noFill/>
                    </a:lnTlToBr>
                    <a:lnBlToTr>
                      <a:noFill/>
                    </a:lnBlToTr>
                    <a:noFill/>
                  </a:tcPr>
                </a:tc>
              </a:tr>
              <a:tr h="80803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[charlist]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Any single character in charlist</a:t>
                      </a:r>
                    </a:p>
                  </a:txBody>
                  <a:tcPr horzOverflow="overflow">
                    <a:lnL>
                      <a:noFill/>
                    </a:lnL>
                    <a:lnR cap="flat">
                      <a:noFill/>
                    </a:lnR>
                    <a:lnT>
                      <a:noFill/>
                    </a:lnT>
                    <a:lnB>
                      <a:noFill/>
                    </a:lnB>
                    <a:lnTlToBr>
                      <a:noFill/>
                    </a:lnTlToBr>
                    <a:lnBlToTr>
                      <a:noFill/>
                    </a:lnBlToTr>
                    <a:noFill/>
                  </a:tcPr>
                </a:tc>
              </a:tr>
              <a:tr h="201771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[^charlist]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or</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[!charlist]</a:t>
                      </a:r>
                    </a:p>
                  </a:txBody>
                  <a:tcP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3200" b="0" i="0" u="none" strike="noStrike" cap="none" normalizeH="0" baseline="0" smtClean="0">
                          <a:ln>
                            <a:noFill/>
                          </a:ln>
                          <a:solidFill>
                            <a:schemeClr val="tx1"/>
                          </a:solidFill>
                          <a:effectLst/>
                          <a:latin typeface="Arial" charset="0"/>
                        </a:rPr>
                        <a:t>Any single character not in charlist</a:t>
                      </a:r>
                    </a:p>
                  </a:txBody>
                  <a:tcP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28325747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uk-UA" b="1"/>
              <a:t>IN</a:t>
            </a:r>
          </a:p>
        </p:txBody>
      </p:sp>
      <p:sp>
        <p:nvSpPr>
          <p:cNvPr id="20483" name="Rectangle 3"/>
          <p:cNvSpPr>
            <a:spLocks noGrp="1" noChangeArrowheads="1"/>
          </p:cNvSpPr>
          <p:nvPr>
            <p:ph type="body" idx="1"/>
          </p:nvPr>
        </p:nvSpPr>
        <p:spPr/>
        <p:txBody>
          <a:bodyPr/>
          <a:lstStyle/>
          <a:p>
            <a:pPr>
              <a:buFontTx/>
              <a:buNone/>
            </a:pPr>
            <a:r>
              <a:rPr lang="en-US"/>
              <a:t>	</a:t>
            </a:r>
            <a:r>
              <a:rPr lang="uk-UA"/>
              <a:t>The IN operator allows you to specify multiple values in a WHERE clause.</a:t>
            </a:r>
            <a:endParaRPr lang="uk-UA" b="1"/>
          </a:p>
          <a:p>
            <a:pPr>
              <a:buFontTx/>
              <a:buNone/>
            </a:pPr>
            <a:endParaRPr lang="en-US" b="1"/>
          </a:p>
          <a:p>
            <a:pPr>
              <a:buFontTx/>
              <a:buNone/>
            </a:pPr>
            <a:r>
              <a:rPr lang="uk-UA" b="1"/>
              <a:t>SQL IN Syntax</a:t>
            </a:r>
          </a:p>
          <a:p>
            <a:pPr>
              <a:buFontTx/>
              <a:buNone/>
            </a:pPr>
            <a:r>
              <a:rPr lang="en-US"/>
              <a:t>		</a:t>
            </a:r>
            <a:r>
              <a:rPr lang="uk-UA"/>
              <a:t>SELECT column_name(s)</a:t>
            </a:r>
            <a:br>
              <a:rPr lang="uk-UA"/>
            </a:br>
            <a:r>
              <a:rPr lang="en-US"/>
              <a:t>	</a:t>
            </a:r>
            <a:r>
              <a:rPr lang="uk-UA"/>
              <a:t>FROM table_name</a:t>
            </a:r>
            <a:br>
              <a:rPr lang="uk-UA"/>
            </a:br>
            <a:r>
              <a:rPr lang="en-US"/>
              <a:t>	</a:t>
            </a:r>
            <a:r>
              <a:rPr lang="uk-UA"/>
              <a:t>WHERE column_name IN </a:t>
            </a:r>
            <a:r>
              <a:rPr lang="en-US"/>
              <a:t>	</a:t>
            </a:r>
            <a:r>
              <a:rPr lang="uk-UA"/>
              <a:t>(value1,value2,...)</a:t>
            </a:r>
          </a:p>
        </p:txBody>
      </p:sp>
    </p:spTree>
    <p:extLst>
      <p:ext uri="{BB962C8B-B14F-4D97-AF65-F5344CB8AC3E}">
        <p14:creationId xmlns:p14="http://schemas.microsoft.com/office/powerpoint/2010/main" val="10183931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38" name="Group 134"/>
          <p:cNvGraphicFramePr>
            <a:graphicFrameLocks noGrp="1"/>
          </p:cNvGraphicFramePr>
          <p:nvPr>
            <p:ph sz="half" idx="1"/>
          </p:nvPr>
        </p:nvGraphicFramePr>
        <p:xfrm>
          <a:off x="533400" y="228600"/>
          <a:ext cx="8001000" cy="2667001"/>
        </p:xfrm>
        <a:graphic>
          <a:graphicData uri="http://schemas.openxmlformats.org/drawingml/2006/table">
            <a:tbl>
              <a:tblPr/>
              <a:tblGrid>
                <a:gridCol w="893763"/>
                <a:gridCol w="1712912"/>
                <a:gridCol w="1746250"/>
                <a:gridCol w="2003425"/>
                <a:gridCol w="1644650"/>
              </a:tblGrid>
              <a:tr h="763588">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P_Id</a:t>
                      </a:r>
                      <a:endParaRPr kumimoji="0" lang="uk-UA" sz="1800" b="0" i="0" u="none" strike="noStrike" cap="none" normalizeH="0" baseline="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LastName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FirstName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Address</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City</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noFill/>
                  </a:tcPr>
                </a:tc>
              </a:tr>
              <a:tr h="635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1</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Hansen</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Ola</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Timoteivn 10</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63341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2</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Svendson</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Tove</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Borgvn 23</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635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3</a:t>
                      </a: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Pettersen</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Kari</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Storgt 20</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Stavanger</a:t>
                      </a:r>
                    </a:p>
                  </a:txBody>
                  <a:tcPr anchor="ctr" horzOverflow="overflow">
                    <a:lnL>
                      <a:noFill/>
                    </a:lnL>
                    <a:lnR cap="flat">
                      <a:noFill/>
                    </a:lnR>
                    <a:lnT>
                      <a:noFill/>
                    </a:lnT>
                    <a:lnB cap="flat">
                      <a:noFill/>
                    </a:lnB>
                    <a:lnTlToBr>
                      <a:noFill/>
                    </a:lnTlToBr>
                    <a:lnBlToTr>
                      <a:noFill/>
                    </a:lnBlToTr>
                    <a:noFill/>
                  </a:tcPr>
                </a:tc>
              </a:tr>
            </a:tbl>
          </a:graphicData>
        </a:graphic>
      </p:graphicFrame>
      <p:sp>
        <p:nvSpPr>
          <p:cNvPr id="21557" name="Rectangle 53"/>
          <p:cNvSpPr>
            <a:spLocks noChangeArrowheads="1"/>
          </p:cNvSpPr>
          <p:nvPr/>
        </p:nvSpPr>
        <p:spPr bwMode="auto">
          <a:xfrm>
            <a:off x="2133600" y="3276600"/>
            <a:ext cx="4711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uk-UA"/>
              <a:t>SELECT * FROM Persons</a:t>
            </a:r>
            <a:br>
              <a:rPr lang="uk-UA"/>
            </a:br>
            <a:r>
              <a:rPr lang="uk-UA"/>
              <a:t>WHERE LastName IN ('Hansen','Pettersen') </a:t>
            </a:r>
          </a:p>
        </p:txBody>
      </p:sp>
      <p:graphicFrame>
        <p:nvGraphicFramePr>
          <p:cNvPr id="21634" name="Group 130"/>
          <p:cNvGraphicFramePr>
            <a:graphicFrameLocks noGrp="1"/>
          </p:cNvGraphicFramePr>
          <p:nvPr>
            <p:ph sz="half" idx="2"/>
          </p:nvPr>
        </p:nvGraphicFramePr>
        <p:xfrm>
          <a:off x="609600" y="4495800"/>
          <a:ext cx="8001000" cy="1752600"/>
        </p:xfrm>
        <a:graphic>
          <a:graphicData uri="http://schemas.openxmlformats.org/drawingml/2006/table">
            <a:tbl>
              <a:tblPr/>
              <a:tblGrid>
                <a:gridCol w="895350"/>
                <a:gridCol w="1711325"/>
                <a:gridCol w="1747838"/>
                <a:gridCol w="2001837"/>
                <a:gridCol w="1644650"/>
              </a:tblGrid>
              <a:tr h="584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P_Id</a:t>
                      </a:r>
                      <a:endParaRPr kumimoji="0" lang="uk-UA" sz="1800" b="0" i="0" u="none" strike="noStrike" cap="none" normalizeH="0" baseline="0" smtClean="0">
                        <a:ln>
                          <a:noFill/>
                        </a:ln>
                        <a:solidFill>
                          <a:schemeClr val="tx1"/>
                        </a:solidFill>
                        <a:effectLst/>
                        <a:latin typeface="Arial" charset="0"/>
                      </a:endParaRPr>
                    </a:p>
                  </a:txBody>
                  <a:tcPr anchor="ct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LastName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FirstName</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Address</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1" i="0" u="none" strike="noStrike" cap="none" normalizeH="0" baseline="0" smtClean="0">
                          <a:ln>
                            <a:noFill/>
                          </a:ln>
                          <a:solidFill>
                            <a:schemeClr val="tx1"/>
                          </a:solidFill>
                          <a:effectLst/>
                          <a:latin typeface="Arial" charset="0"/>
                        </a:rPr>
                        <a:t>City</a:t>
                      </a:r>
                      <a:endParaRPr kumimoji="0" lang="uk-UA" sz="1800" b="0" i="0" u="none" strike="noStrike" cap="none" normalizeH="0" baseline="0" smtClean="0">
                        <a:ln>
                          <a:noFill/>
                        </a:ln>
                        <a:solidFill>
                          <a:schemeClr val="tx1"/>
                        </a:solidFill>
                        <a:effectLst/>
                        <a:latin typeface="Arial" charset="0"/>
                      </a:endParaRPr>
                    </a:p>
                  </a:txBody>
                  <a:tcPr anchor="ctr" horzOverflow="overflow">
                    <a:lnL>
                      <a:noFill/>
                    </a:lnL>
                    <a:lnR cap="flat">
                      <a:noFill/>
                    </a:lnR>
                    <a:lnT cap="flat">
                      <a:noFill/>
                    </a:lnT>
                    <a:lnB>
                      <a:noFill/>
                    </a:lnB>
                    <a:lnTlToBr>
                      <a:noFill/>
                    </a:lnTlToBr>
                    <a:lnBlToTr>
                      <a:noFill/>
                    </a:lnBlToTr>
                    <a:noFill/>
                  </a:tcPr>
                </a:tc>
              </a:tr>
              <a:tr h="584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1</a:t>
                      </a: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Hansen</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Ola</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Timoteivn 10</a:t>
                      </a:r>
                    </a:p>
                  </a:txBody>
                  <a:tcPr anchor="ct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Sandnes</a:t>
                      </a:r>
                    </a:p>
                  </a:txBody>
                  <a:tcPr anchor="ctr" horzOverflow="overflow">
                    <a:lnL>
                      <a:noFill/>
                    </a:lnL>
                    <a:lnR cap="flat">
                      <a:noFill/>
                    </a:lnR>
                    <a:lnT>
                      <a:noFill/>
                    </a:lnT>
                    <a:lnB>
                      <a:noFill/>
                    </a:lnB>
                    <a:lnTlToBr>
                      <a:noFill/>
                    </a:lnTlToBr>
                    <a:lnBlToTr>
                      <a:noFill/>
                    </a:lnBlToTr>
                    <a:noFill/>
                  </a:tcPr>
                </a:tc>
              </a:tr>
              <a:tr h="584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3</a:t>
                      </a: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Pettersen</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Kari</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Storgt 20</a:t>
                      </a: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uk-UA" sz="1800" b="0" i="0" u="none" strike="noStrike" cap="none" normalizeH="0" baseline="0" smtClean="0">
                          <a:ln>
                            <a:noFill/>
                          </a:ln>
                          <a:solidFill>
                            <a:schemeClr val="tx1"/>
                          </a:solidFill>
                          <a:effectLst/>
                          <a:latin typeface="Arial" charset="0"/>
                        </a:rPr>
                        <a:t>Stavanger</a:t>
                      </a:r>
                    </a:p>
                  </a:txBody>
                  <a:tcPr anchor="ct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4959075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uk-UA" b="1"/>
              <a:t>BETWEEN</a:t>
            </a:r>
          </a:p>
        </p:txBody>
      </p:sp>
      <p:sp>
        <p:nvSpPr>
          <p:cNvPr id="25603" name="Rectangle 3"/>
          <p:cNvSpPr>
            <a:spLocks noGrp="1" noChangeArrowheads="1"/>
          </p:cNvSpPr>
          <p:nvPr>
            <p:ph type="body" idx="1"/>
          </p:nvPr>
        </p:nvSpPr>
        <p:spPr/>
        <p:txBody>
          <a:bodyPr/>
          <a:lstStyle/>
          <a:p>
            <a:pPr>
              <a:lnSpc>
                <a:spcPct val="90000"/>
              </a:lnSpc>
              <a:buFontTx/>
              <a:buNone/>
            </a:pPr>
            <a:r>
              <a:rPr lang="uk-UA" sz="2800"/>
              <a:t>The BETWEEN operator selects a range of data between two values. The values can be numbers, text, or dates.</a:t>
            </a:r>
            <a:endParaRPr lang="uk-UA" sz="2800" b="1"/>
          </a:p>
          <a:p>
            <a:pPr>
              <a:lnSpc>
                <a:spcPct val="90000"/>
              </a:lnSpc>
            </a:pPr>
            <a:endParaRPr lang="en-US" sz="2800" b="1"/>
          </a:p>
          <a:p>
            <a:pPr>
              <a:lnSpc>
                <a:spcPct val="90000"/>
              </a:lnSpc>
              <a:buFontTx/>
              <a:buNone/>
            </a:pPr>
            <a:r>
              <a:rPr lang="uk-UA" sz="2800" b="1"/>
              <a:t>SQL BETWEEN Syntax</a:t>
            </a:r>
          </a:p>
          <a:p>
            <a:pPr>
              <a:lnSpc>
                <a:spcPct val="90000"/>
              </a:lnSpc>
              <a:buFontTx/>
              <a:buNone/>
            </a:pPr>
            <a:endParaRPr lang="en-US" sz="2800"/>
          </a:p>
          <a:p>
            <a:pPr>
              <a:lnSpc>
                <a:spcPct val="90000"/>
              </a:lnSpc>
              <a:buFontTx/>
              <a:buNone/>
            </a:pPr>
            <a:r>
              <a:rPr lang="en-US" sz="2800"/>
              <a:t>		</a:t>
            </a:r>
            <a:r>
              <a:rPr lang="uk-UA" sz="2800"/>
              <a:t>SELECT column_name(s)</a:t>
            </a:r>
            <a:br>
              <a:rPr lang="uk-UA" sz="2800"/>
            </a:br>
            <a:r>
              <a:rPr lang="en-US" sz="2800"/>
              <a:t>	</a:t>
            </a:r>
            <a:r>
              <a:rPr lang="uk-UA" sz="2800"/>
              <a:t>FROM table_name</a:t>
            </a:r>
            <a:br>
              <a:rPr lang="uk-UA" sz="2800"/>
            </a:br>
            <a:r>
              <a:rPr lang="en-US" sz="2800"/>
              <a:t>	</a:t>
            </a:r>
            <a:r>
              <a:rPr lang="uk-UA" sz="2800"/>
              <a:t>WHERE column_name</a:t>
            </a:r>
            <a:br>
              <a:rPr lang="uk-UA" sz="2800"/>
            </a:br>
            <a:r>
              <a:rPr lang="en-US" sz="2800"/>
              <a:t>	</a:t>
            </a:r>
            <a:r>
              <a:rPr lang="uk-UA" sz="2800"/>
              <a:t>BETWEEN value1 AND value2</a:t>
            </a:r>
          </a:p>
        </p:txBody>
      </p:sp>
    </p:spTree>
    <p:extLst>
      <p:ext uri="{BB962C8B-B14F-4D97-AF65-F5344CB8AC3E}">
        <p14:creationId xmlns:p14="http://schemas.microsoft.com/office/powerpoint/2010/main" val="19966608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ChangeArrowheads="1"/>
          </p:cNvSpPr>
          <p:nvPr/>
        </p:nvSpPr>
        <p:spPr bwMode="auto">
          <a:xfrm>
            <a:off x="609600" y="1143000"/>
            <a:ext cx="6248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uk-UA" sz="2800"/>
              <a:t>SELECT * FROM Persons</a:t>
            </a:r>
            <a:br>
              <a:rPr lang="uk-UA" sz="2800"/>
            </a:br>
            <a:r>
              <a:rPr lang="uk-UA" sz="2800"/>
              <a:t>WHERE LastName</a:t>
            </a:r>
            <a:br>
              <a:rPr lang="uk-UA" sz="2800"/>
            </a:br>
            <a:r>
              <a:rPr lang="uk-UA" sz="2800"/>
              <a:t>BETWEEN 'Hansen' AND 'Pettersen' </a:t>
            </a:r>
          </a:p>
        </p:txBody>
      </p:sp>
      <p:sp>
        <p:nvSpPr>
          <p:cNvPr id="26629" name="Rectangle 5"/>
          <p:cNvSpPr>
            <a:spLocks noChangeArrowheads="1"/>
          </p:cNvSpPr>
          <p:nvPr/>
        </p:nvSpPr>
        <p:spPr bwMode="auto">
          <a:xfrm>
            <a:off x="685800" y="3810000"/>
            <a:ext cx="69246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uk-UA" sz="2800"/>
              <a:t>SELECT * FROM Persons</a:t>
            </a:r>
            <a:br>
              <a:rPr lang="uk-UA" sz="2800"/>
            </a:br>
            <a:r>
              <a:rPr lang="uk-UA" sz="2800"/>
              <a:t>WHERE LastName</a:t>
            </a:r>
            <a:br>
              <a:rPr lang="uk-UA" sz="2800"/>
            </a:br>
            <a:r>
              <a:rPr lang="uk-UA" sz="2800"/>
              <a:t>NOT BETWEEN 'Hansen' AND 'Pettersen'</a:t>
            </a:r>
            <a:r>
              <a:rPr lang="uk-UA"/>
              <a:t> </a:t>
            </a:r>
          </a:p>
        </p:txBody>
      </p:sp>
    </p:spTree>
    <p:extLst>
      <p:ext uri="{BB962C8B-B14F-4D97-AF65-F5344CB8AC3E}">
        <p14:creationId xmlns:p14="http://schemas.microsoft.com/office/powerpoint/2010/main" val="3224276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uk-UA"/>
              <a:t>Alias</a:t>
            </a:r>
            <a:r>
              <a:rPr lang="en-US"/>
              <a:t> ::: </a:t>
            </a:r>
            <a:r>
              <a:rPr lang="uk-UA"/>
              <a:t>псевдонім</a:t>
            </a:r>
          </a:p>
        </p:txBody>
      </p:sp>
      <p:sp>
        <p:nvSpPr>
          <p:cNvPr id="27651" name="Rectangle 3"/>
          <p:cNvSpPr>
            <a:spLocks noGrp="1" noChangeArrowheads="1"/>
          </p:cNvSpPr>
          <p:nvPr>
            <p:ph type="body" idx="1"/>
          </p:nvPr>
        </p:nvSpPr>
        <p:spPr>
          <a:xfrm>
            <a:off x="228600" y="1295400"/>
            <a:ext cx="8686800" cy="5334000"/>
          </a:xfrm>
        </p:spPr>
        <p:txBody>
          <a:bodyPr/>
          <a:lstStyle/>
          <a:p>
            <a:pPr>
              <a:lnSpc>
                <a:spcPct val="80000"/>
              </a:lnSpc>
              <a:buFontTx/>
              <a:buNone/>
            </a:pPr>
            <a:r>
              <a:rPr lang="en-US" sz="2800"/>
              <a:t>	</a:t>
            </a:r>
            <a:r>
              <a:rPr lang="uk-UA" sz="2800"/>
              <a:t>SELECT po.OrderID, p.LastName, p.FirstName</a:t>
            </a:r>
            <a:br>
              <a:rPr lang="uk-UA" sz="2800"/>
            </a:br>
            <a:r>
              <a:rPr lang="uk-UA" sz="2800"/>
              <a:t>FROM Persons AS p,</a:t>
            </a:r>
            <a:br>
              <a:rPr lang="uk-UA" sz="2800"/>
            </a:br>
            <a:r>
              <a:rPr lang="uk-UA" sz="2800"/>
              <a:t>Product_Orders AS po</a:t>
            </a:r>
            <a:br>
              <a:rPr lang="uk-UA" sz="2800"/>
            </a:br>
            <a:r>
              <a:rPr lang="uk-UA" sz="2800"/>
              <a:t>WHERE p.LastName='Hansen' AND p.FirstName='Ola' </a:t>
            </a:r>
          </a:p>
          <a:p>
            <a:pPr>
              <a:lnSpc>
                <a:spcPct val="80000"/>
              </a:lnSpc>
              <a:buFontTx/>
              <a:buNone/>
            </a:pPr>
            <a:endParaRPr lang="en-US" sz="2800"/>
          </a:p>
          <a:p>
            <a:pPr>
              <a:lnSpc>
                <a:spcPct val="80000"/>
              </a:lnSpc>
              <a:buFontTx/>
              <a:buNone/>
            </a:pPr>
            <a:r>
              <a:rPr lang="uk-UA" sz="2800"/>
              <a:t>The same SELECT statement without aliases:</a:t>
            </a:r>
          </a:p>
          <a:p>
            <a:pPr>
              <a:lnSpc>
                <a:spcPct val="80000"/>
              </a:lnSpc>
              <a:buFontTx/>
              <a:buNone/>
            </a:pPr>
            <a:endParaRPr lang="en-US" sz="2800"/>
          </a:p>
          <a:p>
            <a:pPr>
              <a:lnSpc>
                <a:spcPct val="80000"/>
              </a:lnSpc>
              <a:buFontTx/>
              <a:buNone/>
            </a:pPr>
            <a:r>
              <a:rPr lang="en-US" sz="2800"/>
              <a:t>	</a:t>
            </a:r>
            <a:r>
              <a:rPr lang="uk-UA" sz="2800"/>
              <a:t>SELECT Product_Orders.OrderID, Persons.LastName, Persons.FirstName</a:t>
            </a:r>
            <a:br>
              <a:rPr lang="uk-UA" sz="2800"/>
            </a:br>
            <a:r>
              <a:rPr lang="uk-UA" sz="2800"/>
              <a:t>FROM Persons,</a:t>
            </a:r>
            <a:br>
              <a:rPr lang="uk-UA" sz="2800"/>
            </a:br>
            <a:r>
              <a:rPr lang="uk-UA" sz="2800"/>
              <a:t>Product_Orders</a:t>
            </a:r>
            <a:br>
              <a:rPr lang="uk-UA" sz="2800"/>
            </a:br>
            <a:r>
              <a:rPr lang="uk-UA" sz="2800"/>
              <a:t>WHERE Persons.LastName='Hansen' AND Persons.FirstName='Ola' </a:t>
            </a:r>
          </a:p>
        </p:txBody>
      </p:sp>
    </p:spTree>
    <p:extLst>
      <p:ext uri="{BB962C8B-B14F-4D97-AF65-F5344CB8AC3E}">
        <p14:creationId xmlns:p14="http://schemas.microsoft.com/office/powerpoint/2010/main" val="4215994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286000"/>
            <a:ext cx="8229600" cy="1143000"/>
          </a:xfrm>
        </p:spPr>
        <p:txBody>
          <a:bodyPr/>
          <a:lstStyle/>
          <a:p>
            <a:endParaRPr lang="uk-UA"/>
          </a:p>
        </p:txBody>
      </p:sp>
      <p:sp>
        <p:nvSpPr>
          <p:cNvPr id="31747" name="Rectangle 3"/>
          <p:cNvSpPr>
            <a:spLocks noGrp="1" noChangeArrowheads="1"/>
          </p:cNvSpPr>
          <p:nvPr>
            <p:ph type="body" idx="1"/>
          </p:nvPr>
        </p:nvSpPr>
        <p:spPr/>
        <p:txBody>
          <a:bodyPr/>
          <a:lstStyle/>
          <a:p>
            <a:endParaRPr lang="uk-UA"/>
          </a:p>
        </p:txBody>
      </p:sp>
    </p:spTree>
    <p:extLst>
      <p:ext uri="{BB962C8B-B14F-4D97-AF65-F5344CB8AC3E}">
        <p14:creationId xmlns:p14="http://schemas.microsoft.com/office/powerpoint/2010/main" val="623304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uk-UA"/>
              <a:t>Нормалізація</a:t>
            </a:r>
          </a:p>
        </p:txBody>
      </p:sp>
      <p:sp>
        <p:nvSpPr>
          <p:cNvPr id="29699" name="Rectangle 3"/>
          <p:cNvSpPr>
            <a:spLocks noGrp="1" noChangeArrowheads="1"/>
          </p:cNvSpPr>
          <p:nvPr>
            <p:ph type="body" idx="1"/>
          </p:nvPr>
        </p:nvSpPr>
        <p:spPr/>
        <p:txBody>
          <a:bodyPr/>
          <a:lstStyle/>
          <a:p>
            <a:r>
              <a:rPr lang="uk-UA" b="1"/>
              <a:t>Нормалізація схеми бази даних</a:t>
            </a:r>
            <a:r>
              <a:rPr lang="uk-UA"/>
              <a:t> — покроковий процес розбиття одного відношення (на практиці: таблиці) відповідно до алгоритму нормалізації на декілька відношень на базі </a:t>
            </a:r>
            <a:r>
              <a:rPr lang="uk-UA">
                <a:hlinkClick r:id="rId2" tooltip="Функціональна залежність"/>
              </a:rPr>
              <a:t>функціональних залежностей</a:t>
            </a:r>
            <a:r>
              <a:rPr lang="uk-UA"/>
              <a:t>. </a:t>
            </a:r>
          </a:p>
        </p:txBody>
      </p:sp>
    </p:spTree>
    <p:extLst>
      <p:ext uri="{BB962C8B-B14F-4D97-AF65-F5344CB8AC3E}">
        <p14:creationId xmlns:p14="http://schemas.microsoft.com/office/powerpoint/2010/main" val="4501685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endParaRPr lang="uk-UA"/>
          </a:p>
        </p:txBody>
      </p:sp>
      <p:sp>
        <p:nvSpPr>
          <p:cNvPr id="30723" name="Rectangle 3"/>
          <p:cNvSpPr>
            <a:spLocks noGrp="1" noChangeArrowheads="1"/>
          </p:cNvSpPr>
          <p:nvPr>
            <p:ph type="body" idx="1"/>
          </p:nvPr>
        </p:nvSpPr>
        <p:spPr>
          <a:xfrm>
            <a:off x="457200" y="304800"/>
            <a:ext cx="8229600" cy="5821363"/>
          </a:xfrm>
        </p:spPr>
        <p:txBody>
          <a:bodyPr/>
          <a:lstStyle/>
          <a:p>
            <a:pPr>
              <a:lnSpc>
                <a:spcPct val="80000"/>
              </a:lnSpc>
            </a:pPr>
            <a:r>
              <a:rPr lang="uk-UA" sz="2800" b="1"/>
              <a:t>Нормальна форма</a:t>
            </a:r>
            <a:r>
              <a:rPr lang="uk-UA" sz="2800"/>
              <a:t> — властивість </a:t>
            </a:r>
            <a:r>
              <a:rPr lang="uk-UA" sz="2800">
                <a:hlinkClick r:id="rId2" tooltip="Відношення (реляційна модель)"/>
              </a:rPr>
              <a:t>відношення</a:t>
            </a:r>
            <a:r>
              <a:rPr lang="uk-UA" sz="2800"/>
              <a:t> в </a:t>
            </a:r>
            <a:r>
              <a:rPr lang="uk-UA" sz="2800">
                <a:hlinkClick r:id="rId3" tooltip="Реляційна модель даних"/>
              </a:rPr>
              <a:t>реляційної моделі даних</a:t>
            </a:r>
            <a:r>
              <a:rPr lang="uk-UA" sz="2800"/>
              <a:t>, що характеризує його з точки зору надмірності, яка потенційно може призвести до логічно помилкових результатів виборки або зміни даних. Нормальна форма визначається як сукупність вимог, яким має задовільняти відношення.</a:t>
            </a:r>
          </a:p>
          <a:p>
            <a:pPr>
              <a:lnSpc>
                <a:spcPct val="80000"/>
              </a:lnSpc>
            </a:pPr>
            <a:r>
              <a:rPr lang="uk-UA" sz="2800"/>
              <a:t>Таким чином, схема </a:t>
            </a:r>
            <a:r>
              <a:rPr lang="uk-UA" sz="2800">
                <a:hlinkClick r:id="rId4" tooltip="Реляційна база даних"/>
              </a:rPr>
              <a:t>реляційної бази даних</a:t>
            </a:r>
            <a:r>
              <a:rPr lang="uk-UA" sz="2800"/>
              <a:t> переходить у першу, другу, третю і так далі нормальні форми. Якщо відношення відповідає критеріям нормальної форми </a:t>
            </a:r>
            <a:r>
              <a:rPr lang="uk-UA" sz="2800" i="1"/>
              <a:t>n</a:t>
            </a:r>
            <a:r>
              <a:rPr lang="uk-UA" sz="2800"/>
              <a:t>, та всіх попередніх нормальних форм, тоді вважається, що це відношення знаходиться у нормальній формі рівня </a:t>
            </a:r>
            <a:r>
              <a:rPr lang="uk-UA" sz="2800" i="1"/>
              <a:t>n</a:t>
            </a:r>
            <a:r>
              <a:rPr lang="uk-UA" sz="2800"/>
              <a:t>.</a:t>
            </a:r>
          </a:p>
        </p:txBody>
      </p:sp>
    </p:spTree>
    <p:extLst>
      <p:ext uri="{BB962C8B-B14F-4D97-AF65-F5344CB8AC3E}">
        <p14:creationId xmlns:p14="http://schemas.microsoft.com/office/powerpoint/2010/main" val="592509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uk-UA" b="1"/>
              <a:t>Перша нормальна форма</a:t>
            </a:r>
          </a:p>
        </p:txBody>
      </p:sp>
      <p:sp>
        <p:nvSpPr>
          <p:cNvPr id="32771" name="Rectangle 3"/>
          <p:cNvSpPr>
            <a:spLocks noGrp="1" noChangeArrowheads="1"/>
          </p:cNvSpPr>
          <p:nvPr>
            <p:ph type="body" idx="1"/>
          </p:nvPr>
        </p:nvSpPr>
        <p:spPr/>
        <p:txBody>
          <a:bodyPr/>
          <a:lstStyle/>
          <a:p>
            <a:pPr>
              <a:lnSpc>
                <a:spcPct val="80000"/>
              </a:lnSpc>
            </a:pPr>
            <a:r>
              <a:rPr lang="uk-UA" sz="2800">
                <a:hlinkClick r:id="rId2" tooltip="Перша нормальна форма"/>
              </a:rPr>
              <a:t>Перша нормальна форма</a:t>
            </a:r>
            <a:r>
              <a:rPr lang="uk-UA" sz="2800"/>
              <a:t> (1НФ, 1NF) утворює ґрунт для структурованої схеми баз даних:</a:t>
            </a:r>
          </a:p>
          <a:p>
            <a:pPr>
              <a:lnSpc>
                <a:spcPct val="80000"/>
              </a:lnSpc>
            </a:pPr>
            <a:r>
              <a:rPr lang="uk-UA" sz="2800"/>
              <a:t>Кожна таблиця повинна мати основний ключ: мінімальний набір колонок, які ідентифікують запис. </a:t>
            </a:r>
          </a:p>
          <a:p>
            <a:pPr>
              <a:lnSpc>
                <a:spcPct val="80000"/>
              </a:lnSpc>
            </a:pPr>
            <a:r>
              <a:rPr lang="uk-UA" sz="2800"/>
              <a:t>Уникнення повторень груп (категорії даних, що можуть зустрічатись різну кількість раз в різних записах) правильно визначаючи не-ключові атрибути. </a:t>
            </a:r>
          </a:p>
          <a:p>
            <a:pPr>
              <a:lnSpc>
                <a:spcPct val="80000"/>
              </a:lnSpc>
            </a:pPr>
            <a:r>
              <a:rPr lang="uk-UA" sz="2800"/>
              <a:t>Атомарність: кожен атрибут повинен мати лише одне значення, а не множину значень. </a:t>
            </a:r>
          </a:p>
          <a:p>
            <a:pPr>
              <a:lnSpc>
                <a:spcPct val="80000"/>
              </a:lnSpc>
            </a:pPr>
            <a:endParaRPr lang="uk-UA" sz="2800"/>
          </a:p>
        </p:txBody>
      </p:sp>
    </p:spTree>
    <p:extLst>
      <p:ext uri="{BB962C8B-B14F-4D97-AF65-F5344CB8AC3E}">
        <p14:creationId xmlns:p14="http://schemas.microsoft.com/office/powerpoint/2010/main" val="3408591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uk-UA" b="1"/>
              <a:t>Друга нормальна форма</a:t>
            </a:r>
          </a:p>
        </p:txBody>
      </p:sp>
      <p:sp>
        <p:nvSpPr>
          <p:cNvPr id="33795" name="Rectangle 3"/>
          <p:cNvSpPr>
            <a:spLocks noGrp="1" noChangeArrowheads="1"/>
          </p:cNvSpPr>
          <p:nvPr>
            <p:ph type="body" idx="1"/>
          </p:nvPr>
        </p:nvSpPr>
        <p:spPr/>
        <p:txBody>
          <a:bodyPr/>
          <a:lstStyle/>
          <a:p>
            <a:pPr>
              <a:lnSpc>
                <a:spcPct val="90000"/>
              </a:lnSpc>
            </a:pPr>
            <a:r>
              <a:rPr lang="uk-UA">
                <a:hlinkClick r:id="rId2" tooltip="Друга нормальна форма"/>
              </a:rPr>
              <a:t>Друга нормальна форма</a:t>
            </a:r>
            <a:r>
              <a:rPr lang="uk-UA"/>
              <a:t> (2НФ, 2NF) вимагає, аби дані, що зберігаються в таблицях із композитним ключем не залежали лише від частини ключа:</a:t>
            </a:r>
          </a:p>
          <a:p>
            <a:pPr>
              <a:lnSpc>
                <a:spcPct val="90000"/>
              </a:lnSpc>
            </a:pPr>
            <a:r>
              <a:rPr lang="uk-UA"/>
              <a:t>Схема бази даних повинна відповідати вимогам першої нормальної форми. </a:t>
            </a:r>
          </a:p>
          <a:p>
            <a:pPr>
              <a:lnSpc>
                <a:spcPct val="90000"/>
              </a:lnSpc>
            </a:pPr>
            <a:r>
              <a:rPr lang="uk-UA"/>
              <a:t>Дані, що повторно з'являються в декількох колонках виносяться в окремі таблиці. </a:t>
            </a:r>
          </a:p>
        </p:txBody>
      </p:sp>
    </p:spTree>
    <p:extLst>
      <p:ext uri="{BB962C8B-B14F-4D97-AF65-F5344CB8AC3E}">
        <p14:creationId xmlns:p14="http://schemas.microsoft.com/office/powerpoint/2010/main" val="31334390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uk-UA" b="1"/>
              <a:t>Третя нормальна форма</a:t>
            </a:r>
          </a:p>
        </p:txBody>
      </p:sp>
      <p:sp>
        <p:nvSpPr>
          <p:cNvPr id="34819" name="Rectangle 3"/>
          <p:cNvSpPr>
            <a:spLocks noGrp="1" noChangeArrowheads="1"/>
          </p:cNvSpPr>
          <p:nvPr>
            <p:ph type="body" idx="1"/>
          </p:nvPr>
        </p:nvSpPr>
        <p:spPr/>
        <p:txBody>
          <a:bodyPr/>
          <a:lstStyle/>
          <a:p>
            <a:pPr>
              <a:lnSpc>
                <a:spcPct val="90000"/>
              </a:lnSpc>
            </a:pPr>
            <a:r>
              <a:rPr lang="uk-UA">
                <a:hlinkClick r:id="rId2" tooltip="Третя нормальна форма"/>
              </a:rPr>
              <a:t>Третя нормальна форма</a:t>
            </a:r>
            <a:r>
              <a:rPr lang="uk-UA"/>
              <a:t> (3НФ, 3NF) вимагає, аби дані в таблиці залежали винятково від основного ключа:</a:t>
            </a:r>
          </a:p>
          <a:p>
            <a:pPr>
              <a:lnSpc>
                <a:spcPct val="90000"/>
              </a:lnSpc>
            </a:pPr>
            <a:r>
              <a:rPr lang="uk-UA"/>
              <a:t>Схема бази даних повинна відповідати всім вимогам другої нормальної форми. </a:t>
            </a:r>
          </a:p>
          <a:p>
            <a:pPr>
              <a:lnSpc>
                <a:spcPct val="90000"/>
              </a:lnSpc>
            </a:pPr>
            <a:r>
              <a:rPr lang="uk-UA"/>
              <a:t>Будь-яке поле, що залежить від основного ключа та від будь-якого іншого поля, має виноситись в окрему таблицю. </a:t>
            </a:r>
          </a:p>
        </p:txBody>
      </p:sp>
    </p:spTree>
    <p:extLst>
      <p:ext uri="{BB962C8B-B14F-4D97-AF65-F5344CB8AC3E}">
        <p14:creationId xmlns:p14="http://schemas.microsoft.com/office/powerpoint/2010/main" val="7397349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uk-UA" sz="4000" b="1"/>
              <a:t>Нормальна форма Бойса — Кодда</a:t>
            </a:r>
          </a:p>
        </p:txBody>
      </p:sp>
      <p:sp>
        <p:nvSpPr>
          <p:cNvPr id="35843" name="Rectangle 3"/>
          <p:cNvSpPr>
            <a:spLocks noGrp="1" noChangeArrowheads="1"/>
          </p:cNvSpPr>
          <p:nvPr>
            <p:ph type="body" idx="1"/>
          </p:nvPr>
        </p:nvSpPr>
        <p:spPr/>
        <p:txBody>
          <a:bodyPr/>
          <a:lstStyle/>
          <a:p>
            <a:pPr>
              <a:lnSpc>
                <a:spcPct val="90000"/>
              </a:lnSpc>
              <a:buFontTx/>
              <a:buNone/>
            </a:pPr>
            <a:r>
              <a:rPr lang="uk-UA" sz="2400"/>
              <a:t>Відношення знаходиться в </a:t>
            </a:r>
            <a:r>
              <a:rPr lang="uk-UA" sz="2400">
                <a:hlinkClick r:id="rId2" tooltip="Нормальна форма Бойса — Кодда"/>
              </a:rPr>
              <a:t>НФБК</a:t>
            </a:r>
            <a:r>
              <a:rPr lang="uk-UA" sz="2400"/>
              <a:t>, тоді і лише тоді коли детермінант кожної функціональної залежності є потенційним ключем. Якщо це правило не виконується, тоді щоб привести вказане відношення до НФБК його слід розділити на два відношення шляхом двох операцій проекції на кожну функціональну залежність детермінант, якої не є потенційним ключем.[</a:t>
            </a:r>
            <a:r>
              <a:rPr lang="uk-UA" sz="2400" i="1">
                <a:hlinkClick r:id="rId3" tooltip="Вікіпедія:Посилання на джерела"/>
              </a:rPr>
              <a:t>Джерело?</a:t>
            </a:r>
            <a:r>
              <a:rPr lang="uk-UA" sz="2400"/>
              <a:t>]</a:t>
            </a:r>
          </a:p>
          <a:p>
            <a:pPr>
              <a:lnSpc>
                <a:spcPct val="90000"/>
              </a:lnSpc>
            </a:pPr>
            <a:r>
              <a:rPr lang="uk-UA" sz="2400"/>
              <a:t>Проекція без атрибутів залежної частини такої функціональної залежності; </a:t>
            </a:r>
          </a:p>
          <a:p>
            <a:pPr>
              <a:lnSpc>
                <a:spcPct val="90000"/>
              </a:lnSpc>
            </a:pPr>
            <a:r>
              <a:rPr lang="uk-UA" sz="2400"/>
              <a:t>Проекція на всі атрибути цієї функціональної залежності. </a:t>
            </a:r>
          </a:p>
        </p:txBody>
      </p:sp>
    </p:spTree>
    <p:extLst>
      <p:ext uri="{BB962C8B-B14F-4D97-AF65-F5344CB8AC3E}">
        <p14:creationId xmlns:p14="http://schemas.microsoft.com/office/powerpoint/2010/main" val="42017930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endParaRPr lang="uk-UA"/>
          </a:p>
        </p:txBody>
      </p:sp>
      <p:sp>
        <p:nvSpPr>
          <p:cNvPr id="36867" name="Rectangle 3"/>
          <p:cNvSpPr>
            <a:spLocks noGrp="1" noChangeArrowheads="1"/>
          </p:cNvSpPr>
          <p:nvPr>
            <p:ph type="body" idx="1"/>
          </p:nvPr>
        </p:nvSpPr>
        <p:spPr>
          <a:xfrm>
            <a:off x="457200" y="228600"/>
            <a:ext cx="8229600" cy="6324600"/>
          </a:xfrm>
        </p:spPr>
        <p:txBody>
          <a:bodyPr/>
          <a:lstStyle/>
          <a:p>
            <a:pPr>
              <a:lnSpc>
                <a:spcPct val="90000"/>
              </a:lnSpc>
            </a:pPr>
            <a:r>
              <a:rPr lang="uk-UA" sz="2800"/>
              <a:t>Визначення НФБК не потребує жодних умов попередніх нормальних форм. Якщо проводити нормалізацію послідовно, то в переважній більшості випадків при досягненні 3НФ автоматично будуть задовольнятися вимоги НФБК. 3НФ не збігається з НФБК лише тоді, коли одночасно виконуються такі 3 умови:[</a:t>
            </a:r>
            <a:r>
              <a:rPr lang="uk-UA" sz="2800" i="1">
                <a:hlinkClick r:id="rId2" tooltip="Вікіпедія:Посилання на джерела"/>
              </a:rPr>
              <a:t>Джерело?</a:t>
            </a:r>
            <a:r>
              <a:rPr lang="uk-UA" sz="2800"/>
              <a:t>]</a:t>
            </a:r>
          </a:p>
          <a:p>
            <a:pPr>
              <a:lnSpc>
                <a:spcPct val="90000"/>
              </a:lnSpc>
            </a:pPr>
            <a:r>
              <a:rPr lang="uk-UA" sz="2800"/>
              <a:t>Відношення має 2 або більше потенційних ключів. </a:t>
            </a:r>
          </a:p>
          <a:p>
            <a:pPr>
              <a:lnSpc>
                <a:spcPct val="90000"/>
              </a:lnSpc>
            </a:pPr>
            <a:r>
              <a:rPr lang="uk-UA" sz="2800"/>
              <a:t>Ці потенційні ключі складені (містять більш ніж один атрибут) </a:t>
            </a:r>
          </a:p>
          <a:p>
            <a:pPr>
              <a:lnSpc>
                <a:spcPct val="90000"/>
              </a:lnSpc>
            </a:pPr>
            <a:r>
              <a:rPr lang="uk-UA" sz="2800"/>
              <a:t>Ці потенційні ключі перекриваються, тобто мають щонайменше один спільний атрибут. </a:t>
            </a:r>
          </a:p>
          <a:p>
            <a:pPr>
              <a:lnSpc>
                <a:spcPct val="90000"/>
              </a:lnSpc>
            </a:pPr>
            <a:endParaRPr lang="uk-UA" sz="2800"/>
          </a:p>
        </p:txBody>
      </p:sp>
    </p:spTree>
    <p:extLst>
      <p:ext uri="{BB962C8B-B14F-4D97-AF65-F5344CB8AC3E}">
        <p14:creationId xmlns:p14="http://schemas.microsoft.com/office/powerpoint/2010/main" val="9695548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uk-UA" b="1"/>
              <a:t>Четверта нормальна форма</a:t>
            </a:r>
          </a:p>
        </p:txBody>
      </p:sp>
      <p:sp>
        <p:nvSpPr>
          <p:cNvPr id="37891" name="Rectangle 3"/>
          <p:cNvSpPr>
            <a:spLocks noGrp="1" noChangeArrowheads="1"/>
          </p:cNvSpPr>
          <p:nvPr>
            <p:ph type="body" idx="1"/>
          </p:nvPr>
        </p:nvSpPr>
        <p:spPr/>
        <p:txBody>
          <a:bodyPr/>
          <a:lstStyle/>
          <a:p>
            <a:pPr>
              <a:lnSpc>
                <a:spcPct val="90000"/>
              </a:lnSpc>
            </a:pPr>
            <a:r>
              <a:rPr lang="uk-UA" sz="2800">
                <a:hlinkClick r:id="rId2" tooltip="Четверта нормальна форма"/>
              </a:rPr>
              <a:t>Четверта нормальна форма</a:t>
            </a:r>
            <a:r>
              <a:rPr lang="uk-UA" sz="2800"/>
              <a:t> (4НФ, 4NF) вимагає, аби в схемі баз даних не було нетривіальних багатозначних залежностей множин атрибутів від будь чого, окрім надмножини ключа-кандидата. Вважається, що таблиця знаходиться у 4НФ тоді, і тільки тоді, коли вона знаходиться в НФБК, та багатозначні залежності є функціональними залежностями. Четверта нормальна форма усуває небажані структури даних — багатозначні залежності. </a:t>
            </a:r>
          </a:p>
        </p:txBody>
      </p:sp>
    </p:spTree>
    <p:extLst>
      <p:ext uri="{BB962C8B-B14F-4D97-AF65-F5344CB8AC3E}">
        <p14:creationId xmlns:p14="http://schemas.microsoft.com/office/powerpoint/2010/main" val="2923315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uk-UA" b="1"/>
              <a:t>П'ята нормальна форма</a:t>
            </a:r>
          </a:p>
        </p:txBody>
      </p:sp>
      <p:sp>
        <p:nvSpPr>
          <p:cNvPr id="38915" name="Rectangle 3"/>
          <p:cNvSpPr>
            <a:spLocks noGrp="1" noChangeArrowheads="1"/>
          </p:cNvSpPr>
          <p:nvPr>
            <p:ph type="body" idx="1"/>
          </p:nvPr>
        </p:nvSpPr>
        <p:spPr/>
        <p:txBody>
          <a:bodyPr/>
          <a:lstStyle/>
          <a:p>
            <a:r>
              <a:rPr lang="uk-UA">
                <a:hlinkClick r:id="rId2" tooltip="П'ята нормальна форма"/>
              </a:rPr>
              <a:t>П'ята нормальна форма</a:t>
            </a:r>
            <a:r>
              <a:rPr lang="uk-UA"/>
              <a:t> (5НФ, 5NF, PJ/NF) вимагає, аби не було не тривіальних залежностей об'єднання, котрі б не витікали із обмежень ключів. Вважається, що таблиця в п'ятій нормальній формі, тоді, і тільки тоді, коли вона знаходиться в 4НФ, та кожна залежність об'єднання зумовлена її ключами-кандидатами. </a:t>
            </a:r>
          </a:p>
        </p:txBody>
      </p:sp>
    </p:spTree>
    <p:extLst>
      <p:ext uri="{BB962C8B-B14F-4D97-AF65-F5344CB8AC3E}">
        <p14:creationId xmlns:p14="http://schemas.microsoft.com/office/powerpoint/2010/main" val="23486201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uk-UA" sz="4000" b="1"/>
              <a:t>Нормальна форма домен/ключ</a:t>
            </a:r>
          </a:p>
        </p:txBody>
      </p:sp>
      <p:sp>
        <p:nvSpPr>
          <p:cNvPr id="39939" name="Rectangle 3"/>
          <p:cNvSpPr>
            <a:spLocks noGrp="1" noChangeArrowheads="1"/>
          </p:cNvSpPr>
          <p:nvPr>
            <p:ph type="body" idx="1"/>
          </p:nvPr>
        </p:nvSpPr>
        <p:spPr/>
        <p:txBody>
          <a:bodyPr/>
          <a:lstStyle/>
          <a:p>
            <a:endParaRPr lang="uk-UA"/>
          </a:p>
          <a:p>
            <a:endParaRPr lang="uk-UA"/>
          </a:p>
          <a:p>
            <a:r>
              <a:rPr lang="uk-UA"/>
              <a:t>Ця нормальна форма вимагає, аби в схемі не було інших обмежень окрім ключів та доменів. </a:t>
            </a:r>
          </a:p>
        </p:txBody>
      </p:sp>
    </p:spTree>
    <p:extLst>
      <p:ext uri="{BB962C8B-B14F-4D97-AF65-F5344CB8AC3E}">
        <p14:creationId xmlns:p14="http://schemas.microsoft.com/office/powerpoint/2010/main" val="5161556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uk-UA" b="1"/>
              <a:t>Шоста нормальна форма</a:t>
            </a:r>
          </a:p>
        </p:txBody>
      </p:sp>
      <p:sp>
        <p:nvSpPr>
          <p:cNvPr id="40963" name="Rectangle 3"/>
          <p:cNvSpPr>
            <a:spLocks noGrp="1" noChangeArrowheads="1"/>
          </p:cNvSpPr>
          <p:nvPr>
            <p:ph type="body" idx="1"/>
          </p:nvPr>
        </p:nvSpPr>
        <p:spPr/>
        <p:txBody>
          <a:bodyPr/>
          <a:lstStyle/>
          <a:p>
            <a:endParaRPr lang="uk-UA"/>
          </a:p>
          <a:p>
            <a:endParaRPr lang="uk-UA"/>
          </a:p>
          <a:p>
            <a:r>
              <a:rPr lang="uk-UA"/>
              <a:t>Таблиця знаходиться у 6NF, якщо вона знаходиться у 5NF та задовольняє вимозі відсутності нетривіальних залежностей. Зазвичай 6NF ототожнюють з DKNF. </a:t>
            </a:r>
          </a:p>
        </p:txBody>
      </p:sp>
    </p:spTree>
    <p:extLst>
      <p:ext uri="{BB962C8B-B14F-4D97-AF65-F5344CB8AC3E}">
        <p14:creationId xmlns:p14="http://schemas.microsoft.com/office/powerpoint/2010/main" val="24707685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SQL 4.</a:t>
            </a:r>
          </a:p>
        </p:txBody>
      </p:sp>
      <p:sp>
        <p:nvSpPr>
          <p:cNvPr id="4099" name="Rectangle 3"/>
          <p:cNvSpPr>
            <a:spLocks noGrp="1" noChangeArrowheads="1"/>
          </p:cNvSpPr>
          <p:nvPr>
            <p:ph type="subTitle" idx="1"/>
          </p:nvPr>
        </p:nvSpPr>
        <p:spPr/>
        <p:txBody>
          <a:bodyPr/>
          <a:lstStyle/>
          <a:p>
            <a:endParaRPr lang="uk-UA"/>
          </a:p>
        </p:txBody>
      </p:sp>
    </p:spTree>
    <p:extLst>
      <p:ext uri="{BB962C8B-B14F-4D97-AF65-F5344CB8AC3E}">
        <p14:creationId xmlns:p14="http://schemas.microsoft.com/office/powerpoint/2010/main" val="36837541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b="1"/>
              <a:t>SQL JOIN</a:t>
            </a:r>
          </a:p>
        </p:txBody>
      </p:sp>
      <p:sp>
        <p:nvSpPr>
          <p:cNvPr id="5123" name="Rectangle 3"/>
          <p:cNvSpPr>
            <a:spLocks noGrp="1" noChangeArrowheads="1"/>
          </p:cNvSpPr>
          <p:nvPr>
            <p:ph type="body" idx="1"/>
          </p:nvPr>
        </p:nvSpPr>
        <p:spPr/>
        <p:txBody>
          <a:bodyPr/>
          <a:lstStyle/>
          <a:p>
            <a:pPr>
              <a:lnSpc>
                <a:spcPct val="80000"/>
              </a:lnSpc>
            </a:pPr>
            <a:r>
              <a:rPr lang="en-US" sz="2800"/>
              <a:t>The JOIN keyword is used in an SQL statement to query data from two or more tables, based on a relationship between certain columns in these tables.</a:t>
            </a:r>
          </a:p>
          <a:p>
            <a:pPr>
              <a:lnSpc>
                <a:spcPct val="80000"/>
              </a:lnSpc>
            </a:pPr>
            <a:r>
              <a:rPr lang="en-US" sz="2800"/>
              <a:t>Tables in a database are often related to each other with keys.</a:t>
            </a:r>
          </a:p>
          <a:p>
            <a:pPr>
              <a:lnSpc>
                <a:spcPct val="80000"/>
              </a:lnSpc>
            </a:pPr>
            <a:r>
              <a:rPr lang="en-US" sz="2800"/>
              <a:t>A primary key is a column (or a combination of columns) with a unique value for each row. Each primary key value must be unique within the table. The purpose is to bind data together, across tables, without repeating all of the data in every table.</a:t>
            </a:r>
          </a:p>
        </p:txBody>
      </p:sp>
    </p:spTree>
    <p:extLst>
      <p:ext uri="{BB962C8B-B14F-4D97-AF65-F5344CB8AC3E}">
        <p14:creationId xmlns:p14="http://schemas.microsoft.com/office/powerpoint/2010/main" val="29755971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b="1"/>
              <a:t>Different SQL JOINs</a:t>
            </a:r>
          </a:p>
        </p:txBody>
      </p:sp>
      <p:sp>
        <p:nvSpPr>
          <p:cNvPr id="6147" name="Rectangle 3"/>
          <p:cNvSpPr>
            <a:spLocks noGrp="1" noChangeArrowheads="1"/>
          </p:cNvSpPr>
          <p:nvPr>
            <p:ph type="body" idx="1"/>
          </p:nvPr>
        </p:nvSpPr>
        <p:spPr/>
        <p:txBody>
          <a:bodyPr/>
          <a:lstStyle/>
          <a:p>
            <a:pPr>
              <a:lnSpc>
                <a:spcPct val="90000"/>
              </a:lnSpc>
              <a:buFontTx/>
              <a:buNone/>
            </a:pPr>
            <a:r>
              <a:rPr lang="en-US" sz="2400"/>
              <a:t>Before we continue with examples, we will list the types of JOIN you can use, and the differences between them.</a:t>
            </a:r>
          </a:p>
          <a:p>
            <a:pPr>
              <a:lnSpc>
                <a:spcPct val="90000"/>
              </a:lnSpc>
            </a:pPr>
            <a:endParaRPr lang="en-US" sz="2400"/>
          </a:p>
          <a:p>
            <a:pPr>
              <a:lnSpc>
                <a:spcPct val="90000"/>
              </a:lnSpc>
            </a:pPr>
            <a:r>
              <a:rPr lang="en-US" sz="2400" b="1"/>
              <a:t>JOIN</a:t>
            </a:r>
            <a:r>
              <a:rPr lang="en-US" sz="2400"/>
              <a:t>: Return rows when there is at least one match in both tables </a:t>
            </a:r>
          </a:p>
          <a:p>
            <a:pPr>
              <a:lnSpc>
                <a:spcPct val="90000"/>
              </a:lnSpc>
            </a:pPr>
            <a:r>
              <a:rPr lang="en-US" sz="2400" b="1"/>
              <a:t>LEFT JOIN</a:t>
            </a:r>
            <a:r>
              <a:rPr lang="en-US" sz="2400"/>
              <a:t>: Return all rows from the left table, even if there are no matches in the right table </a:t>
            </a:r>
          </a:p>
          <a:p>
            <a:pPr>
              <a:lnSpc>
                <a:spcPct val="90000"/>
              </a:lnSpc>
            </a:pPr>
            <a:r>
              <a:rPr lang="en-US" sz="2400" b="1"/>
              <a:t>RIGHT JOIN</a:t>
            </a:r>
            <a:r>
              <a:rPr lang="en-US" sz="2400"/>
              <a:t>: Return all rows from the right table, even if there are no matches in the left table </a:t>
            </a:r>
          </a:p>
          <a:p>
            <a:pPr>
              <a:lnSpc>
                <a:spcPct val="90000"/>
              </a:lnSpc>
            </a:pPr>
            <a:r>
              <a:rPr lang="en-US" sz="2400" b="1"/>
              <a:t>FULL JOIN</a:t>
            </a:r>
            <a:r>
              <a:rPr lang="en-US" sz="2400"/>
              <a:t>: Return rows when there is a match in one of the tables </a:t>
            </a:r>
          </a:p>
          <a:p>
            <a:pPr>
              <a:lnSpc>
                <a:spcPct val="90000"/>
              </a:lnSpc>
            </a:pPr>
            <a:endParaRPr lang="en-US" sz="2400"/>
          </a:p>
        </p:txBody>
      </p:sp>
    </p:spTree>
    <p:extLst>
      <p:ext uri="{BB962C8B-B14F-4D97-AF65-F5344CB8AC3E}">
        <p14:creationId xmlns:p14="http://schemas.microsoft.com/office/powerpoint/2010/main" val="14333183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b="1"/>
              <a:t>SQL INNER JOIN</a:t>
            </a:r>
          </a:p>
        </p:txBody>
      </p:sp>
      <p:sp>
        <p:nvSpPr>
          <p:cNvPr id="7171" name="Rectangle 3"/>
          <p:cNvSpPr>
            <a:spLocks noGrp="1" noChangeArrowheads="1"/>
          </p:cNvSpPr>
          <p:nvPr>
            <p:ph type="body" idx="1"/>
          </p:nvPr>
        </p:nvSpPr>
        <p:spPr>
          <a:xfrm>
            <a:off x="457200" y="1600200"/>
            <a:ext cx="8229600" cy="4953000"/>
          </a:xfrm>
        </p:spPr>
        <p:txBody>
          <a:bodyPr/>
          <a:lstStyle/>
          <a:p>
            <a:pPr>
              <a:lnSpc>
                <a:spcPct val="90000"/>
              </a:lnSpc>
              <a:buFontTx/>
              <a:buNone/>
            </a:pPr>
            <a:r>
              <a:rPr lang="en-US" sz="2800"/>
              <a:t>The INNER JOIN keyword return rows when there is at least one match in both tables. </a:t>
            </a:r>
          </a:p>
          <a:p>
            <a:pPr>
              <a:lnSpc>
                <a:spcPct val="90000"/>
              </a:lnSpc>
            </a:pPr>
            <a:endParaRPr lang="en-US" sz="2800"/>
          </a:p>
          <a:p>
            <a:pPr>
              <a:lnSpc>
                <a:spcPct val="90000"/>
              </a:lnSpc>
              <a:buFontTx/>
              <a:buNone/>
            </a:pPr>
            <a:r>
              <a:rPr lang="en-US" sz="2800"/>
              <a:t>	SELECT column_name(s)</a:t>
            </a:r>
            <a:br>
              <a:rPr lang="en-US" sz="2800"/>
            </a:br>
            <a:r>
              <a:rPr lang="en-US" sz="2800"/>
              <a:t>FROM table_name1</a:t>
            </a:r>
            <a:br>
              <a:rPr lang="en-US" sz="2800"/>
            </a:br>
            <a:r>
              <a:rPr lang="en-US" sz="2800"/>
              <a:t>INNER JOIN table_name2</a:t>
            </a:r>
            <a:br>
              <a:rPr lang="en-US" sz="2800"/>
            </a:br>
            <a:r>
              <a:rPr lang="en-US" sz="2800"/>
              <a:t>ON table_name1.column_name=table_name2.column_name</a:t>
            </a:r>
          </a:p>
          <a:p>
            <a:pPr>
              <a:lnSpc>
                <a:spcPct val="90000"/>
              </a:lnSpc>
              <a:buFontTx/>
              <a:buNone/>
            </a:pPr>
            <a:endParaRPr lang="en-US" sz="2800" b="1"/>
          </a:p>
          <a:p>
            <a:pPr>
              <a:lnSpc>
                <a:spcPct val="90000"/>
              </a:lnSpc>
              <a:buFontTx/>
              <a:buNone/>
            </a:pPr>
            <a:r>
              <a:rPr lang="en-US" sz="2800" b="1"/>
              <a:t>PS:</a:t>
            </a:r>
            <a:r>
              <a:rPr lang="en-US" sz="2800"/>
              <a:t> INNER JOIN is the same as JOIN.</a:t>
            </a:r>
          </a:p>
        </p:txBody>
      </p:sp>
    </p:spTree>
    <p:extLst>
      <p:ext uri="{BB962C8B-B14F-4D97-AF65-F5344CB8AC3E}">
        <p14:creationId xmlns:p14="http://schemas.microsoft.com/office/powerpoint/2010/main" val="33619408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8" y="230188"/>
            <a:ext cx="6181725" cy="6399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59007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b="1"/>
              <a:t>SQL LEFT JOIN</a:t>
            </a:r>
          </a:p>
        </p:txBody>
      </p:sp>
      <p:sp>
        <p:nvSpPr>
          <p:cNvPr id="9219" name="Rectangle 3"/>
          <p:cNvSpPr>
            <a:spLocks noGrp="1" noChangeArrowheads="1"/>
          </p:cNvSpPr>
          <p:nvPr>
            <p:ph type="body" idx="1"/>
          </p:nvPr>
        </p:nvSpPr>
        <p:spPr>
          <a:xfrm>
            <a:off x="457200" y="1600200"/>
            <a:ext cx="8229600" cy="4953000"/>
          </a:xfrm>
        </p:spPr>
        <p:txBody>
          <a:bodyPr/>
          <a:lstStyle/>
          <a:p>
            <a:pPr>
              <a:lnSpc>
                <a:spcPct val="80000"/>
              </a:lnSpc>
              <a:buFontTx/>
              <a:buNone/>
            </a:pPr>
            <a:r>
              <a:rPr lang="en-US" sz="2800"/>
              <a:t>The LEFT JOIN keyword returns all rows from the left table (table_name1), even if there are no matches in the right table (table_name2). </a:t>
            </a:r>
          </a:p>
          <a:p>
            <a:pPr>
              <a:lnSpc>
                <a:spcPct val="80000"/>
              </a:lnSpc>
              <a:buFontTx/>
              <a:buNone/>
            </a:pPr>
            <a:endParaRPr lang="en-US" sz="2800"/>
          </a:p>
          <a:p>
            <a:pPr>
              <a:lnSpc>
                <a:spcPct val="80000"/>
              </a:lnSpc>
              <a:buFontTx/>
              <a:buNone/>
            </a:pPr>
            <a:r>
              <a:rPr lang="en-US" sz="2800"/>
              <a:t>	SELECT column_name(s)</a:t>
            </a:r>
            <a:br>
              <a:rPr lang="en-US" sz="2800"/>
            </a:br>
            <a:r>
              <a:rPr lang="en-US" sz="2800"/>
              <a:t>FROM table_name1</a:t>
            </a:r>
            <a:br>
              <a:rPr lang="en-US" sz="2800"/>
            </a:br>
            <a:r>
              <a:rPr lang="en-US" sz="2800"/>
              <a:t>LEFT JOIN table_name2</a:t>
            </a:r>
            <a:br>
              <a:rPr lang="en-US" sz="2800"/>
            </a:br>
            <a:r>
              <a:rPr lang="en-US" sz="2800"/>
              <a:t>ON table_name1.column_name=table_name2.column_name</a:t>
            </a:r>
            <a:endParaRPr lang="en-US" sz="2800" b="1"/>
          </a:p>
          <a:p>
            <a:pPr>
              <a:lnSpc>
                <a:spcPct val="80000"/>
              </a:lnSpc>
              <a:buFontTx/>
              <a:buNone/>
            </a:pPr>
            <a:endParaRPr lang="en-US" sz="2800" b="1"/>
          </a:p>
          <a:p>
            <a:pPr>
              <a:lnSpc>
                <a:spcPct val="80000"/>
              </a:lnSpc>
              <a:buFontTx/>
              <a:buNone/>
            </a:pPr>
            <a:r>
              <a:rPr lang="en-US" sz="2800" b="1"/>
              <a:t>PS:</a:t>
            </a:r>
            <a:r>
              <a:rPr lang="en-US" sz="2800"/>
              <a:t> In some databases LEFT JOIN is called LEFT OUTER JOIN.</a:t>
            </a:r>
          </a:p>
        </p:txBody>
      </p:sp>
    </p:spTree>
    <p:extLst>
      <p:ext uri="{BB962C8B-B14F-4D97-AF65-F5344CB8AC3E}">
        <p14:creationId xmlns:p14="http://schemas.microsoft.com/office/powerpoint/2010/main" val="25263639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147638"/>
            <a:ext cx="6145212" cy="6564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8918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b="1"/>
              <a:t>SQL RIGHT JOIN</a:t>
            </a:r>
          </a:p>
        </p:txBody>
      </p:sp>
      <p:sp>
        <p:nvSpPr>
          <p:cNvPr id="11267" name="Rectangle 3"/>
          <p:cNvSpPr>
            <a:spLocks noGrp="1" noChangeArrowheads="1"/>
          </p:cNvSpPr>
          <p:nvPr>
            <p:ph type="body" idx="1"/>
          </p:nvPr>
        </p:nvSpPr>
        <p:spPr>
          <a:xfrm>
            <a:off x="457200" y="1600200"/>
            <a:ext cx="8229600" cy="4953000"/>
          </a:xfrm>
        </p:spPr>
        <p:txBody>
          <a:bodyPr/>
          <a:lstStyle/>
          <a:p>
            <a:pPr>
              <a:lnSpc>
                <a:spcPct val="80000"/>
              </a:lnSpc>
              <a:buFontTx/>
              <a:buNone/>
            </a:pPr>
            <a:r>
              <a:rPr lang="en-US" sz="2800"/>
              <a:t>The RIGHT JOIN keyword returns all the rows from the right table (table_name2), even if there are no matches in the left table (table_name1). </a:t>
            </a:r>
          </a:p>
          <a:p>
            <a:pPr>
              <a:lnSpc>
                <a:spcPct val="80000"/>
              </a:lnSpc>
            </a:pPr>
            <a:endParaRPr lang="en-US" sz="2800"/>
          </a:p>
          <a:p>
            <a:pPr>
              <a:lnSpc>
                <a:spcPct val="80000"/>
              </a:lnSpc>
              <a:buFontTx/>
              <a:buNone/>
            </a:pPr>
            <a:r>
              <a:rPr lang="en-US" sz="2800"/>
              <a:t>	SELECT column_name(s)</a:t>
            </a:r>
            <a:br>
              <a:rPr lang="en-US" sz="2800"/>
            </a:br>
            <a:r>
              <a:rPr lang="en-US" sz="2800"/>
              <a:t>FROM table_name1</a:t>
            </a:r>
            <a:br>
              <a:rPr lang="en-US" sz="2800"/>
            </a:br>
            <a:r>
              <a:rPr lang="en-US" sz="2800"/>
              <a:t>RIGHT JOIN table_name2</a:t>
            </a:r>
            <a:br>
              <a:rPr lang="en-US" sz="2800"/>
            </a:br>
            <a:r>
              <a:rPr lang="en-US" sz="2800"/>
              <a:t>ON table_name1.column_name=table_name2.column_name</a:t>
            </a:r>
            <a:endParaRPr lang="en-US" sz="2800" b="1"/>
          </a:p>
          <a:p>
            <a:pPr>
              <a:lnSpc>
                <a:spcPct val="80000"/>
              </a:lnSpc>
              <a:buFontTx/>
              <a:buNone/>
            </a:pPr>
            <a:endParaRPr lang="en-US" sz="2800" b="1"/>
          </a:p>
          <a:p>
            <a:pPr>
              <a:lnSpc>
                <a:spcPct val="80000"/>
              </a:lnSpc>
              <a:buFontTx/>
              <a:buNone/>
            </a:pPr>
            <a:r>
              <a:rPr lang="en-US" sz="2800" b="1"/>
              <a:t>PS:</a:t>
            </a:r>
            <a:r>
              <a:rPr lang="en-US" sz="2800"/>
              <a:t> In some databases RIGHT JOIN is called RIGHT OUTER JOIN.</a:t>
            </a:r>
          </a:p>
        </p:txBody>
      </p:sp>
    </p:spTree>
    <p:extLst>
      <p:ext uri="{BB962C8B-B14F-4D97-AF65-F5344CB8AC3E}">
        <p14:creationId xmlns:p14="http://schemas.microsoft.com/office/powerpoint/2010/main" val="40461510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53988"/>
            <a:ext cx="6134100" cy="6551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6344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b="1"/>
              <a:t>SQL FULL JOIN</a:t>
            </a:r>
          </a:p>
        </p:txBody>
      </p:sp>
      <p:sp>
        <p:nvSpPr>
          <p:cNvPr id="13315" name="Rectangle 3"/>
          <p:cNvSpPr>
            <a:spLocks noGrp="1" noChangeArrowheads="1"/>
          </p:cNvSpPr>
          <p:nvPr>
            <p:ph type="body" idx="1"/>
          </p:nvPr>
        </p:nvSpPr>
        <p:spPr/>
        <p:txBody>
          <a:bodyPr/>
          <a:lstStyle/>
          <a:p>
            <a:pPr>
              <a:lnSpc>
                <a:spcPct val="90000"/>
              </a:lnSpc>
              <a:buFontTx/>
              <a:buNone/>
            </a:pPr>
            <a:r>
              <a:rPr lang="en-US"/>
              <a:t>	The FULL JOIN keyword return rows when there is a match in one of the tables. </a:t>
            </a:r>
          </a:p>
          <a:p>
            <a:pPr>
              <a:lnSpc>
                <a:spcPct val="90000"/>
              </a:lnSpc>
            </a:pPr>
            <a:endParaRPr lang="en-US"/>
          </a:p>
          <a:p>
            <a:pPr>
              <a:lnSpc>
                <a:spcPct val="90000"/>
              </a:lnSpc>
              <a:buFontTx/>
              <a:buNone/>
            </a:pPr>
            <a:r>
              <a:rPr lang="en-US"/>
              <a:t>	SELECT column_name(s)</a:t>
            </a:r>
            <a:br>
              <a:rPr lang="en-US"/>
            </a:br>
            <a:r>
              <a:rPr lang="en-US"/>
              <a:t>FROM table_name1</a:t>
            </a:r>
            <a:br>
              <a:rPr lang="en-US"/>
            </a:br>
            <a:r>
              <a:rPr lang="en-US"/>
              <a:t>FULL JOIN table_name2</a:t>
            </a:r>
            <a:br>
              <a:rPr lang="en-US"/>
            </a:br>
            <a:r>
              <a:rPr lang="en-US"/>
              <a:t>ON table_name1.column_name=table_name2.column_name </a:t>
            </a:r>
          </a:p>
        </p:txBody>
      </p:sp>
    </p:spTree>
    <p:extLst>
      <p:ext uri="{BB962C8B-B14F-4D97-AF65-F5344CB8AC3E}">
        <p14:creationId xmlns:p14="http://schemas.microsoft.com/office/powerpoint/2010/main" val="6881456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425" y="134938"/>
            <a:ext cx="6153150" cy="658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7698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b="1"/>
              <a:t>SQL UNION</a:t>
            </a:r>
          </a:p>
        </p:txBody>
      </p:sp>
      <p:sp>
        <p:nvSpPr>
          <p:cNvPr id="15363" name="Rectangle 3"/>
          <p:cNvSpPr>
            <a:spLocks noGrp="1" noChangeArrowheads="1"/>
          </p:cNvSpPr>
          <p:nvPr>
            <p:ph type="body" idx="1"/>
          </p:nvPr>
        </p:nvSpPr>
        <p:spPr/>
        <p:txBody>
          <a:bodyPr/>
          <a:lstStyle/>
          <a:p>
            <a:pPr>
              <a:lnSpc>
                <a:spcPct val="80000"/>
              </a:lnSpc>
            </a:pPr>
            <a:r>
              <a:rPr lang="en-US" sz="2800"/>
              <a:t>The UNION operator is used to combine the result-set of two or more SELECT statements.</a:t>
            </a:r>
          </a:p>
          <a:p>
            <a:pPr>
              <a:lnSpc>
                <a:spcPct val="80000"/>
              </a:lnSpc>
            </a:pPr>
            <a:r>
              <a:rPr lang="en-US" sz="2800"/>
              <a:t>Notice that each SELECT statement within the UNION must have the same number of columns. The columns must also have similar data types. Also, the columns in each SELECT statement must be in the same order.</a:t>
            </a:r>
            <a:endParaRPr lang="en-US" sz="2800" b="1"/>
          </a:p>
          <a:p>
            <a:pPr>
              <a:lnSpc>
                <a:spcPct val="80000"/>
              </a:lnSpc>
            </a:pPr>
            <a:r>
              <a:rPr lang="en-US" sz="2800" b="1"/>
              <a:t>SQL UNION Syntax</a:t>
            </a:r>
          </a:p>
          <a:p>
            <a:pPr>
              <a:lnSpc>
                <a:spcPct val="80000"/>
              </a:lnSpc>
            </a:pPr>
            <a:r>
              <a:rPr lang="en-US" sz="2800"/>
              <a:t>SELECT column_name(s) FROM table_name1</a:t>
            </a:r>
            <a:br>
              <a:rPr lang="en-US" sz="2800"/>
            </a:br>
            <a:r>
              <a:rPr lang="en-US" sz="2800"/>
              <a:t>UNION</a:t>
            </a:r>
            <a:br>
              <a:rPr lang="en-US" sz="2800"/>
            </a:br>
            <a:r>
              <a:rPr lang="en-US" sz="2800"/>
              <a:t>SELECT column_name(s) FROM table_name2</a:t>
            </a:r>
            <a:endParaRPr lang="en-US" sz="2800" b="1"/>
          </a:p>
        </p:txBody>
      </p:sp>
    </p:spTree>
    <p:extLst>
      <p:ext uri="{BB962C8B-B14F-4D97-AF65-F5344CB8AC3E}">
        <p14:creationId xmlns:p14="http://schemas.microsoft.com/office/powerpoint/2010/main" val="25806972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endParaRPr lang="uk-UA"/>
          </a:p>
        </p:txBody>
      </p:sp>
      <p:sp>
        <p:nvSpPr>
          <p:cNvPr id="17411" name="Rectangle 3"/>
          <p:cNvSpPr>
            <a:spLocks noGrp="1" noChangeArrowheads="1"/>
          </p:cNvSpPr>
          <p:nvPr>
            <p:ph type="body" idx="1"/>
          </p:nvPr>
        </p:nvSpPr>
        <p:spPr>
          <a:xfrm>
            <a:off x="457200" y="304800"/>
            <a:ext cx="8229600" cy="6248400"/>
          </a:xfrm>
        </p:spPr>
        <p:txBody>
          <a:bodyPr/>
          <a:lstStyle/>
          <a:p>
            <a:pPr>
              <a:lnSpc>
                <a:spcPct val="90000"/>
              </a:lnSpc>
            </a:pPr>
            <a:r>
              <a:rPr lang="en-US" b="1"/>
              <a:t>Note:</a:t>
            </a:r>
            <a:r>
              <a:rPr lang="en-US"/>
              <a:t> The UNION operator selects only distinct values by default. To allow duplicate values, use UNION ALL.</a:t>
            </a:r>
            <a:endParaRPr lang="en-US" b="1"/>
          </a:p>
          <a:p>
            <a:pPr>
              <a:lnSpc>
                <a:spcPct val="90000"/>
              </a:lnSpc>
            </a:pPr>
            <a:r>
              <a:rPr lang="en-US" b="1"/>
              <a:t>SQL UNION ALL Syntax</a:t>
            </a:r>
          </a:p>
          <a:p>
            <a:pPr>
              <a:lnSpc>
                <a:spcPct val="90000"/>
              </a:lnSpc>
            </a:pPr>
            <a:r>
              <a:rPr lang="en-US"/>
              <a:t>SELECT column_name(s) FROM table_name1</a:t>
            </a:r>
            <a:br>
              <a:rPr lang="en-US"/>
            </a:br>
            <a:r>
              <a:rPr lang="en-US"/>
              <a:t>UNION ALL</a:t>
            </a:r>
            <a:br>
              <a:rPr lang="en-US"/>
            </a:br>
            <a:r>
              <a:rPr lang="en-US"/>
              <a:t>SELECT column_name(s) FROM table_name2</a:t>
            </a:r>
            <a:endParaRPr lang="en-US" b="1"/>
          </a:p>
          <a:p>
            <a:pPr>
              <a:lnSpc>
                <a:spcPct val="90000"/>
              </a:lnSpc>
            </a:pPr>
            <a:r>
              <a:rPr lang="en-US" b="1"/>
              <a:t>PS:</a:t>
            </a:r>
            <a:r>
              <a:rPr lang="en-US"/>
              <a:t> The column names in the result-set of a UNION are always equal to the column names in the first SELECT statement in the UNION.</a:t>
            </a:r>
          </a:p>
        </p:txBody>
      </p:sp>
    </p:spTree>
    <p:extLst>
      <p:ext uri="{BB962C8B-B14F-4D97-AF65-F5344CB8AC3E}">
        <p14:creationId xmlns:p14="http://schemas.microsoft.com/office/powerpoint/2010/main" val="17687144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713" y="196850"/>
            <a:ext cx="6126162" cy="6465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4109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76400"/>
            <a:ext cx="6200775"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9833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a:t>SQL SELECT INTO</a:t>
            </a:r>
          </a:p>
        </p:txBody>
      </p:sp>
      <p:sp>
        <p:nvSpPr>
          <p:cNvPr id="20483" name="Rectangle 3"/>
          <p:cNvSpPr>
            <a:spLocks noGrp="1" noChangeArrowheads="1"/>
          </p:cNvSpPr>
          <p:nvPr>
            <p:ph type="body" idx="1"/>
          </p:nvPr>
        </p:nvSpPr>
        <p:spPr/>
        <p:txBody>
          <a:bodyPr/>
          <a:lstStyle/>
          <a:p>
            <a:r>
              <a:rPr lang="en-US"/>
              <a:t>The SELECT INTO statement selects data from one table and inserts it into a different table. </a:t>
            </a:r>
          </a:p>
          <a:p>
            <a:r>
              <a:rPr lang="en-US"/>
              <a:t>The SELECT INTO statement is most often used to create backup copies of tables.</a:t>
            </a:r>
            <a:endParaRPr lang="en-US" b="1"/>
          </a:p>
        </p:txBody>
      </p:sp>
    </p:spTree>
    <p:extLst>
      <p:ext uri="{BB962C8B-B14F-4D97-AF65-F5344CB8AC3E}">
        <p14:creationId xmlns:p14="http://schemas.microsoft.com/office/powerpoint/2010/main" val="13757836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457200" y="381000"/>
            <a:ext cx="8229600" cy="5745163"/>
          </a:xfrm>
        </p:spPr>
        <p:txBody>
          <a:bodyPr/>
          <a:lstStyle/>
          <a:p>
            <a:pPr>
              <a:buFontTx/>
              <a:buNone/>
            </a:pPr>
            <a:r>
              <a:rPr lang="en-US" sz="2800"/>
              <a:t>We can select all columns into the new table:</a:t>
            </a:r>
          </a:p>
          <a:p>
            <a:pPr>
              <a:buFontTx/>
              <a:buNone/>
            </a:pPr>
            <a:r>
              <a:rPr lang="en-US" sz="2800"/>
              <a:t>	</a:t>
            </a:r>
          </a:p>
          <a:p>
            <a:pPr>
              <a:buFontTx/>
              <a:buNone/>
            </a:pPr>
            <a:r>
              <a:rPr lang="en-US" sz="2800"/>
              <a:t>	SELECT *</a:t>
            </a:r>
            <a:br>
              <a:rPr lang="en-US" sz="2800"/>
            </a:br>
            <a:r>
              <a:rPr lang="en-US" sz="2800"/>
              <a:t>INTO new_table_name [IN externaldatabase]</a:t>
            </a:r>
            <a:br>
              <a:rPr lang="en-US" sz="2800"/>
            </a:br>
            <a:r>
              <a:rPr lang="en-US" sz="2800"/>
              <a:t>FROM old_tablename</a:t>
            </a:r>
          </a:p>
          <a:p>
            <a:pPr>
              <a:buFontTx/>
              <a:buNone/>
            </a:pPr>
            <a:endParaRPr lang="en-US" sz="2800"/>
          </a:p>
          <a:p>
            <a:pPr>
              <a:buFontTx/>
              <a:buNone/>
            </a:pPr>
            <a:r>
              <a:rPr lang="en-US" sz="2800"/>
              <a:t>Or we can select only the columns we want into the new table:</a:t>
            </a:r>
          </a:p>
          <a:p>
            <a:pPr>
              <a:buFontTx/>
              <a:buNone/>
            </a:pPr>
            <a:r>
              <a:rPr lang="en-US" sz="2800"/>
              <a:t>	</a:t>
            </a:r>
          </a:p>
          <a:p>
            <a:pPr>
              <a:buFontTx/>
              <a:buNone/>
            </a:pPr>
            <a:r>
              <a:rPr lang="en-US" sz="2800"/>
              <a:t>	SELECT column_name(s)</a:t>
            </a:r>
            <a:br>
              <a:rPr lang="en-US" sz="2800"/>
            </a:br>
            <a:r>
              <a:rPr lang="en-US" sz="2800"/>
              <a:t>INTO new_table_name [IN externaldatabase]</a:t>
            </a:r>
            <a:br>
              <a:rPr lang="en-US" sz="2800"/>
            </a:br>
            <a:r>
              <a:rPr lang="en-US" sz="2800"/>
              <a:t>FROM old_tablename</a:t>
            </a:r>
          </a:p>
          <a:p>
            <a:endParaRPr lang="en-US" sz="2800"/>
          </a:p>
        </p:txBody>
      </p:sp>
    </p:spTree>
    <p:extLst>
      <p:ext uri="{BB962C8B-B14F-4D97-AF65-F5344CB8AC3E}">
        <p14:creationId xmlns:p14="http://schemas.microsoft.com/office/powerpoint/2010/main" val="24794738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8" y="1600200"/>
            <a:ext cx="6181725"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3882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1362075"/>
            <a:ext cx="6211888"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8409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SQL 5</a:t>
            </a:r>
          </a:p>
        </p:txBody>
      </p:sp>
      <p:sp>
        <p:nvSpPr>
          <p:cNvPr id="4099" name="Rectangle 3"/>
          <p:cNvSpPr>
            <a:spLocks noGrp="1" noChangeArrowheads="1"/>
          </p:cNvSpPr>
          <p:nvPr>
            <p:ph type="subTitle" idx="1"/>
          </p:nvPr>
        </p:nvSpPr>
        <p:spPr/>
        <p:txBody>
          <a:bodyPr>
            <a:normAutofit fontScale="85000" lnSpcReduction="20000"/>
          </a:bodyPr>
          <a:lstStyle/>
          <a:p>
            <a:pPr algn="r"/>
            <a:endParaRPr lang="uk-UA"/>
          </a:p>
          <a:p>
            <a:pPr algn="r"/>
            <a:r>
              <a:rPr lang="uk-UA"/>
              <a:t>Спеціальні функції</a:t>
            </a:r>
            <a:endParaRPr lang="en-US"/>
          </a:p>
        </p:txBody>
      </p:sp>
    </p:spTree>
    <p:extLst>
      <p:ext uri="{BB962C8B-B14F-4D97-AF65-F5344CB8AC3E}">
        <p14:creationId xmlns:p14="http://schemas.microsoft.com/office/powerpoint/2010/main" val="34124487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uk-UA" b="1"/>
              <a:t>SQL Aggregate Functions</a:t>
            </a:r>
          </a:p>
        </p:txBody>
      </p:sp>
      <p:sp>
        <p:nvSpPr>
          <p:cNvPr id="8195" name="Rectangle 3"/>
          <p:cNvSpPr>
            <a:spLocks noGrp="1" noChangeArrowheads="1"/>
          </p:cNvSpPr>
          <p:nvPr>
            <p:ph type="body" idx="1"/>
          </p:nvPr>
        </p:nvSpPr>
        <p:spPr/>
        <p:txBody>
          <a:bodyPr/>
          <a:lstStyle/>
          <a:p>
            <a:pPr>
              <a:lnSpc>
                <a:spcPct val="80000"/>
              </a:lnSpc>
              <a:buFontTx/>
              <a:buNone/>
            </a:pPr>
            <a:r>
              <a:rPr lang="uk-UA" sz="2800"/>
              <a:t>SQL aggregate functions return a single value, calculated from values in a column.</a:t>
            </a:r>
          </a:p>
          <a:p>
            <a:pPr>
              <a:lnSpc>
                <a:spcPct val="80000"/>
              </a:lnSpc>
              <a:buFontTx/>
              <a:buNone/>
            </a:pPr>
            <a:r>
              <a:rPr lang="uk-UA" sz="2800"/>
              <a:t>Useful aggregate functions:</a:t>
            </a:r>
          </a:p>
          <a:p>
            <a:pPr>
              <a:lnSpc>
                <a:spcPct val="80000"/>
              </a:lnSpc>
              <a:buFontTx/>
              <a:buNone/>
            </a:pPr>
            <a:endParaRPr lang="uk-UA" sz="2800"/>
          </a:p>
          <a:p>
            <a:pPr lvl="1">
              <a:lnSpc>
                <a:spcPct val="80000"/>
              </a:lnSpc>
            </a:pPr>
            <a:r>
              <a:rPr lang="uk-UA" sz="2400"/>
              <a:t>AVG() - Returns the average value </a:t>
            </a:r>
          </a:p>
          <a:p>
            <a:pPr lvl="1">
              <a:lnSpc>
                <a:spcPct val="80000"/>
              </a:lnSpc>
            </a:pPr>
            <a:r>
              <a:rPr lang="uk-UA" sz="2400"/>
              <a:t>COUNT() - Returns the number of rows </a:t>
            </a:r>
          </a:p>
          <a:p>
            <a:pPr lvl="1">
              <a:lnSpc>
                <a:spcPct val="80000"/>
              </a:lnSpc>
            </a:pPr>
            <a:r>
              <a:rPr lang="uk-UA" sz="2400"/>
              <a:t>FIRST() - Returns the first value </a:t>
            </a:r>
          </a:p>
          <a:p>
            <a:pPr lvl="1">
              <a:lnSpc>
                <a:spcPct val="80000"/>
              </a:lnSpc>
            </a:pPr>
            <a:r>
              <a:rPr lang="uk-UA" sz="2400"/>
              <a:t>LAST() - Returns the last value </a:t>
            </a:r>
          </a:p>
          <a:p>
            <a:pPr lvl="1">
              <a:lnSpc>
                <a:spcPct val="80000"/>
              </a:lnSpc>
            </a:pPr>
            <a:r>
              <a:rPr lang="uk-UA" sz="2400"/>
              <a:t>MAX() - Returns the largest value </a:t>
            </a:r>
          </a:p>
          <a:p>
            <a:pPr lvl="1">
              <a:lnSpc>
                <a:spcPct val="80000"/>
              </a:lnSpc>
            </a:pPr>
            <a:r>
              <a:rPr lang="uk-UA" sz="2400"/>
              <a:t>MIN() - Returns the smallest value </a:t>
            </a:r>
          </a:p>
          <a:p>
            <a:pPr lvl="1">
              <a:lnSpc>
                <a:spcPct val="80000"/>
              </a:lnSpc>
            </a:pPr>
            <a:r>
              <a:rPr lang="uk-UA" sz="2400"/>
              <a:t>SUM() - Returns the sum </a:t>
            </a:r>
          </a:p>
          <a:p>
            <a:pPr>
              <a:lnSpc>
                <a:spcPct val="80000"/>
              </a:lnSpc>
            </a:pPr>
            <a:endParaRPr lang="uk-UA" sz="2800"/>
          </a:p>
        </p:txBody>
      </p:sp>
    </p:spTree>
    <p:extLst>
      <p:ext uri="{BB962C8B-B14F-4D97-AF65-F5344CB8AC3E}">
        <p14:creationId xmlns:p14="http://schemas.microsoft.com/office/powerpoint/2010/main" val="30350603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uk-UA" b="1"/>
              <a:t>SQL Scalar functions</a:t>
            </a:r>
          </a:p>
        </p:txBody>
      </p:sp>
      <p:sp>
        <p:nvSpPr>
          <p:cNvPr id="9219" name="Rectangle 3"/>
          <p:cNvSpPr>
            <a:spLocks noGrp="1" noChangeArrowheads="1"/>
          </p:cNvSpPr>
          <p:nvPr>
            <p:ph type="body" idx="1"/>
          </p:nvPr>
        </p:nvSpPr>
        <p:spPr/>
        <p:txBody>
          <a:bodyPr/>
          <a:lstStyle/>
          <a:p>
            <a:pPr>
              <a:lnSpc>
                <a:spcPct val="80000"/>
              </a:lnSpc>
              <a:buFontTx/>
              <a:buNone/>
            </a:pPr>
            <a:r>
              <a:rPr lang="uk-UA" sz="2400"/>
              <a:t>SQL scalar functions return a single value, based on the input value.</a:t>
            </a:r>
          </a:p>
          <a:p>
            <a:pPr>
              <a:lnSpc>
                <a:spcPct val="80000"/>
              </a:lnSpc>
              <a:buFontTx/>
              <a:buNone/>
            </a:pPr>
            <a:r>
              <a:rPr lang="uk-UA" sz="2400"/>
              <a:t>Useful scalar functions:</a:t>
            </a:r>
          </a:p>
          <a:p>
            <a:pPr>
              <a:lnSpc>
                <a:spcPct val="80000"/>
              </a:lnSpc>
              <a:buFontTx/>
              <a:buNone/>
            </a:pPr>
            <a:endParaRPr lang="uk-UA" sz="2400"/>
          </a:p>
          <a:p>
            <a:pPr>
              <a:lnSpc>
                <a:spcPct val="80000"/>
              </a:lnSpc>
            </a:pPr>
            <a:r>
              <a:rPr lang="uk-UA" sz="2400"/>
              <a:t>UCASE() - Converts a field to upper case </a:t>
            </a:r>
          </a:p>
          <a:p>
            <a:pPr>
              <a:lnSpc>
                <a:spcPct val="80000"/>
              </a:lnSpc>
            </a:pPr>
            <a:r>
              <a:rPr lang="uk-UA" sz="2400"/>
              <a:t>LCASE() - Converts a field to lower case </a:t>
            </a:r>
          </a:p>
          <a:p>
            <a:pPr>
              <a:lnSpc>
                <a:spcPct val="80000"/>
              </a:lnSpc>
            </a:pPr>
            <a:r>
              <a:rPr lang="uk-UA" sz="2400"/>
              <a:t>MID() - Extract characters from a text field </a:t>
            </a:r>
          </a:p>
          <a:p>
            <a:pPr>
              <a:lnSpc>
                <a:spcPct val="80000"/>
              </a:lnSpc>
            </a:pPr>
            <a:r>
              <a:rPr lang="uk-UA" sz="2400"/>
              <a:t>LEN() - Returns the length of a text field </a:t>
            </a:r>
          </a:p>
          <a:p>
            <a:pPr>
              <a:lnSpc>
                <a:spcPct val="80000"/>
              </a:lnSpc>
            </a:pPr>
            <a:r>
              <a:rPr lang="uk-UA" sz="2400"/>
              <a:t>ROUND() - Rounds a numeric field to the number of decimals specified </a:t>
            </a:r>
          </a:p>
          <a:p>
            <a:pPr>
              <a:lnSpc>
                <a:spcPct val="80000"/>
              </a:lnSpc>
            </a:pPr>
            <a:r>
              <a:rPr lang="uk-UA" sz="2400"/>
              <a:t>NOW() - Returns the current system date and time </a:t>
            </a:r>
          </a:p>
          <a:p>
            <a:pPr>
              <a:lnSpc>
                <a:spcPct val="80000"/>
              </a:lnSpc>
            </a:pPr>
            <a:r>
              <a:rPr lang="uk-UA" sz="2400"/>
              <a:t>FORMAT() - Formats how a field is to be displayed </a:t>
            </a:r>
          </a:p>
          <a:p>
            <a:pPr>
              <a:lnSpc>
                <a:spcPct val="80000"/>
              </a:lnSpc>
            </a:pPr>
            <a:endParaRPr lang="uk-UA" sz="2400"/>
          </a:p>
        </p:txBody>
      </p:sp>
    </p:spTree>
    <p:extLst>
      <p:ext uri="{BB962C8B-B14F-4D97-AF65-F5344CB8AC3E}">
        <p14:creationId xmlns:p14="http://schemas.microsoft.com/office/powerpoint/2010/main" val="33070788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AVG()</a:t>
            </a:r>
            <a:endParaRPr lang="uk-UA"/>
          </a:p>
        </p:txBody>
      </p:sp>
      <p:sp>
        <p:nvSpPr>
          <p:cNvPr id="10243" name="Rectangle 3"/>
          <p:cNvSpPr>
            <a:spLocks noGrp="1" noChangeArrowheads="1"/>
          </p:cNvSpPr>
          <p:nvPr>
            <p:ph type="body" idx="1"/>
          </p:nvPr>
        </p:nvSpPr>
        <p:spPr/>
        <p:txBody>
          <a:bodyPr/>
          <a:lstStyle/>
          <a:p>
            <a:pPr>
              <a:buFontTx/>
              <a:buNone/>
            </a:pPr>
            <a:r>
              <a:rPr lang="uk-UA"/>
              <a:t>The AVG() function returns the average value of a numeric column.</a:t>
            </a:r>
            <a:endParaRPr lang="uk-UA" b="1"/>
          </a:p>
          <a:p>
            <a:pPr>
              <a:buFontTx/>
              <a:buNone/>
            </a:pPr>
            <a:endParaRPr lang="en-US" b="1"/>
          </a:p>
          <a:p>
            <a:pPr>
              <a:buFontTx/>
              <a:buNone/>
            </a:pPr>
            <a:r>
              <a:rPr lang="uk-UA" b="1"/>
              <a:t>SQL AVG() Syntax</a:t>
            </a:r>
          </a:p>
          <a:p>
            <a:pPr>
              <a:buFontTx/>
              <a:buNone/>
            </a:pPr>
            <a:endParaRPr lang="en-US"/>
          </a:p>
          <a:p>
            <a:pPr>
              <a:buFontTx/>
              <a:buNone/>
            </a:pPr>
            <a:r>
              <a:rPr lang="uk-UA"/>
              <a:t>SELECT AVG(column_name) FROM table_name</a:t>
            </a:r>
          </a:p>
        </p:txBody>
      </p:sp>
    </p:spTree>
    <p:extLst>
      <p:ext uri="{BB962C8B-B14F-4D97-AF65-F5344CB8AC3E}">
        <p14:creationId xmlns:p14="http://schemas.microsoft.com/office/powerpoint/2010/main" val="41231925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81000"/>
            <a:ext cx="6115050" cy="3771900"/>
          </a:xfrm>
          <a:prstGeom prst="rect">
            <a:avLst/>
          </a:prstGeom>
          <a:noFill/>
          <a:extLst>
            <a:ext uri="{909E8E84-426E-40DD-AFC4-6F175D3DCCD1}">
              <a14:hiddenFill xmlns:a14="http://schemas.microsoft.com/office/drawing/2010/main">
                <a:solidFill>
                  <a:srgbClr val="FFFFFF"/>
                </a:solidFill>
              </a14:hiddenFill>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419600"/>
            <a:ext cx="6126163"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3060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blinds(horizontal)">
                                      <p:cBhvr>
                                        <p:cTn id="7"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uk-UA" b="1"/>
              <a:t>COUNT()</a:t>
            </a:r>
          </a:p>
        </p:txBody>
      </p:sp>
      <p:sp>
        <p:nvSpPr>
          <p:cNvPr id="12291" name="Rectangle 3"/>
          <p:cNvSpPr>
            <a:spLocks noGrp="1" noChangeArrowheads="1"/>
          </p:cNvSpPr>
          <p:nvPr>
            <p:ph type="body" idx="1"/>
          </p:nvPr>
        </p:nvSpPr>
        <p:spPr/>
        <p:txBody>
          <a:bodyPr/>
          <a:lstStyle/>
          <a:p>
            <a:pPr>
              <a:lnSpc>
                <a:spcPct val="80000"/>
              </a:lnSpc>
              <a:buFontTx/>
              <a:buNone/>
            </a:pPr>
            <a:r>
              <a:rPr lang="uk-UA" sz="2800"/>
              <a:t>The COUNT() function returns the number of rows that matches a specified criteria.</a:t>
            </a:r>
            <a:endParaRPr lang="uk-UA" sz="2800" b="1"/>
          </a:p>
          <a:p>
            <a:pPr>
              <a:lnSpc>
                <a:spcPct val="80000"/>
              </a:lnSpc>
            </a:pPr>
            <a:endParaRPr lang="en-US" sz="2800" b="1"/>
          </a:p>
          <a:p>
            <a:pPr>
              <a:lnSpc>
                <a:spcPct val="80000"/>
              </a:lnSpc>
              <a:buFontTx/>
              <a:buNone/>
            </a:pPr>
            <a:r>
              <a:rPr lang="uk-UA" sz="2800" b="1"/>
              <a:t>SQL COUNT(column_name) Syntax</a:t>
            </a:r>
          </a:p>
          <a:p>
            <a:pPr>
              <a:lnSpc>
                <a:spcPct val="80000"/>
              </a:lnSpc>
              <a:buFontTx/>
              <a:buNone/>
            </a:pPr>
            <a:endParaRPr lang="en-US" sz="2800"/>
          </a:p>
          <a:p>
            <a:pPr>
              <a:lnSpc>
                <a:spcPct val="80000"/>
              </a:lnSpc>
              <a:buFontTx/>
              <a:buNone/>
            </a:pPr>
            <a:r>
              <a:rPr lang="uk-UA" sz="2800"/>
              <a:t>The COUNT(column_name) function returns the number of values (NULL values will not be counted) of the specified column:</a:t>
            </a:r>
          </a:p>
          <a:p>
            <a:pPr>
              <a:lnSpc>
                <a:spcPct val="80000"/>
              </a:lnSpc>
              <a:buFontTx/>
              <a:buNone/>
            </a:pPr>
            <a:endParaRPr lang="en-US" sz="2800"/>
          </a:p>
          <a:p>
            <a:pPr>
              <a:lnSpc>
                <a:spcPct val="80000"/>
              </a:lnSpc>
              <a:buFontTx/>
              <a:buNone/>
            </a:pPr>
            <a:r>
              <a:rPr lang="en-US" sz="2800"/>
              <a:t>	</a:t>
            </a:r>
            <a:r>
              <a:rPr lang="uk-UA" sz="2800"/>
              <a:t>SELECT COUNT(column_name) FROM table_name</a:t>
            </a:r>
          </a:p>
        </p:txBody>
      </p:sp>
    </p:spTree>
    <p:extLst>
      <p:ext uri="{BB962C8B-B14F-4D97-AF65-F5344CB8AC3E}">
        <p14:creationId xmlns:p14="http://schemas.microsoft.com/office/powerpoint/2010/main" val="133683741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457200" y="304800"/>
            <a:ext cx="8229600" cy="6248400"/>
          </a:xfrm>
        </p:spPr>
        <p:txBody>
          <a:bodyPr/>
          <a:lstStyle/>
          <a:p>
            <a:pPr>
              <a:lnSpc>
                <a:spcPct val="90000"/>
              </a:lnSpc>
              <a:buFontTx/>
              <a:buNone/>
            </a:pPr>
            <a:r>
              <a:rPr lang="uk-UA" sz="2400" b="1"/>
              <a:t>SQL COUNT(*) Syntax</a:t>
            </a:r>
          </a:p>
          <a:p>
            <a:pPr>
              <a:lnSpc>
                <a:spcPct val="90000"/>
              </a:lnSpc>
              <a:buFontTx/>
              <a:buNone/>
            </a:pPr>
            <a:r>
              <a:rPr lang="uk-UA" sz="2400"/>
              <a:t>The COUNT(*) function returns the number of records in a table:</a:t>
            </a:r>
          </a:p>
          <a:p>
            <a:pPr>
              <a:lnSpc>
                <a:spcPct val="90000"/>
              </a:lnSpc>
            </a:pPr>
            <a:endParaRPr lang="en-US" sz="2400"/>
          </a:p>
          <a:p>
            <a:pPr>
              <a:lnSpc>
                <a:spcPct val="90000"/>
              </a:lnSpc>
              <a:buFontTx/>
              <a:buNone/>
            </a:pPr>
            <a:r>
              <a:rPr lang="en-US" sz="2400"/>
              <a:t>	</a:t>
            </a:r>
            <a:r>
              <a:rPr lang="uk-UA" sz="2400"/>
              <a:t>SELECT COUNT(*) FROM table_name</a:t>
            </a:r>
            <a:endParaRPr lang="uk-UA" sz="2400" b="1"/>
          </a:p>
          <a:p>
            <a:pPr>
              <a:lnSpc>
                <a:spcPct val="90000"/>
              </a:lnSpc>
            </a:pPr>
            <a:endParaRPr lang="en-US" sz="2400" b="1"/>
          </a:p>
          <a:p>
            <a:pPr>
              <a:lnSpc>
                <a:spcPct val="90000"/>
              </a:lnSpc>
              <a:buFontTx/>
              <a:buNone/>
            </a:pPr>
            <a:r>
              <a:rPr lang="uk-UA" sz="2400" b="1"/>
              <a:t>SQL COUNT(DISTINCT column_name) Syntax</a:t>
            </a:r>
          </a:p>
          <a:p>
            <a:pPr>
              <a:lnSpc>
                <a:spcPct val="90000"/>
              </a:lnSpc>
              <a:buFontTx/>
              <a:buNone/>
            </a:pPr>
            <a:r>
              <a:rPr lang="uk-UA" sz="2400"/>
              <a:t>The COUNT(DISTINCT column_name) function returns the number of distinct values of the specified column:</a:t>
            </a:r>
          </a:p>
          <a:p>
            <a:pPr>
              <a:lnSpc>
                <a:spcPct val="90000"/>
              </a:lnSpc>
              <a:buFontTx/>
              <a:buNone/>
            </a:pPr>
            <a:r>
              <a:rPr lang="en-US" sz="2400"/>
              <a:t>	</a:t>
            </a:r>
          </a:p>
          <a:p>
            <a:pPr>
              <a:lnSpc>
                <a:spcPct val="90000"/>
              </a:lnSpc>
              <a:buFontTx/>
              <a:buNone/>
            </a:pPr>
            <a:r>
              <a:rPr lang="en-US" sz="2400"/>
              <a:t>	</a:t>
            </a:r>
            <a:r>
              <a:rPr lang="uk-UA" sz="2400"/>
              <a:t>SELECT COUNT(DISTINCT column_name) FROM table_name</a:t>
            </a:r>
            <a:endParaRPr lang="uk-UA" sz="2400" b="1"/>
          </a:p>
          <a:p>
            <a:pPr>
              <a:lnSpc>
                <a:spcPct val="90000"/>
              </a:lnSpc>
              <a:buFontTx/>
              <a:buNone/>
            </a:pPr>
            <a:endParaRPr lang="en-US" sz="2400" b="1"/>
          </a:p>
          <a:p>
            <a:pPr>
              <a:lnSpc>
                <a:spcPct val="90000"/>
              </a:lnSpc>
              <a:buFontTx/>
              <a:buNone/>
            </a:pPr>
            <a:r>
              <a:rPr lang="uk-UA" sz="2400" b="1"/>
              <a:t>Note:</a:t>
            </a:r>
            <a:r>
              <a:rPr lang="uk-UA" sz="2400"/>
              <a:t> COUNT(DISTINCT) works with ORACLE and Microsoft SQL Server, but not with Microsoft Access.</a:t>
            </a:r>
          </a:p>
        </p:txBody>
      </p:sp>
    </p:spTree>
    <p:extLst>
      <p:ext uri="{BB962C8B-B14F-4D97-AF65-F5344CB8AC3E}">
        <p14:creationId xmlns:p14="http://schemas.microsoft.com/office/powerpoint/2010/main" val="24871277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333500"/>
            <a:ext cx="61341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369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1143000"/>
            <a:ext cx="6145212"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1257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uk-UA" b="1"/>
              <a:t>FIRST()</a:t>
            </a:r>
          </a:p>
        </p:txBody>
      </p:sp>
      <p:sp>
        <p:nvSpPr>
          <p:cNvPr id="16387" name="Rectangle 3"/>
          <p:cNvSpPr>
            <a:spLocks noGrp="1" noChangeArrowheads="1"/>
          </p:cNvSpPr>
          <p:nvPr>
            <p:ph type="body" idx="1"/>
          </p:nvPr>
        </p:nvSpPr>
        <p:spPr/>
        <p:txBody>
          <a:bodyPr/>
          <a:lstStyle/>
          <a:p>
            <a:pPr>
              <a:buFontTx/>
              <a:buNone/>
            </a:pPr>
            <a:r>
              <a:rPr lang="en-US"/>
              <a:t>	</a:t>
            </a:r>
          </a:p>
          <a:p>
            <a:pPr>
              <a:buFontTx/>
              <a:buNone/>
            </a:pPr>
            <a:r>
              <a:rPr lang="uk-UA"/>
              <a:t>The FIRST() function returns the first value of the selected column.</a:t>
            </a:r>
            <a:endParaRPr lang="uk-UA" b="1"/>
          </a:p>
          <a:p>
            <a:pPr>
              <a:buFontTx/>
              <a:buNone/>
            </a:pPr>
            <a:endParaRPr lang="en-US" b="1"/>
          </a:p>
          <a:p>
            <a:pPr>
              <a:buFontTx/>
              <a:buNone/>
            </a:pPr>
            <a:r>
              <a:rPr lang="uk-UA" b="1"/>
              <a:t>SQL FIRST() Syntax</a:t>
            </a:r>
          </a:p>
          <a:p>
            <a:pPr>
              <a:buFontTx/>
              <a:buNone/>
            </a:pPr>
            <a:r>
              <a:rPr lang="en-US"/>
              <a:t>	</a:t>
            </a:r>
          </a:p>
          <a:p>
            <a:pPr>
              <a:buFontTx/>
              <a:buNone/>
            </a:pPr>
            <a:r>
              <a:rPr lang="en-US"/>
              <a:t>	</a:t>
            </a:r>
            <a:r>
              <a:rPr lang="uk-UA"/>
              <a:t>SELECT FIRST(column_name) FROM table_name</a:t>
            </a:r>
          </a:p>
        </p:txBody>
      </p:sp>
    </p:spTree>
    <p:extLst>
      <p:ext uri="{BB962C8B-B14F-4D97-AF65-F5344CB8AC3E}">
        <p14:creationId xmlns:p14="http://schemas.microsoft.com/office/powerpoint/2010/main" val="21497090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uk-UA" b="1"/>
              <a:t>LAST()</a:t>
            </a:r>
          </a:p>
        </p:txBody>
      </p:sp>
      <p:sp>
        <p:nvSpPr>
          <p:cNvPr id="17411" name="Rectangle 3"/>
          <p:cNvSpPr>
            <a:spLocks noGrp="1" noChangeArrowheads="1"/>
          </p:cNvSpPr>
          <p:nvPr>
            <p:ph type="body" idx="1"/>
          </p:nvPr>
        </p:nvSpPr>
        <p:spPr/>
        <p:txBody>
          <a:bodyPr/>
          <a:lstStyle/>
          <a:p>
            <a:pPr>
              <a:buFontTx/>
              <a:buNone/>
            </a:pPr>
            <a:r>
              <a:rPr lang="en-US"/>
              <a:t>	</a:t>
            </a:r>
            <a:r>
              <a:rPr lang="uk-UA"/>
              <a:t>The LAST() function returns the last value of the selected column.</a:t>
            </a:r>
            <a:endParaRPr lang="uk-UA" b="1"/>
          </a:p>
          <a:p>
            <a:pPr>
              <a:buFontTx/>
              <a:buNone/>
            </a:pPr>
            <a:endParaRPr lang="en-US" b="1"/>
          </a:p>
          <a:p>
            <a:pPr>
              <a:buFontTx/>
              <a:buNone/>
            </a:pPr>
            <a:r>
              <a:rPr lang="en-US" b="1"/>
              <a:t>	</a:t>
            </a:r>
            <a:r>
              <a:rPr lang="uk-UA" b="1"/>
              <a:t>SQL LAST() Syntax</a:t>
            </a:r>
          </a:p>
          <a:p>
            <a:pPr>
              <a:buFontTx/>
              <a:buNone/>
            </a:pPr>
            <a:endParaRPr lang="en-US"/>
          </a:p>
          <a:p>
            <a:pPr>
              <a:buFontTx/>
              <a:buNone/>
            </a:pPr>
            <a:r>
              <a:rPr lang="en-US"/>
              <a:t>	</a:t>
            </a:r>
            <a:r>
              <a:rPr lang="uk-UA"/>
              <a:t>SELECT LAST(column_name) FROM table_name</a:t>
            </a:r>
          </a:p>
        </p:txBody>
      </p:sp>
    </p:spTree>
    <p:extLst>
      <p:ext uri="{BB962C8B-B14F-4D97-AF65-F5344CB8AC3E}">
        <p14:creationId xmlns:p14="http://schemas.microsoft.com/office/powerpoint/2010/main" val="32675956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Max()</a:t>
            </a:r>
            <a:r>
              <a:rPr lang="uk-UA"/>
              <a:t> </a:t>
            </a:r>
            <a:r>
              <a:rPr lang="en-US"/>
              <a:t>/</a:t>
            </a:r>
            <a:r>
              <a:rPr lang="uk-UA"/>
              <a:t> </a:t>
            </a:r>
            <a:r>
              <a:rPr lang="en-US"/>
              <a:t>min()</a:t>
            </a:r>
            <a:endParaRPr lang="uk-UA"/>
          </a:p>
        </p:txBody>
      </p:sp>
      <p:sp>
        <p:nvSpPr>
          <p:cNvPr id="18435" name="Rectangle 3"/>
          <p:cNvSpPr>
            <a:spLocks noGrp="1" noChangeArrowheads="1"/>
          </p:cNvSpPr>
          <p:nvPr>
            <p:ph type="body" idx="1"/>
          </p:nvPr>
        </p:nvSpPr>
        <p:spPr/>
        <p:txBody>
          <a:bodyPr/>
          <a:lstStyle/>
          <a:p>
            <a:pPr>
              <a:buFontTx/>
              <a:buNone/>
            </a:pPr>
            <a:r>
              <a:rPr lang="en-US"/>
              <a:t>	</a:t>
            </a:r>
            <a:r>
              <a:rPr lang="uk-UA"/>
              <a:t>The MAX() function returns the largest value of the selected column.</a:t>
            </a:r>
            <a:endParaRPr lang="uk-UA" b="1"/>
          </a:p>
          <a:p>
            <a:pPr>
              <a:buFontTx/>
              <a:buNone/>
            </a:pPr>
            <a:r>
              <a:rPr lang="en-US" b="1"/>
              <a:t>	</a:t>
            </a:r>
          </a:p>
          <a:p>
            <a:pPr>
              <a:buFontTx/>
              <a:buNone/>
            </a:pPr>
            <a:endParaRPr lang="en-US" b="1"/>
          </a:p>
          <a:p>
            <a:pPr>
              <a:buFontTx/>
              <a:buNone/>
            </a:pPr>
            <a:r>
              <a:rPr lang="uk-UA" b="1"/>
              <a:t>SQL MAX() Syntax</a:t>
            </a:r>
          </a:p>
          <a:p>
            <a:pPr>
              <a:buFontTx/>
              <a:buNone/>
            </a:pPr>
            <a:r>
              <a:rPr lang="en-US"/>
              <a:t>	</a:t>
            </a:r>
          </a:p>
          <a:p>
            <a:pPr>
              <a:buFontTx/>
              <a:buNone/>
            </a:pPr>
            <a:r>
              <a:rPr lang="uk-UA"/>
              <a:t>SELECT MAX(column_name) FROM table_name</a:t>
            </a:r>
          </a:p>
        </p:txBody>
      </p:sp>
    </p:spTree>
    <p:extLst>
      <p:ext uri="{BB962C8B-B14F-4D97-AF65-F5344CB8AC3E}">
        <p14:creationId xmlns:p14="http://schemas.microsoft.com/office/powerpoint/2010/main" val="7162908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uk-UA" b="1"/>
              <a:t>SUM()</a:t>
            </a:r>
          </a:p>
        </p:txBody>
      </p:sp>
      <p:sp>
        <p:nvSpPr>
          <p:cNvPr id="19459" name="Rectangle 3"/>
          <p:cNvSpPr>
            <a:spLocks noGrp="1" noChangeArrowheads="1"/>
          </p:cNvSpPr>
          <p:nvPr>
            <p:ph type="body" idx="1"/>
          </p:nvPr>
        </p:nvSpPr>
        <p:spPr/>
        <p:txBody>
          <a:bodyPr/>
          <a:lstStyle/>
          <a:p>
            <a:pPr>
              <a:buFontTx/>
              <a:buNone/>
            </a:pPr>
            <a:endParaRPr lang="uk-UA"/>
          </a:p>
          <a:p>
            <a:pPr>
              <a:buFontTx/>
              <a:buNone/>
            </a:pPr>
            <a:r>
              <a:rPr lang="uk-UA"/>
              <a:t>	The SUM() function returns the total sum of a numeric column.</a:t>
            </a:r>
            <a:endParaRPr lang="uk-UA" b="1"/>
          </a:p>
          <a:p>
            <a:pPr>
              <a:buFontTx/>
              <a:buNone/>
            </a:pPr>
            <a:endParaRPr lang="uk-UA" b="1"/>
          </a:p>
          <a:p>
            <a:pPr>
              <a:buFontTx/>
              <a:buNone/>
            </a:pPr>
            <a:r>
              <a:rPr lang="uk-UA" b="1"/>
              <a:t>	SQL SUM() Syntax</a:t>
            </a:r>
          </a:p>
          <a:p>
            <a:pPr>
              <a:buFontTx/>
              <a:buNone/>
            </a:pPr>
            <a:endParaRPr lang="uk-UA"/>
          </a:p>
          <a:p>
            <a:pPr>
              <a:buFontTx/>
              <a:buNone/>
            </a:pPr>
            <a:r>
              <a:rPr lang="uk-UA"/>
              <a:t>	SELECT SUM(column_name) FROM table_name</a:t>
            </a:r>
          </a:p>
        </p:txBody>
      </p:sp>
    </p:spTree>
    <p:extLst>
      <p:ext uri="{BB962C8B-B14F-4D97-AF65-F5344CB8AC3E}">
        <p14:creationId xmlns:p14="http://schemas.microsoft.com/office/powerpoint/2010/main" val="39696931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uk-UA" b="1"/>
              <a:t>GROUP BY</a:t>
            </a:r>
          </a:p>
        </p:txBody>
      </p:sp>
      <p:sp>
        <p:nvSpPr>
          <p:cNvPr id="20483" name="Rectangle 3"/>
          <p:cNvSpPr>
            <a:spLocks noGrp="1" noChangeArrowheads="1"/>
          </p:cNvSpPr>
          <p:nvPr>
            <p:ph type="body" idx="1"/>
          </p:nvPr>
        </p:nvSpPr>
        <p:spPr/>
        <p:txBody>
          <a:bodyPr/>
          <a:lstStyle/>
          <a:p>
            <a:pPr>
              <a:lnSpc>
                <a:spcPct val="80000"/>
              </a:lnSpc>
              <a:buFontTx/>
              <a:buNone/>
            </a:pPr>
            <a:r>
              <a:rPr lang="uk-UA" sz="2800"/>
              <a:t>	The GROUP BY statement is used in conjunction with the aggregate functions to group the result-set by one or more columns.</a:t>
            </a:r>
            <a:endParaRPr lang="uk-UA" sz="2800" b="1"/>
          </a:p>
          <a:p>
            <a:pPr>
              <a:lnSpc>
                <a:spcPct val="80000"/>
              </a:lnSpc>
              <a:buFontTx/>
              <a:buNone/>
            </a:pPr>
            <a:r>
              <a:rPr lang="uk-UA" sz="2800" b="1"/>
              <a:t>	</a:t>
            </a:r>
          </a:p>
          <a:p>
            <a:pPr>
              <a:lnSpc>
                <a:spcPct val="80000"/>
              </a:lnSpc>
              <a:buFontTx/>
              <a:buNone/>
            </a:pPr>
            <a:r>
              <a:rPr lang="uk-UA" sz="2800" b="1"/>
              <a:t>SQL GROUP BY Syntax</a:t>
            </a:r>
          </a:p>
          <a:p>
            <a:pPr>
              <a:lnSpc>
                <a:spcPct val="80000"/>
              </a:lnSpc>
              <a:buFontTx/>
              <a:buNone/>
            </a:pPr>
            <a:r>
              <a:rPr lang="uk-UA" sz="2800"/>
              <a:t>	</a:t>
            </a:r>
          </a:p>
          <a:p>
            <a:pPr>
              <a:lnSpc>
                <a:spcPct val="80000"/>
              </a:lnSpc>
              <a:buFontTx/>
              <a:buNone/>
            </a:pPr>
            <a:r>
              <a:rPr lang="uk-UA" sz="2800"/>
              <a:t>	SELECT column_name, aggregate_function(column_name)</a:t>
            </a:r>
            <a:br>
              <a:rPr lang="uk-UA" sz="2800"/>
            </a:br>
            <a:r>
              <a:rPr lang="uk-UA" sz="2800"/>
              <a:t>FROM table_name</a:t>
            </a:r>
            <a:br>
              <a:rPr lang="uk-UA" sz="2800"/>
            </a:br>
            <a:r>
              <a:rPr lang="uk-UA" sz="2800"/>
              <a:t>WHERE column_name operator value</a:t>
            </a:r>
            <a:br>
              <a:rPr lang="uk-UA" sz="2800"/>
            </a:br>
            <a:r>
              <a:rPr lang="uk-UA" sz="2800"/>
              <a:t>GROUP BY column_name </a:t>
            </a:r>
          </a:p>
        </p:txBody>
      </p:sp>
    </p:spTree>
    <p:extLst>
      <p:ext uri="{BB962C8B-B14F-4D97-AF65-F5344CB8AC3E}">
        <p14:creationId xmlns:p14="http://schemas.microsoft.com/office/powerpoint/2010/main" val="409889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1004888"/>
            <a:ext cx="6145212"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8225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014413"/>
            <a:ext cx="6134100"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1047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uk-UA" b="1"/>
              <a:t>HAVING </a:t>
            </a:r>
          </a:p>
        </p:txBody>
      </p:sp>
      <p:sp>
        <p:nvSpPr>
          <p:cNvPr id="23555" name="Rectangle 3"/>
          <p:cNvSpPr>
            <a:spLocks noGrp="1" noChangeArrowheads="1"/>
          </p:cNvSpPr>
          <p:nvPr>
            <p:ph type="body" idx="1"/>
          </p:nvPr>
        </p:nvSpPr>
        <p:spPr>
          <a:xfrm>
            <a:off x="457200" y="1600200"/>
            <a:ext cx="8229600" cy="4953000"/>
          </a:xfrm>
        </p:spPr>
        <p:txBody>
          <a:bodyPr/>
          <a:lstStyle/>
          <a:p>
            <a:pPr>
              <a:lnSpc>
                <a:spcPct val="80000"/>
              </a:lnSpc>
              <a:buFontTx/>
              <a:buNone/>
            </a:pPr>
            <a:r>
              <a:rPr lang="uk-UA" sz="2800"/>
              <a:t>	The HAVING clause was added to SQL because the WHERE keyword could not be used with aggregate functions.</a:t>
            </a:r>
            <a:endParaRPr lang="uk-UA" sz="2800" b="1"/>
          </a:p>
          <a:p>
            <a:pPr>
              <a:lnSpc>
                <a:spcPct val="80000"/>
              </a:lnSpc>
              <a:buFontTx/>
              <a:buNone/>
            </a:pPr>
            <a:r>
              <a:rPr lang="uk-UA" sz="2800" b="1"/>
              <a:t>	</a:t>
            </a:r>
          </a:p>
          <a:p>
            <a:pPr>
              <a:lnSpc>
                <a:spcPct val="80000"/>
              </a:lnSpc>
              <a:buFontTx/>
              <a:buNone/>
            </a:pPr>
            <a:r>
              <a:rPr lang="uk-UA" sz="2800" b="1"/>
              <a:t>	SQL HAVING Syntax</a:t>
            </a:r>
          </a:p>
          <a:p>
            <a:pPr>
              <a:lnSpc>
                <a:spcPct val="80000"/>
              </a:lnSpc>
              <a:buFontTx/>
              <a:buNone/>
            </a:pPr>
            <a:r>
              <a:rPr lang="uk-UA" sz="2800"/>
              <a:t>	</a:t>
            </a:r>
          </a:p>
          <a:p>
            <a:pPr>
              <a:lnSpc>
                <a:spcPct val="80000"/>
              </a:lnSpc>
              <a:buFontTx/>
              <a:buNone/>
            </a:pPr>
            <a:r>
              <a:rPr lang="uk-UA" sz="2800"/>
              <a:t>	SELECT column_name, aggregate_function(column_name)</a:t>
            </a:r>
            <a:br>
              <a:rPr lang="uk-UA" sz="2800"/>
            </a:br>
            <a:r>
              <a:rPr lang="uk-UA" sz="2800"/>
              <a:t>FROM table_name</a:t>
            </a:r>
            <a:br>
              <a:rPr lang="uk-UA" sz="2800"/>
            </a:br>
            <a:r>
              <a:rPr lang="uk-UA" sz="2800"/>
              <a:t>WHERE column_name operator value</a:t>
            </a:r>
            <a:br>
              <a:rPr lang="uk-UA" sz="2800"/>
            </a:br>
            <a:r>
              <a:rPr lang="uk-UA" sz="2800"/>
              <a:t>GROUP BY column_name</a:t>
            </a:r>
            <a:br>
              <a:rPr lang="uk-UA" sz="2800"/>
            </a:br>
            <a:r>
              <a:rPr lang="uk-UA" sz="2800"/>
              <a:t>HAVING aggregate_function(column_name) operator value </a:t>
            </a:r>
          </a:p>
        </p:txBody>
      </p:sp>
    </p:spTree>
    <p:extLst>
      <p:ext uri="{BB962C8B-B14F-4D97-AF65-F5344CB8AC3E}">
        <p14:creationId xmlns:p14="http://schemas.microsoft.com/office/powerpoint/2010/main" val="8938429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8750"/>
            <a:ext cx="6096000" cy="6542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2876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a:t>UCASE()</a:t>
            </a:r>
            <a:endParaRPr lang="uk-UA" b="1"/>
          </a:p>
        </p:txBody>
      </p:sp>
      <p:sp>
        <p:nvSpPr>
          <p:cNvPr id="25603" name="Rectangle 3"/>
          <p:cNvSpPr>
            <a:spLocks noGrp="1" noChangeArrowheads="1"/>
          </p:cNvSpPr>
          <p:nvPr>
            <p:ph type="body" idx="1"/>
          </p:nvPr>
        </p:nvSpPr>
        <p:spPr/>
        <p:txBody>
          <a:bodyPr/>
          <a:lstStyle/>
          <a:p>
            <a:r>
              <a:rPr lang="en-US"/>
              <a:t>The UCASE() function converts the value of a field to uppercase.</a:t>
            </a:r>
            <a:endParaRPr lang="en-US" b="1"/>
          </a:p>
          <a:p>
            <a:r>
              <a:rPr lang="en-US" b="1"/>
              <a:t>SQL UCASE() Syntax</a:t>
            </a:r>
          </a:p>
          <a:p>
            <a:r>
              <a:rPr lang="en-US"/>
              <a:t>SELECT UCASE(column_name) FROM table_name</a:t>
            </a:r>
            <a:endParaRPr lang="en-US" b="1"/>
          </a:p>
          <a:p>
            <a:r>
              <a:rPr lang="en-US" b="1"/>
              <a:t>Syntax for SQL Server</a:t>
            </a:r>
          </a:p>
          <a:p>
            <a:r>
              <a:rPr lang="en-US"/>
              <a:t>SELECT UPPER(column_name) FROM table_name</a:t>
            </a:r>
            <a:endParaRPr lang="uk-UA"/>
          </a:p>
        </p:txBody>
      </p:sp>
    </p:spTree>
    <p:extLst>
      <p:ext uri="{BB962C8B-B14F-4D97-AF65-F5344CB8AC3E}">
        <p14:creationId xmlns:p14="http://schemas.microsoft.com/office/powerpoint/2010/main" val="15406360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1547813"/>
            <a:ext cx="6134100"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5493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b="1"/>
              <a:t>LCASE()</a:t>
            </a:r>
          </a:p>
        </p:txBody>
      </p:sp>
      <p:sp>
        <p:nvSpPr>
          <p:cNvPr id="27651" name="Rectangle 3"/>
          <p:cNvSpPr>
            <a:spLocks noGrp="1" noChangeArrowheads="1"/>
          </p:cNvSpPr>
          <p:nvPr>
            <p:ph type="body" idx="1"/>
          </p:nvPr>
        </p:nvSpPr>
        <p:spPr/>
        <p:txBody>
          <a:bodyPr/>
          <a:lstStyle/>
          <a:p>
            <a:r>
              <a:rPr lang="en-US"/>
              <a:t>The LCASE() function converts the value of a field to lowercase.</a:t>
            </a:r>
            <a:endParaRPr lang="en-US" b="1"/>
          </a:p>
          <a:p>
            <a:r>
              <a:rPr lang="en-US" b="1"/>
              <a:t>SQL LCASE() Syntax</a:t>
            </a:r>
          </a:p>
          <a:p>
            <a:r>
              <a:rPr lang="en-US"/>
              <a:t>SELECT LCASE(column_name) FROM table_name</a:t>
            </a:r>
            <a:endParaRPr lang="en-US" b="1"/>
          </a:p>
          <a:p>
            <a:r>
              <a:rPr lang="en-US" b="1"/>
              <a:t>Syntax for SQL Server</a:t>
            </a:r>
          </a:p>
          <a:p>
            <a:r>
              <a:rPr lang="en-US"/>
              <a:t>SELECT LOWER(column_name) FROM table_name</a:t>
            </a:r>
          </a:p>
        </p:txBody>
      </p:sp>
    </p:spTree>
    <p:extLst>
      <p:ext uri="{BB962C8B-B14F-4D97-AF65-F5344CB8AC3E}">
        <p14:creationId xmlns:p14="http://schemas.microsoft.com/office/powerpoint/2010/main" val="764315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47813"/>
            <a:ext cx="6096000"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8817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b="1"/>
              <a:t>MID()</a:t>
            </a:r>
          </a:p>
        </p:txBody>
      </p:sp>
      <p:sp>
        <p:nvSpPr>
          <p:cNvPr id="29699" name="Rectangle 3"/>
          <p:cNvSpPr>
            <a:spLocks noGrp="1" noChangeArrowheads="1"/>
          </p:cNvSpPr>
          <p:nvPr>
            <p:ph type="body" sz="half" idx="1"/>
          </p:nvPr>
        </p:nvSpPr>
        <p:spPr>
          <a:xfrm>
            <a:off x="457200" y="1600200"/>
            <a:ext cx="8382000" cy="2057400"/>
          </a:xfrm>
        </p:spPr>
        <p:txBody>
          <a:bodyPr/>
          <a:lstStyle/>
          <a:p>
            <a:pPr>
              <a:lnSpc>
                <a:spcPct val="90000"/>
              </a:lnSpc>
            </a:pPr>
            <a:r>
              <a:rPr lang="en-US" sz="2400"/>
              <a:t>The MID() function is used to extract characters from a text field.</a:t>
            </a:r>
            <a:endParaRPr lang="en-US" sz="2400" b="1"/>
          </a:p>
          <a:p>
            <a:pPr>
              <a:lnSpc>
                <a:spcPct val="90000"/>
              </a:lnSpc>
            </a:pPr>
            <a:r>
              <a:rPr lang="en-US" sz="2400" b="1"/>
              <a:t>SQL MID() Syntax</a:t>
            </a:r>
          </a:p>
          <a:p>
            <a:pPr>
              <a:lnSpc>
                <a:spcPct val="90000"/>
              </a:lnSpc>
            </a:pPr>
            <a:r>
              <a:rPr lang="en-US" sz="2400"/>
              <a:t>SELECT MID(column_name,start[,length]) FROM table_name</a:t>
            </a:r>
          </a:p>
        </p:txBody>
      </p:sp>
      <p:graphicFrame>
        <p:nvGraphicFramePr>
          <p:cNvPr id="29727" name="Group 31"/>
          <p:cNvGraphicFramePr>
            <a:graphicFrameLocks noGrp="1"/>
          </p:cNvGraphicFramePr>
          <p:nvPr>
            <p:ph sz="half" idx="2"/>
          </p:nvPr>
        </p:nvGraphicFramePr>
        <p:xfrm>
          <a:off x="914400" y="3733800"/>
          <a:ext cx="7924800" cy="2743200"/>
        </p:xfrm>
        <a:graphic>
          <a:graphicData uri="http://schemas.openxmlformats.org/drawingml/2006/table">
            <a:tbl>
              <a:tblPr/>
              <a:tblGrid>
                <a:gridCol w="1981200"/>
                <a:gridCol w="5943600"/>
              </a:tblGrid>
              <a:tr h="577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Parameter</a:t>
                      </a:r>
                      <a:endParaRPr kumimoji="0" lang="en-US" sz="18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Description</a:t>
                      </a:r>
                      <a:endParaRPr kumimoji="0" lang="en-US" sz="18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577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column_name</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The field to extract characters from</a:t>
                      </a:r>
                    </a:p>
                  </a:txBody>
                  <a:tcPr horzOverflow="overflow">
                    <a:lnL>
                      <a:noFill/>
                    </a:lnL>
                    <a:lnR cap="flat">
                      <a:noFill/>
                    </a:lnR>
                    <a:lnT>
                      <a:noFill/>
                    </a:lnT>
                    <a:lnB>
                      <a:noFill/>
                    </a:lnB>
                    <a:lnTlToBr>
                      <a:noFill/>
                    </a:lnTlToBr>
                    <a:lnBlToTr>
                      <a:noFill/>
                    </a:lnBlToTr>
                    <a:noFill/>
                  </a:tcPr>
                </a:tc>
              </a:tr>
              <a:tr h="577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start</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Specifies the starting position (starts at 1)</a:t>
                      </a:r>
                    </a:p>
                  </a:txBody>
                  <a:tcPr horzOverflow="overflow">
                    <a:lnL>
                      <a:noFill/>
                    </a:lnL>
                    <a:lnR cap="flat">
                      <a:noFill/>
                    </a:lnR>
                    <a:lnT>
                      <a:noFill/>
                    </a:lnT>
                    <a:lnB>
                      <a:noFill/>
                    </a:lnB>
                    <a:lnTlToBr>
                      <a:noFill/>
                    </a:lnTlToBr>
                    <a:lnBlToTr>
                      <a:noFill/>
                    </a:lnBlToTr>
                    <a:noFill/>
                  </a:tcPr>
                </a:tc>
              </a:tr>
              <a:tr h="10096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length</a:t>
                      </a:r>
                    </a:p>
                  </a:txBody>
                  <a:tcP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Optional. The number of characters to return. If omitted, the MID() function returns the rest of the text</a:t>
                      </a:r>
                    </a:p>
                  </a:txBody>
                  <a:tcP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17665984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b="1"/>
              <a:t>LEN()</a:t>
            </a:r>
          </a:p>
        </p:txBody>
      </p:sp>
      <p:sp>
        <p:nvSpPr>
          <p:cNvPr id="31747" name="Rectangle 3"/>
          <p:cNvSpPr>
            <a:spLocks noGrp="1" noChangeArrowheads="1"/>
          </p:cNvSpPr>
          <p:nvPr>
            <p:ph type="body" idx="1"/>
          </p:nvPr>
        </p:nvSpPr>
        <p:spPr/>
        <p:txBody>
          <a:bodyPr/>
          <a:lstStyle/>
          <a:p>
            <a:pPr>
              <a:buFontTx/>
              <a:buNone/>
            </a:pPr>
            <a:r>
              <a:rPr lang="en-US"/>
              <a:t>The LEN() function returns the length of the value in a text field.</a:t>
            </a:r>
            <a:endParaRPr lang="en-US" b="1"/>
          </a:p>
          <a:p>
            <a:pPr>
              <a:buFontTx/>
              <a:buNone/>
            </a:pPr>
            <a:endParaRPr lang="uk-UA" b="1"/>
          </a:p>
          <a:p>
            <a:pPr>
              <a:buFontTx/>
              <a:buNone/>
            </a:pPr>
            <a:r>
              <a:rPr lang="en-US" b="1"/>
              <a:t>SQL LEN() Syntax</a:t>
            </a:r>
          </a:p>
          <a:p>
            <a:pPr>
              <a:buFontTx/>
              <a:buNone/>
            </a:pPr>
            <a:endParaRPr lang="uk-UA"/>
          </a:p>
          <a:p>
            <a:pPr>
              <a:buFontTx/>
              <a:buNone/>
            </a:pPr>
            <a:r>
              <a:rPr lang="en-US"/>
              <a:t>SELECT LEN(column_name) FROM table_name</a:t>
            </a:r>
          </a:p>
        </p:txBody>
      </p:sp>
    </p:spTree>
    <p:extLst>
      <p:ext uri="{BB962C8B-B14F-4D97-AF65-F5344CB8AC3E}">
        <p14:creationId xmlns:p14="http://schemas.microsoft.com/office/powerpoint/2010/main" val="186994789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b="1"/>
              <a:t>ROUND()</a:t>
            </a:r>
          </a:p>
        </p:txBody>
      </p:sp>
      <p:sp>
        <p:nvSpPr>
          <p:cNvPr id="32771" name="Rectangle 3"/>
          <p:cNvSpPr>
            <a:spLocks noGrp="1" noChangeArrowheads="1"/>
          </p:cNvSpPr>
          <p:nvPr>
            <p:ph type="body" sz="half" idx="1"/>
          </p:nvPr>
        </p:nvSpPr>
        <p:spPr>
          <a:xfrm>
            <a:off x="457200" y="1600200"/>
            <a:ext cx="8229600" cy="2209800"/>
          </a:xfrm>
        </p:spPr>
        <p:txBody>
          <a:bodyPr/>
          <a:lstStyle/>
          <a:p>
            <a:pPr>
              <a:lnSpc>
                <a:spcPct val="90000"/>
              </a:lnSpc>
            </a:pPr>
            <a:r>
              <a:rPr lang="en-US" sz="2800"/>
              <a:t>The ROUND() function is used to round a numeric field to the number of decimals specified.</a:t>
            </a:r>
            <a:endParaRPr lang="en-US" sz="2800" b="1"/>
          </a:p>
          <a:p>
            <a:pPr>
              <a:lnSpc>
                <a:spcPct val="90000"/>
              </a:lnSpc>
            </a:pPr>
            <a:r>
              <a:rPr lang="en-US" sz="2800" b="1"/>
              <a:t>SQL ROUND() Syntax</a:t>
            </a:r>
          </a:p>
          <a:p>
            <a:pPr>
              <a:lnSpc>
                <a:spcPct val="90000"/>
              </a:lnSpc>
            </a:pPr>
            <a:r>
              <a:rPr lang="en-US" sz="2800"/>
              <a:t>SELECT ROUND(column_name,decimals) FROM table_name</a:t>
            </a:r>
          </a:p>
        </p:txBody>
      </p:sp>
      <p:graphicFrame>
        <p:nvGraphicFramePr>
          <p:cNvPr id="32790" name="Group 22"/>
          <p:cNvGraphicFramePr>
            <a:graphicFrameLocks noGrp="1"/>
          </p:cNvGraphicFramePr>
          <p:nvPr>
            <p:ph sz="half" idx="2"/>
          </p:nvPr>
        </p:nvGraphicFramePr>
        <p:xfrm>
          <a:off x="685800" y="4419600"/>
          <a:ext cx="7848600" cy="2133600"/>
        </p:xfrm>
        <a:graphic>
          <a:graphicData uri="http://schemas.openxmlformats.org/drawingml/2006/table">
            <a:tbl>
              <a:tblPr/>
              <a:tblGrid>
                <a:gridCol w="1635125"/>
                <a:gridCol w="6213475"/>
              </a:tblGrid>
              <a:tr h="711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Parameter</a:t>
                      </a:r>
                      <a:endParaRPr kumimoji="0" lang="en-US" sz="18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Description</a:t>
                      </a:r>
                      <a:endParaRPr kumimoji="0" lang="en-US" sz="18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711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column_name</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The field to round.</a:t>
                      </a:r>
                    </a:p>
                  </a:txBody>
                  <a:tcPr horzOverflow="overflow">
                    <a:lnL>
                      <a:noFill/>
                    </a:lnL>
                    <a:lnR cap="flat">
                      <a:noFill/>
                    </a:lnR>
                    <a:lnT>
                      <a:noFill/>
                    </a:lnT>
                    <a:lnB>
                      <a:noFill/>
                    </a:lnB>
                    <a:lnTlToBr>
                      <a:noFill/>
                    </a:lnTlToBr>
                    <a:lnBlToTr>
                      <a:noFill/>
                    </a:lnBlToTr>
                    <a:noFill/>
                  </a:tcPr>
                </a:tc>
              </a:tr>
              <a:tr h="711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decimals</a:t>
                      </a:r>
                    </a:p>
                  </a:txBody>
                  <a:tcP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Specifies the number of decimals to be returned.</a:t>
                      </a:r>
                    </a:p>
                  </a:txBody>
                  <a:tcP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36932102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b="1"/>
              <a:t>NOW()</a:t>
            </a:r>
          </a:p>
        </p:txBody>
      </p:sp>
      <p:sp>
        <p:nvSpPr>
          <p:cNvPr id="34819" name="Rectangle 3"/>
          <p:cNvSpPr>
            <a:spLocks noGrp="1" noChangeArrowheads="1"/>
          </p:cNvSpPr>
          <p:nvPr>
            <p:ph type="body" idx="1"/>
          </p:nvPr>
        </p:nvSpPr>
        <p:spPr/>
        <p:txBody>
          <a:bodyPr/>
          <a:lstStyle/>
          <a:p>
            <a:r>
              <a:rPr lang="en-US"/>
              <a:t>The NOW() function returns the current system date and time.</a:t>
            </a:r>
            <a:endParaRPr lang="uk-UA"/>
          </a:p>
          <a:p>
            <a:endParaRPr lang="en-US" b="1"/>
          </a:p>
          <a:p>
            <a:pPr>
              <a:buFontTx/>
              <a:buNone/>
            </a:pPr>
            <a:r>
              <a:rPr lang="en-US" b="1"/>
              <a:t>SQL NOW() Syntax</a:t>
            </a:r>
            <a:endParaRPr lang="uk-UA" b="1"/>
          </a:p>
          <a:p>
            <a:endParaRPr lang="en-US" b="1"/>
          </a:p>
          <a:p>
            <a:pPr>
              <a:buFontTx/>
              <a:buNone/>
            </a:pPr>
            <a:r>
              <a:rPr lang="uk-UA"/>
              <a:t>	</a:t>
            </a:r>
            <a:r>
              <a:rPr lang="en-US"/>
              <a:t>SELECT NOW() FROM table_name</a:t>
            </a:r>
          </a:p>
        </p:txBody>
      </p:sp>
    </p:spTree>
    <p:extLst>
      <p:ext uri="{BB962C8B-B14F-4D97-AF65-F5344CB8AC3E}">
        <p14:creationId xmlns:p14="http://schemas.microsoft.com/office/powerpoint/2010/main" val="10208067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1633538"/>
            <a:ext cx="6145212" cy="359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53655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b="1"/>
              <a:t>FORMAT()</a:t>
            </a:r>
          </a:p>
        </p:txBody>
      </p:sp>
      <p:sp>
        <p:nvSpPr>
          <p:cNvPr id="36867" name="Rectangle 3"/>
          <p:cNvSpPr>
            <a:spLocks noGrp="1" noChangeArrowheads="1"/>
          </p:cNvSpPr>
          <p:nvPr>
            <p:ph type="body" sz="half" idx="1"/>
          </p:nvPr>
        </p:nvSpPr>
        <p:spPr>
          <a:xfrm>
            <a:off x="457200" y="1600200"/>
            <a:ext cx="8229600" cy="2514600"/>
          </a:xfrm>
        </p:spPr>
        <p:txBody>
          <a:bodyPr/>
          <a:lstStyle/>
          <a:p>
            <a:r>
              <a:rPr lang="en-US" sz="2800"/>
              <a:t>The FORMAT() function is used to format how a field is to be displayed.</a:t>
            </a:r>
            <a:endParaRPr lang="en-US" sz="2800" b="1"/>
          </a:p>
          <a:p>
            <a:r>
              <a:rPr lang="en-US" sz="2800" b="1"/>
              <a:t>SQL FORMAT() Syntax</a:t>
            </a:r>
          </a:p>
          <a:p>
            <a:r>
              <a:rPr lang="en-US" sz="2800"/>
              <a:t>SELECT FORMAT(column_name,format) FROM table_name</a:t>
            </a:r>
          </a:p>
        </p:txBody>
      </p:sp>
      <p:graphicFrame>
        <p:nvGraphicFramePr>
          <p:cNvPr id="36886" name="Group 22"/>
          <p:cNvGraphicFramePr>
            <a:graphicFrameLocks noGrp="1"/>
          </p:cNvGraphicFramePr>
          <p:nvPr>
            <p:ph sz="half" idx="2"/>
          </p:nvPr>
        </p:nvGraphicFramePr>
        <p:xfrm>
          <a:off x="914400" y="4191000"/>
          <a:ext cx="7848600" cy="2362200"/>
        </p:xfrm>
        <a:graphic>
          <a:graphicData uri="http://schemas.openxmlformats.org/drawingml/2006/table">
            <a:tbl>
              <a:tblPr/>
              <a:tblGrid>
                <a:gridCol w="2354263"/>
                <a:gridCol w="5494337"/>
              </a:tblGrid>
              <a:tr h="787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Parameter</a:t>
                      </a:r>
                      <a:endParaRPr kumimoji="0" lang="en-US" sz="18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charset="0"/>
                        </a:rPr>
                        <a:t>Description</a:t>
                      </a:r>
                      <a:endParaRPr kumimoji="0" lang="en-US" sz="18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787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column_name</a:t>
                      </a:r>
                    </a:p>
                  </a:txBody>
                  <a:tcPr horzOverflow="overflow">
                    <a:lnL cap="flat">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The field to be formatted.</a:t>
                      </a:r>
                    </a:p>
                  </a:txBody>
                  <a:tcPr horzOverflow="overflow">
                    <a:lnL>
                      <a:noFill/>
                    </a:lnL>
                    <a:lnR cap="flat">
                      <a:noFill/>
                    </a:lnR>
                    <a:lnT>
                      <a:noFill/>
                    </a:lnT>
                    <a:lnB>
                      <a:noFill/>
                    </a:lnB>
                    <a:lnTlToBr>
                      <a:noFill/>
                    </a:lnTlToBr>
                    <a:lnBlToTr>
                      <a:noFill/>
                    </a:lnBlToTr>
                    <a:noFill/>
                  </a:tcPr>
                </a:tc>
              </a:tr>
              <a:tr h="787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format</a:t>
                      </a:r>
                    </a:p>
                  </a:txBody>
                  <a:tcPr horzOverflow="overflow">
                    <a:lnL cap="flat">
                      <a:noFill/>
                    </a:lnL>
                    <a:lnR>
                      <a:noFill/>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rPr>
                        <a:t>Required. Specifies the format.</a:t>
                      </a:r>
                    </a:p>
                  </a:txBody>
                  <a:tcPr horzOverflow="overflow">
                    <a:lnL>
                      <a:noFill/>
                    </a:lnL>
                    <a:lnR cap="flat">
                      <a:noFill/>
                    </a:lnR>
                    <a:lnT>
                      <a:noFill/>
                    </a:lnT>
                    <a:lnB cap="flat">
                      <a:noFill/>
                    </a:lnB>
                    <a:lnTlToBr>
                      <a:noFill/>
                    </a:lnTlToBr>
                    <a:lnBlToTr>
                      <a:noFill/>
                    </a:lnBlToTr>
                    <a:noFill/>
                  </a:tcPr>
                </a:tc>
              </a:tr>
            </a:tbl>
          </a:graphicData>
        </a:graphic>
      </p:graphicFrame>
    </p:spTree>
    <p:extLst>
      <p:ext uri="{BB962C8B-B14F-4D97-AF65-F5344CB8AC3E}">
        <p14:creationId xmlns:p14="http://schemas.microsoft.com/office/powerpoint/2010/main" val="19983176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uk-UA"/>
              <a:t>Обмеження</a:t>
            </a:r>
            <a:endParaRPr lang="en-US"/>
          </a:p>
        </p:txBody>
      </p:sp>
      <p:sp>
        <p:nvSpPr>
          <p:cNvPr id="38915" name="Rectangle 3"/>
          <p:cNvSpPr>
            <a:spLocks noGrp="1" noChangeArrowheads="1"/>
          </p:cNvSpPr>
          <p:nvPr>
            <p:ph type="body" idx="1"/>
          </p:nvPr>
        </p:nvSpPr>
        <p:spPr/>
        <p:txBody>
          <a:bodyPr/>
          <a:lstStyle/>
          <a:p>
            <a:pPr>
              <a:lnSpc>
                <a:spcPct val="80000"/>
              </a:lnSpc>
              <a:buFontTx/>
              <a:buNone/>
            </a:pPr>
            <a:r>
              <a:rPr lang="en-US" sz="2400"/>
              <a:t>Constraints are used to limit the type of data that can go into a table.</a:t>
            </a:r>
          </a:p>
          <a:p>
            <a:pPr>
              <a:lnSpc>
                <a:spcPct val="80000"/>
              </a:lnSpc>
              <a:buFontTx/>
              <a:buNone/>
            </a:pPr>
            <a:r>
              <a:rPr lang="en-US" sz="2400"/>
              <a:t>Constraints can be specified when a table is created (with the CREATE TABLE statement) or after the table is created (with the ALTER TABLE statement).</a:t>
            </a:r>
          </a:p>
          <a:p>
            <a:pPr>
              <a:lnSpc>
                <a:spcPct val="80000"/>
              </a:lnSpc>
              <a:buFontTx/>
              <a:buNone/>
            </a:pPr>
            <a:r>
              <a:rPr lang="en-US" sz="2400"/>
              <a:t>We will focus on the following constraints:</a:t>
            </a:r>
          </a:p>
          <a:p>
            <a:pPr>
              <a:lnSpc>
                <a:spcPct val="80000"/>
              </a:lnSpc>
            </a:pPr>
            <a:r>
              <a:rPr lang="en-US" sz="2400"/>
              <a:t>NOT NULL </a:t>
            </a:r>
          </a:p>
          <a:p>
            <a:pPr>
              <a:lnSpc>
                <a:spcPct val="80000"/>
              </a:lnSpc>
            </a:pPr>
            <a:r>
              <a:rPr lang="en-US" sz="2400"/>
              <a:t>UNIQUE </a:t>
            </a:r>
          </a:p>
          <a:p>
            <a:pPr>
              <a:lnSpc>
                <a:spcPct val="80000"/>
              </a:lnSpc>
            </a:pPr>
            <a:r>
              <a:rPr lang="en-US" sz="2400"/>
              <a:t>PRIMARY KEY </a:t>
            </a:r>
          </a:p>
          <a:p>
            <a:pPr>
              <a:lnSpc>
                <a:spcPct val="80000"/>
              </a:lnSpc>
            </a:pPr>
            <a:r>
              <a:rPr lang="en-US" sz="2400"/>
              <a:t>FOREIGN KEY </a:t>
            </a:r>
          </a:p>
          <a:p>
            <a:pPr>
              <a:lnSpc>
                <a:spcPct val="80000"/>
              </a:lnSpc>
            </a:pPr>
            <a:r>
              <a:rPr lang="en-US" sz="2400"/>
              <a:t>CHECK </a:t>
            </a:r>
          </a:p>
          <a:p>
            <a:pPr>
              <a:lnSpc>
                <a:spcPct val="80000"/>
              </a:lnSpc>
            </a:pPr>
            <a:r>
              <a:rPr lang="en-US" sz="2400"/>
              <a:t>DEFAULT </a:t>
            </a:r>
          </a:p>
        </p:txBody>
      </p:sp>
    </p:spTree>
    <p:extLst>
      <p:ext uri="{BB962C8B-B14F-4D97-AF65-F5344CB8AC3E}">
        <p14:creationId xmlns:p14="http://schemas.microsoft.com/office/powerpoint/2010/main" val="29389395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t>not null</a:t>
            </a:r>
          </a:p>
        </p:txBody>
      </p:sp>
      <p:sp>
        <p:nvSpPr>
          <p:cNvPr id="39939" name="Rectangle 3"/>
          <p:cNvSpPr>
            <a:spLocks noGrp="1" noChangeArrowheads="1"/>
          </p:cNvSpPr>
          <p:nvPr>
            <p:ph type="body" idx="1"/>
          </p:nvPr>
        </p:nvSpPr>
        <p:spPr/>
        <p:txBody>
          <a:bodyPr/>
          <a:lstStyle/>
          <a:p>
            <a:pPr>
              <a:lnSpc>
                <a:spcPct val="80000"/>
              </a:lnSpc>
            </a:pPr>
            <a:r>
              <a:rPr lang="en-US" sz="2000"/>
              <a:t>The NOT NULL constraint enforces a column to NOT accept NULL values.</a:t>
            </a:r>
          </a:p>
          <a:p>
            <a:pPr>
              <a:lnSpc>
                <a:spcPct val="80000"/>
              </a:lnSpc>
            </a:pPr>
            <a:r>
              <a:rPr lang="en-US" sz="2000"/>
              <a:t>The NOT NULL constraint enforces a field to always contain a value. This means that you cannot insert a new record, or update a record without adding a value to this field.</a:t>
            </a:r>
          </a:p>
          <a:p>
            <a:pPr>
              <a:lnSpc>
                <a:spcPct val="80000"/>
              </a:lnSpc>
            </a:pPr>
            <a:r>
              <a:rPr lang="en-US" sz="2000"/>
              <a:t>The following SQL enforces the "P_Id" column and the "LastName" column to not accept NULL values:</a:t>
            </a:r>
          </a:p>
          <a:p>
            <a:pPr>
              <a:lnSpc>
                <a:spcPct val="80000"/>
              </a:lnSpc>
              <a:buFontTx/>
              <a:buNone/>
            </a:pPr>
            <a:endParaRPr lang="uk-UA" sz="2000"/>
          </a:p>
          <a:p>
            <a:pPr>
              <a:lnSpc>
                <a:spcPct val="80000"/>
              </a:lnSpc>
              <a:buFontTx/>
              <a:buNone/>
            </a:pPr>
            <a:r>
              <a:rPr lang="uk-UA" sz="2000"/>
              <a:t>	</a:t>
            </a:r>
            <a:r>
              <a:rPr lang="en-US" sz="2000"/>
              <a:t>CREATE TABLE Persons</a:t>
            </a:r>
            <a:br>
              <a:rPr lang="en-US" sz="2000"/>
            </a:br>
            <a:r>
              <a:rPr lang="en-US" sz="2000"/>
              <a:t>(</a:t>
            </a:r>
            <a:br>
              <a:rPr lang="en-US" sz="2000"/>
            </a:br>
            <a:r>
              <a:rPr lang="en-US" sz="2000"/>
              <a:t>P_Id int NOT NULL,</a:t>
            </a:r>
            <a:br>
              <a:rPr lang="en-US" sz="2000"/>
            </a:br>
            <a:r>
              <a:rPr lang="en-US" sz="2000"/>
              <a:t>LastName varchar(255) NOT NULL,</a:t>
            </a:r>
            <a:br>
              <a:rPr lang="en-US" sz="2000"/>
            </a:br>
            <a:r>
              <a:rPr lang="en-US" sz="2000"/>
              <a:t>FirstName varchar(255),</a:t>
            </a:r>
            <a:br>
              <a:rPr lang="en-US" sz="2000"/>
            </a:br>
            <a:r>
              <a:rPr lang="en-US" sz="2000"/>
              <a:t>Address varchar(255),</a:t>
            </a:r>
            <a:br>
              <a:rPr lang="en-US" sz="2000"/>
            </a:br>
            <a:r>
              <a:rPr lang="en-US" sz="2000"/>
              <a:t>City varchar(255)</a:t>
            </a:r>
            <a:br>
              <a:rPr lang="en-US" sz="2000"/>
            </a:br>
            <a:r>
              <a:rPr lang="en-US" sz="2000"/>
              <a:t>)</a:t>
            </a:r>
          </a:p>
        </p:txBody>
      </p:sp>
    </p:spTree>
    <p:extLst>
      <p:ext uri="{BB962C8B-B14F-4D97-AF65-F5344CB8AC3E}">
        <p14:creationId xmlns:p14="http://schemas.microsoft.com/office/powerpoint/2010/main" val="36718088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b="1"/>
              <a:t>UNIQUE </a:t>
            </a:r>
          </a:p>
        </p:txBody>
      </p:sp>
      <p:sp>
        <p:nvSpPr>
          <p:cNvPr id="40963" name="Rectangle 3"/>
          <p:cNvSpPr>
            <a:spLocks noGrp="1" noChangeArrowheads="1"/>
          </p:cNvSpPr>
          <p:nvPr>
            <p:ph type="body" idx="1"/>
          </p:nvPr>
        </p:nvSpPr>
        <p:spPr/>
        <p:txBody>
          <a:bodyPr/>
          <a:lstStyle/>
          <a:p>
            <a:pPr>
              <a:lnSpc>
                <a:spcPct val="90000"/>
              </a:lnSpc>
            </a:pPr>
            <a:r>
              <a:rPr lang="en-US" sz="2800"/>
              <a:t>The UNIQUE constraint uniquely identifies each record in a database table.</a:t>
            </a:r>
          </a:p>
          <a:p>
            <a:pPr>
              <a:lnSpc>
                <a:spcPct val="90000"/>
              </a:lnSpc>
            </a:pPr>
            <a:r>
              <a:rPr lang="en-US" sz="2800"/>
              <a:t>The UNIQUE and PRIMARY KEY constraints both provide a guarantee for uniqueness for a column or set of columns.</a:t>
            </a:r>
          </a:p>
          <a:p>
            <a:pPr>
              <a:lnSpc>
                <a:spcPct val="90000"/>
              </a:lnSpc>
            </a:pPr>
            <a:r>
              <a:rPr lang="en-US" sz="2800"/>
              <a:t>A PRIMARY KEY constraint automatically has a UNIQUE constraint defined on it.</a:t>
            </a:r>
          </a:p>
          <a:p>
            <a:pPr>
              <a:lnSpc>
                <a:spcPct val="90000"/>
              </a:lnSpc>
            </a:pPr>
            <a:r>
              <a:rPr lang="en-US" sz="2800"/>
              <a:t>Note that you can have many UNIQUE constraints per table, but only one PRIMARY KEY constraint per table.</a:t>
            </a:r>
          </a:p>
        </p:txBody>
      </p:sp>
    </p:spTree>
    <p:extLst>
      <p:ext uri="{BB962C8B-B14F-4D97-AF65-F5344CB8AC3E}">
        <p14:creationId xmlns:p14="http://schemas.microsoft.com/office/powerpoint/2010/main" val="4394948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endParaRPr lang="uk-UA"/>
          </a:p>
        </p:txBody>
      </p:sp>
      <p:sp>
        <p:nvSpPr>
          <p:cNvPr id="41987" name="Rectangle 3"/>
          <p:cNvSpPr>
            <a:spLocks noGrp="1" noChangeArrowheads="1"/>
          </p:cNvSpPr>
          <p:nvPr>
            <p:ph type="body" idx="1"/>
          </p:nvPr>
        </p:nvSpPr>
        <p:spPr>
          <a:xfrm>
            <a:off x="457200" y="1143000"/>
            <a:ext cx="8229600" cy="4525963"/>
          </a:xfrm>
        </p:spPr>
        <p:txBody>
          <a:bodyPr/>
          <a:lstStyle/>
          <a:p>
            <a:pPr>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a:t>
            </a:r>
            <a:br>
              <a:rPr lang="en-US"/>
            </a:br>
            <a:r>
              <a:rPr lang="en-US"/>
              <a:t>UNIQUE (P_Id)</a:t>
            </a:r>
            <a:br>
              <a:rPr lang="en-US"/>
            </a:br>
            <a:r>
              <a:rPr lang="en-US"/>
              <a:t>) </a:t>
            </a:r>
          </a:p>
        </p:txBody>
      </p:sp>
    </p:spTree>
    <p:extLst>
      <p:ext uri="{BB962C8B-B14F-4D97-AF65-F5344CB8AC3E}">
        <p14:creationId xmlns:p14="http://schemas.microsoft.com/office/powerpoint/2010/main" val="5405168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l"/>
            <a:r>
              <a:rPr lang="en-US" sz="1800">
                <a:latin typeface="Times New Roman" pitchFamily="18" charset="0"/>
              </a:rPr>
              <a:t>To allow naming of a UNIQUE constraint, and for defining a UNIQUE constraint on multiple columns, use the following SQL syntax: </a:t>
            </a:r>
          </a:p>
        </p:txBody>
      </p:sp>
      <p:sp>
        <p:nvSpPr>
          <p:cNvPr id="43011" name="Rectangle 3"/>
          <p:cNvSpPr>
            <a:spLocks noGrp="1" noChangeArrowheads="1"/>
          </p:cNvSpPr>
          <p:nvPr>
            <p:ph type="body" idx="1"/>
          </p:nvPr>
        </p:nvSpPr>
        <p:spPr/>
        <p:txBody>
          <a:bodyPr/>
          <a:lstStyle/>
          <a:p>
            <a:pPr>
              <a:lnSpc>
                <a:spcPct val="90000"/>
              </a:lnSpc>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a:t>
            </a:r>
            <a:br>
              <a:rPr lang="en-US"/>
            </a:br>
            <a:r>
              <a:rPr lang="en-US"/>
              <a:t>CONSTRAINT uc_PersonID UNIQUE (P_Id,LastName)</a:t>
            </a:r>
            <a:br>
              <a:rPr lang="en-US"/>
            </a:br>
            <a:r>
              <a:rPr lang="en-US"/>
              <a:t>) </a:t>
            </a:r>
          </a:p>
        </p:txBody>
      </p:sp>
    </p:spTree>
    <p:extLst>
      <p:ext uri="{BB962C8B-B14F-4D97-AF65-F5344CB8AC3E}">
        <p14:creationId xmlns:p14="http://schemas.microsoft.com/office/powerpoint/2010/main" val="186650934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endParaRPr lang="uk-UA"/>
          </a:p>
        </p:txBody>
      </p:sp>
      <p:sp>
        <p:nvSpPr>
          <p:cNvPr id="44035" name="Rectangle 3"/>
          <p:cNvSpPr>
            <a:spLocks noGrp="1" noChangeArrowheads="1"/>
          </p:cNvSpPr>
          <p:nvPr>
            <p:ph type="body" idx="1"/>
          </p:nvPr>
        </p:nvSpPr>
        <p:spPr/>
        <p:txBody>
          <a:bodyPr/>
          <a:lstStyle/>
          <a:p>
            <a:r>
              <a:rPr lang="en-US"/>
              <a:t>ALTER TABLE Persons</a:t>
            </a:r>
            <a:br>
              <a:rPr lang="en-US"/>
            </a:br>
            <a:r>
              <a:rPr lang="en-US"/>
              <a:t>ADD UNIQUE (P_Id) </a:t>
            </a:r>
          </a:p>
          <a:p>
            <a:endParaRPr lang="en-US"/>
          </a:p>
          <a:p>
            <a:r>
              <a:rPr lang="en-US"/>
              <a:t>ALTER TABLE Persons</a:t>
            </a:r>
            <a:br>
              <a:rPr lang="en-US"/>
            </a:br>
            <a:r>
              <a:rPr lang="en-US"/>
              <a:t>ADD CONSTRAINT uc_PersonID UNIQUE (P_Id,LastName) </a:t>
            </a:r>
          </a:p>
        </p:txBody>
      </p:sp>
    </p:spTree>
    <p:extLst>
      <p:ext uri="{BB962C8B-B14F-4D97-AF65-F5344CB8AC3E}">
        <p14:creationId xmlns:p14="http://schemas.microsoft.com/office/powerpoint/2010/main" val="5053588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endParaRPr lang="uk-UA"/>
          </a:p>
        </p:txBody>
      </p:sp>
      <p:sp>
        <p:nvSpPr>
          <p:cNvPr id="45059" name="Rectangle 3"/>
          <p:cNvSpPr>
            <a:spLocks noGrp="1" noChangeArrowheads="1"/>
          </p:cNvSpPr>
          <p:nvPr>
            <p:ph type="body" idx="1"/>
          </p:nvPr>
        </p:nvSpPr>
        <p:spPr/>
        <p:txBody>
          <a:bodyPr/>
          <a:lstStyle/>
          <a:p>
            <a:r>
              <a:rPr lang="en-US"/>
              <a:t>ALTER TABLE Persons</a:t>
            </a:r>
            <a:br>
              <a:rPr lang="en-US"/>
            </a:br>
            <a:r>
              <a:rPr lang="en-US"/>
              <a:t>DROP INDEX uc_PersonID </a:t>
            </a:r>
          </a:p>
          <a:p>
            <a:endParaRPr lang="en-US"/>
          </a:p>
          <a:p>
            <a:r>
              <a:rPr lang="en-US"/>
              <a:t>ALTER TABLE Persons</a:t>
            </a:r>
            <a:br>
              <a:rPr lang="en-US"/>
            </a:br>
            <a:r>
              <a:rPr lang="en-US"/>
              <a:t>DROP CONSTRAINT uc_PersonID </a:t>
            </a:r>
          </a:p>
        </p:txBody>
      </p:sp>
    </p:spTree>
    <p:extLst>
      <p:ext uri="{BB962C8B-B14F-4D97-AF65-F5344CB8AC3E}">
        <p14:creationId xmlns:p14="http://schemas.microsoft.com/office/powerpoint/2010/main" val="23619108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b="1"/>
              <a:t>PRIMARY KEY</a:t>
            </a:r>
          </a:p>
        </p:txBody>
      </p:sp>
      <p:sp>
        <p:nvSpPr>
          <p:cNvPr id="46083" name="Rectangle 3"/>
          <p:cNvSpPr>
            <a:spLocks noGrp="1" noChangeArrowheads="1"/>
          </p:cNvSpPr>
          <p:nvPr>
            <p:ph type="body" idx="1"/>
          </p:nvPr>
        </p:nvSpPr>
        <p:spPr/>
        <p:txBody>
          <a:bodyPr/>
          <a:lstStyle/>
          <a:p>
            <a:r>
              <a:rPr lang="en-US"/>
              <a:t>The PRIMARY KEY constraint uniquely identifies each record in a database table.</a:t>
            </a:r>
          </a:p>
          <a:p>
            <a:r>
              <a:rPr lang="en-US"/>
              <a:t>Primary keys must contain unique values.</a:t>
            </a:r>
          </a:p>
          <a:p>
            <a:r>
              <a:rPr lang="en-US"/>
              <a:t>A primary key column cannot contain NULL values.</a:t>
            </a:r>
          </a:p>
          <a:p>
            <a:r>
              <a:rPr lang="en-US"/>
              <a:t>Each table should have a primary key, and each table can have only ONE primary key.</a:t>
            </a:r>
          </a:p>
        </p:txBody>
      </p:sp>
    </p:spTree>
    <p:extLst>
      <p:ext uri="{BB962C8B-B14F-4D97-AF65-F5344CB8AC3E}">
        <p14:creationId xmlns:p14="http://schemas.microsoft.com/office/powerpoint/2010/main" val="355242821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endParaRPr lang="uk-UA"/>
          </a:p>
        </p:txBody>
      </p:sp>
      <p:sp>
        <p:nvSpPr>
          <p:cNvPr id="47107" name="Rectangle 3"/>
          <p:cNvSpPr>
            <a:spLocks noGrp="1" noChangeArrowheads="1"/>
          </p:cNvSpPr>
          <p:nvPr>
            <p:ph type="body" idx="1"/>
          </p:nvPr>
        </p:nvSpPr>
        <p:spPr>
          <a:xfrm>
            <a:off x="457200" y="1219200"/>
            <a:ext cx="8229600" cy="4525963"/>
          </a:xfrm>
        </p:spPr>
        <p:txBody>
          <a:bodyPr/>
          <a:lstStyle/>
          <a:p>
            <a:pPr>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a:t>
            </a:r>
            <a:br>
              <a:rPr lang="en-US"/>
            </a:br>
            <a:r>
              <a:rPr lang="en-US"/>
              <a:t>PRIMARY KEY (P_Id)</a:t>
            </a:r>
            <a:br>
              <a:rPr lang="en-US"/>
            </a:br>
            <a:r>
              <a:rPr lang="en-US"/>
              <a:t>) </a:t>
            </a:r>
          </a:p>
        </p:txBody>
      </p:sp>
    </p:spTree>
    <p:extLst>
      <p:ext uri="{BB962C8B-B14F-4D97-AF65-F5344CB8AC3E}">
        <p14:creationId xmlns:p14="http://schemas.microsoft.com/office/powerpoint/2010/main" val="22630762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endParaRPr lang="uk-UA"/>
          </a:p>
        </p:txBody>
      </p:sp>
      <p:sp>
        <p:nvSpPr>
          <p:cNvPr id="48131" name="Rectangle 3"/>
          <p:cNvSpPr>
            <a:spLocks noGrp="1" noChangeArrowheads="1"/>
          </p:cNvSpPr>
          <p:nvPr>
            <p:ph type="body" idx="1"/>
          </p:nvPr>
        </p:nvSpPr>
        <p:spPr>
          <a:xfrm>
            <a:off x="457200" y="1295400"/>
            <a:ext cx="8229600" cy="4525963"/>
          </a:xfrm>
        </p:spPr>
        <p:txBody>
          <a:bodyPr/>
          <a:lstStyle/>
          <a:p>
            <a:pPr lvl="1">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a:t>
            </a:r>
            <a:br>
              <a:rPr lang="en-US"/>
            </a:br>
            <a:r>
              <a:rPr lang="en-US"/>
              <a:t>CONSTRAINT pk_PersonID PRIMARY KEY (P_Id,LastName)</a:t>
            </a:r>
            <a:br>
              <a:rPr lang="en-US"/>
            </a:br>
            <a:r>
              <a:rPr lang="en-US"/>
              <a:t>) </a:t>
            </a:r>
          </a:p>
        </p:txBody>
      </p:sp>
    </p:spTree>
    <p:extLst>
      <p:ext uri="{BB962C8B-B14F-4D97-AF65-F5344CB8AC3E}">
        <p14:creationId xmlns:p14="http://schemas.microsoft.com/office/powerpoint/2010/main" val="28544909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b="1"/>
              <a:t>FOREIGN KEY</a:t>
            </a:r>
          </a:p>
        </p:txBody>
      </p:sp>
      <p:sp>
        <p:nvSpPr>
          <p:cNvPr id="49155" name="Rectangle 3"/>
          <p:cNvSpPr>
            <a:spLocks noGrp="1" noChangeArrowheads="1"/>
          </p:cNvSpPr>
          <p:nvPr>
            <p:ph type="body" idx="1"/>
          </p:nvPr>
        </p:nvSpPr>
        <p:spPr/>
        <p:txBody>
          <a:bodyPr/>
          <a:lstStyle/>
          <a:p>
            <a:pPr>
              <a:lnSpc>
                <a:spcPct val="80000"/>
              </a:lnSpc>
              <a:buFontTx/>
              <a:buNone/>
            </a:pPr>
            <a:r>
              <a:rPr lang="en-US" sz="1800"/>
              <a:t>A FOREIGN KEY in one table points to a PRIMARY KEY in another table.</a:t>
            </a:r>
          </a:p>
          <a:p>
            <a:pPr>
              <a:lnSpc>
                <a:spcPct val="80000"/>
              </a:lnSpc>
              <a:buFontTx/>
              <a:buNone/>
            </a:pPr>
            <a:r>
              <a:rPr lang="en-US" sz="1800"/>
              <a:t>Note that the "P_Id" column in the "Orders" table points to the "P_Id" column in the "Persons" table.</a:t>
            </a:r>
          </a:p>
          <a:p>
            <a:pPr>
              <a:lnSpc>
                <a:spcPct val="80000"/>
              </a:lnSpc>
              <a:buFontTx/>
              <a:buNone/>
            </a:pPr>
            <a:r>
              <a:rPr lang="en-US" sz="1800"/>
              <a:t>	</a:t>
            </a:r>
          </a:p>
          <a:p>
            <a:pPr>
              <a:lnSpc>
                <a:spcPct val="80000"/>
              </a:lnSpc>
              <a:buFontTx/>
              <a:buNone/>
            </a:pPr>
            <a:r>
              <a:rPr lang="en-US" sz="1800"/>
              <a:t>The "P_Id" column in the "Persons" table is the PRIMARY KEY in the "Persons" table.</a:t>
            </a:r>
          </a:p>
          <a:p>
            <a:pPr>
              <a:lnSpc>
                <a:spcPct val="80000"/>
              </a:lnSpc>
              <a:buFontTx/>
              <a:buNone/>
            </a:pPr>
            <a:r>
              <a:rPr lang="en-US" sz="1800"/>
              <a:t>	</a:t>
            </a:r>
          </a:p>
          <a:p>
            <a:pPr>
              <a:lnSpc>
                <a:spcPct val="80000"/>
              </a:lnSpc>
              <a:buFontTx/>
              <a:buNone/>
            </a:pPr>
            <a:r>
              <a:rPr lang="en-US" sz="1800"/>
              <a:t>The "P_Id" column in the "Orders" table is a FOREIGN KEY in the "Orders" table.</a:t>
            </a:r>
          </a:p>
          <a:p>
            <a:pPr>
              <a:lnSpc>
                <a:spcPct val="80000"/>
              </a:lnSpc>
              <a:buFontTx/>
              <a:buNone/>
            </a:pPr>
            <a:endParaRPr lang="en-US" sz="1800"/>
          </a:p>
          <a:p>
            <a:pPr>
              <a:lnSpc>
                <a:spcPct val="80000"/>
              </a:lnSpc>
              <a:buFontTx/>
              <a:buNone/>
            </a:pPr>
            <a:r>
              <a:rPr lang="en-US" sz="1800"/>
              <a:t>The FOREIGN KEY constraint is used to prevent actions that would destroy links between tables.</a:t>
            </a:r>
          </a:p>
          <a:p>
            <a:pPr>
              <a:lnSpc>
                <a:spcPct val="80000"/>
              </a:lnSpc>
              <a:buFontTx/>
              <a:buNone/>
            </a:pPr>
            <a:r>
              <a:rPr lang="en-US" sz="1800"/>
              <a:t>	</a:t>
            </a:r>
          </a:p>
          <a:p>
            <a:pPr>
              <a:lnSpc>
                <a:spcPct val="80000"/>
              </a:lnSpc>
              <a:buFontTx/>
              <a:buNone/>
            </a:pPr>
            <a:r>
              <a:rPr lang="en-US" sz="1800"/>
              <a:t>The FOREIGN KEY constraint also prevents that invalid data form being inserted into the foreign key column, because it has to be one of the values contained in the table it points to.</a:t>
            </a:r>
          </a:p>
        </p:txBody>
      </p:sp>
    </p:spTree>
    <p:extLst>
      <p:ext uri="{BB962C8B-B14F-4D97-AF65-F5344CB8AC3E}">
        <p14:creationId xmlns:p14="http://schemas.microsoft.com/office/powerpoint/2010/main" val="15012704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457200" y="1219200"/>
            <a:ext cx="8229600" cy="4525963"/>
          </a:xfrm>
        </p:spPr>
        <p:txBody>
          <a:bodyPr/>
          <a:lstStyle/>
          <a:p>
            <a:pPr>
              <a:buFontTx/>
              <a:buNone/>
            </a:pPr>
            <a:r>
              <a:rPr lang="en-US"/>
              <a:t>	CREATE TABLE Orders</a:t>
            </a:r>
            <a:br>
              <a:rPr lang="en-US"/>
            </a:br>
            <a:r>
              <a:rPr lang="en-US"/>
              <a:t>(</a:t>
            </a:r>
            <a:br>
              <a:rPr lang="en-US"/>
            </a:br>
            <a:r>
              <a:rPr lang="en-US"/>
              <a:t>O_Id int NOT NULL,</a:t>
            </a:r>
            <a:br>
              <a:rPr lang="en-US"/>
            </a:br>
            <a:r>
              <a:rPr lang="en-US"/>
              <a:t>OrderNo int NOT NULL,</a:t>
            </a:r>
            <a:br>
              <a:rPr lang="en-US"/>
            </a:br>
            <a:r>
              <a:rPr lang="en-US"/>
              <a:t>P_Id int,</a:t>
            </a:r>
            <a:br>
              <a:rPr lang="en-US"/>
            </a:br>
            <a:r>
              <a:rPr lang="en-US"/>
              <a:t>PRIMARY KEY (O_Id),</a:t>
            </a:r>
            <a:br>
              <a:rPr lang="en-US"/>
            </a:br>
            <a:r>
              <a:rPr lang="en-US"/>
              <a:t>FOREIGN KEY (P_Id) REFERENCES Persons(P_Id)</a:t>
            </a:r>
            <a:br>
              <a:rPr lang="en-US"/>
            </a:br>
            <a:r>
              <a:rPr lang="en-US"/>
              <a:t>) </a:t>
            </a:r>
          </a:p>
        </p:txBody>
      </p:sp>
    </p:spTree>
    <p:extLst>
      <p:ext uri="{BB962C8B-B14F-4D97-AF65-F5344CB8AC3E}">
        <p14:creationId xmlns:p14="http://schemas.microsoft.com/office/powerpoint/2010/main" val="38865776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b="1"/>
              <a:t>CHECK </a:t>
            </a:r>
          </a:p>
        </p:txBody>
      </p:sp>
      <p:sp>
        <p:nvSpPr>
          <p:cNvPr id="50179" name="Rectangle 3"/>
          <p:cNvSpPr>
            <a:spLocks noGrp="1" noChangeArrowheads="1"/>
          </p:cNvSpPr>
          <p:nvPr>
            <p:ph type="body" idx="1"/>
          </p:nvPr>
        </p:nvSpPr>
        <p:spPr/>
        <p:txBody>
          <a:bodyPr/>
          <a:lstStyle/>
          <a:p>
            <a:r>
              <a:rPr lang="en-US" sz="2800"/>
              <a:t>The CHECK constraint is used to limit the value range that can be placed in a column.</a:t>
            </a:r>
          </a:p>
          <a:p>
            <a:r>
              <a:rPr lang="en-US" sz="2800"/>
              <a:t>If you define a CHECK constraint on a single column it allows only certain values for this column.</a:t>
            </a:r>
          </a:p>
          <a:p>
            <a:r>
              <a:rPr lang="en-US" sz="2800"/>
              <a:t>If you define a CHECK constraint on a table it can limit the values in certain columns based on values in other columns in the row.</a:t>
            </a:r>
          </a:p>
        </p:txBody>
      </p:sp>
    </p:spTree>
    <p:extLst>
      <p:ext uri="{BB962C8B-B14F-4D97-AF65-F5344CB8AC3E}">
        <p14:creationId xmlns:p14="http://schemas.microsoft.com/office/powerpoint/2010/main" val="399006694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endParaRPr lang="uk-UA"/>
          </a:p>
        </p:txBody>
      </p:sp>
      <p:sp>
        <p:nvSpPr>
          <p:cNvPr id="51203" name="Rectangle 3"/>
          <p:cNvSpPr>
            <a:spLocks noGrp="1" noChangeArrowheads="1"/>
          </p:cNvSpPr>
          <p:nvPr>
            <p:ph type="body" idx="1"/>
          </p:nvPr>
        </p:nvSpPr>
        <p:spPr>
          <a:xfrm>
            <a:off x="457200" y="1066800"/>
            <a:ext cx="8229600" cy="4525963"/>
          </a:xfrm>
        </p:spPr>
        <p:txBody>
          <a:bodyPr/>
          <a:lstStyle/>
          <a:p>
            <a:pPr>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a:t>
            </a:r>
            <a:br>
              <a:rPr lang="en-US"/>
            </a:br>
            <a:r>
              <a:rPr lang="en-US"/>
              <a:t>CHECK (P_Id&gt;0)</a:t>
            </a:r>
            <a:br>
              <a:rPr lang="en-US"/>
            </a:br>
            <a:r>
              <a:rPr lang="en-US"/>
              <a:t>) </a:t>
            </a:r>
          </a:p>
        </p:txBody>
      </p:sp>
    </p:spTree>
    <p:extLst>
      <p:ext uri="{BB962C8B-B14F-4D97-AF65-F5344CB8AC3E}">
        <p14:creationId xmlns:p14="http://schemas.microsoft.com/office/powerpoint/2010/main" val="27522988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endParaRPr lang="uk-UA"/>
          </a:p>
        </p:txBody>
      </p:sp>
      <p:sp>
        <p:nvSpPr>
          <p:cNvPr id="53251" name="Rectangle 3"/>
          <p:cNvSpPr>
            <a:spLocks noGrp="1" noChangeArrowheads="1"/>
          </p:cNvSpPr>
          <p:nvPr>
            <p:ph type="body" idx="1"/>
          </p:nvPr>
        </p:nvSpPr>
        <p:spPr>
          <a:xfrm>
            <a:off x="457200" y="1143000"/>
            <a:ext cx="8229600" cy="4525963"/>
          </a:xfrm>
        </p:spPr>
        <p:txBody>
          <a:bodyPr/>
          <a:lstStyle/>
          <a:p>
            <a:pPr>
              <a:buFontTx/>
              <a:buNone/>
            </a:pPr>
            <a:r>
              <a:rPr lang="en-US"/>
              <a:t>	CREATE TABLE Persons</a:t>
            </a:r>
            <a:br>
              <a:rPr lang="en-US"/>
            </a:br>
            <a:r>
              <a:rPr lang="en-US"/>
              <a:t>(</a:t>
            </a:r>
            <a:br>
              <a:rPr lang="en-US"/>
            </a:br>
            <a:r>
              <a:rPr lang="en-US"/>
              <a:t>P_Id int NOT NULL,</a:t>
            </a:r>
            <a:br>
              <a:rPr lang="en-US"/>
            </a:br>
            <a:r>
              <a:rPr lang="en-US"/>
              <a:t>LastName varchar(255) NOT NULL,</a:t>
            </a:r>
            <a:br>
              <a:rPr lang="en-US"/>
            </a:br>
            <a:r>
              <a:rPr lang="en-US"/>
              <a:t>FirstName varchar(255),</a:t>
            </a:r>
            <a:br>
              <a:rPr lang="en-US"/>
            </a:br>
            <a:r>
              <a:rPr lang="en-US"/>
              <a:t>Address varchar(255),</a:t>
            </a:r>
            <a:br>
              <a:rPr lang="en-US"/>
            </a:br>
            <a:r>
              <a:rPr lang="en-US"/>
              <a:t>City varchar(255) </a:t>
            </a:r>
            <a:r>
              <a:rPr lang="en-US">
                <a:solidFill>
                  <a:schemeClr val="hlink"/>
                </a:solidFill>
              </a:rPr>
              <a:t>DEFAULT</a:t>
            </a:r>
            <a:r>
              <a:rPr lang="en-US"/>
              <a:t> 'Sandnes'</a:t>
            </a:r>
            <a:br>
              <a:rPr lang="en-US"/>
            </a:br>
            <a:r>
              <a:rPr lang="en-US"/>
              <a:t>) </a:t>
            </a:r>
          </a:p>
        </p:txBody>
      </p:sp>
    </p:spTree>
    <p:extLst>
      <p:ext uri="{BB962C8B-B14F-4D97-AF65-F5344CB8AC3E}">
        <p14:creationId xmlns:p14="http://schemas.microsoft.com/office/powerpoint/2010/main" val="374101422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Question? </a:t>
            </a:r>
            <a:r>
              <a:rPr lang="en-US" smtClean="0"/>
              <a:t>;)</a:t>
            </a:r>
            <a:endParaRPr lang="uk-UA"/>
          </a:p>
        </p:txBody>
      </p:sp>
    </p:spTree>
    <p:extLst>
      <p:ext uri="{BB962C8B-B14F-4D97-AF65-F5344CB8AC3E}">
        <p14:creationId xmlns:p14="http://schemas.microsoft.com/office/powerpoint/2010/main" val="931158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2993</TotalTime>
  <Words>3155</Words>
  <Application>Microsoft Office PowerPoint</Application>
  <PresentationFormat>On-screen Show (4:3)</PresentationFormat>
  <Paragraphs>690</Paragraphs>
  <Slides>128</Slides>
  <Notes>0</Notes>
  <HiddenSlides>0</HiddenSlides>
  <MMClips>0</MMClips>
  <ScaleCrop>false</ScaleCrop>
  <HeadingPairs>
    <vt:vector size="4" baseType="variant">
      <vt:variant>
        <vt:lpstr>Theme</vt:lpstr>
      </vt:variant>
      <vt:variant>
        <vt:i4>1</vt:i4>
      </vt:variant>
      <vt:variant>
        <vt:lpstr>Slide Titles</vt:lpstr>
      </vt:variant>
      <vt:variant>
        <vt:i4>128</vt:i4>
      </vt:variant>
    </vt:vector>
  </HeadingPairs>
  <TitlesOfParts>
    <vt:vector size="129" baseType="lpstr">
      <vt:lpstr>Office Theme</vt:lpstr>
      <vt:lpstr>SQL</vt:lpstr>
      <vt:lpstr>Що це таке?</vt:lpstr>
      <vt:lpstr>PowerPoint Presentation</vt:lpstr>
      <vt:lpstr>PowerPoint Presentation</vt:lpstr>
      <vt:lpstr>SQL</vt:lpstr>
      <vt:lpstr>PowerPoint Presentation</vt:lpstr>
      <vt:lpstr>Що таке SQL?</vt:lpstr>
      <vt:lpstr>стандарт</vt:lpstr>
      <vt:lpstr>Використання у веб</vt:lpstr>
      <vt:lpstr>Таблиці БД</vt:lpstr>
      <vt:lpstr>Звертання SQL</vt:lpstr>
      <vt:lpstr>Увага!</vt:lpstr>
      <vt:lpstr>SQL DML and DDL</vt:lpstr>
      <vt:lpstr>PowerPoint Presentation</vt:lpstr>
      <vt:lpstr>PowerPoint Presentation</vt:lpstr>
      <vt:lpstr>SELECT</vt:lpstr>
      <vt:lpstr>SELECT *</vt:lpstr>
      <vt:lpstr>SELECT DISTINCT</vt:lpstr>
      <vt:lpstr>WHERE</vt:lpstr>
      <vt:lpstr>лапки</vt:lpstr>
      <vt:lpstr>PowerPoint Presentation</vt:lpstr>
      <vt:lpstr>PowerPoint Presentation</vt:lpstr>
      <vt:lpstr>Operators Allowed in the WHERE Clause</vt:lpstr>
      <vt:lpstr>AND &amp; OR</vt:lpstr>
      <vt:lpstr>PowerPoint Presentation</vt:lpstr>
      <vt:lpstr>PowerPoint Presentation</vt:lpstr>
      <vt:lpstr>PowerPoint Presentation</vt:lpstr>
      <vt:lpstr>INSERT INTO </vt:lpstr>
      <vt:lpstr>Insert Data Only in Specified Columns</vt:lpstr>
      <vt:lpstr>UPDATE </vt:lpstr>
      <vt:lpstr>PowerPoint Presentation</vt:lpstr>
      <vt:lpstr>DELETE</vt:lpstr>
      <vt:lpstr>DELETE FROM ALL ROWS</vt:lpstr>
      <vt:lpstr>SQL II</vt:lpstr>
      <vt:lpstr>INSERT INTO </vt:lpstr>
      <vt:lpstr>Insert Data Only in Specified Columns</vt:lpstr>
      <vt:lpstr>UPDATE </vt:lpstr>
      <vt:lpstr>PowerPoint Presentation</vt:lpstr>
      <vt:lpstr>DELETE</vt:lpstr>
      <vt:lpstr>DELETE FROM ALL ROWS</vt:lpstr>
      <vt:lpstr>TOP </vt:lpstr>
      <vt:lpstr>PowerPoint Presentation</vt:lpstr>
      <vt:lpstr>PowerPoint Presentation</vt:lpstr>
      <vt:lpstr>LIKE </vt:lpstr>
      <vt:lpstr>PowerPoint Presentation</vt:lpstr>
      <vt:lpstr>PowerPoint Presentation</vt:lpstr>
      <vt:lpstr>Wildcards </vt:lpstr>
      <vt:lpstr>PowerPoint Presentation</vt:lpstr>
      <vt:lpstr>IN</vt:lpstr>
      <vt:lpstr>PowerPoint Presentation</vt:lpstr>
      <vt:lpstr>BETWEEN</vt:lpstr>
      <vt:lpstr>PowerPoint Presentation</vt:lpstr>
      <vt:lpstr>Alias ::: псевдонім</vt:lpstr>
      <vt:lpstr>PowerPoint Presentation</vt:lpstr>
      <vt:lpstr>Нормалізація</vt:lpstr>
      <vt:lpstr>PowerPoint Presentation</vt:lpstr>
      <vt:lpstr>Перша нормальна форма</vt:lpstr>
      <vt:lpstr>Друга нормальна форма</vt:lpstr>
      <vt:lpstr>Третя нормальна форма</vt:lpstr>
      <vt:lpstr>Нормальна форма Бойса — Кодда</vt:lpstr>
      <vt:lpstr>PowerPoint Presentation</vt:lpstr>
      <vt:lpstr>Четверта нормальна форма</vt:lpstr>
      <vt:lpstr>П'ята нормальна форма</vt:lpstr>
      <vt:lpstr>Нормальна форма домен/ключ</vt:lpstr>
      <vt:lpstr>Шоста нормальна форма</vt:lpstr>
      <vt:lpstr>SQL 4.</vt:lpstr>
      <vt:lpstr>SQL JOIN</vt:lpstr>
      <vt:lpstr>Different SQL JOINs</vt:lpstr>
      <vt:lpstr>SQL INNER JOIN</vt:lpstr>
      <vt:lpstr>PowerPoint Presentation</vt:lpstr>
      <vt:lpstr>SQL LEFT JOIN</vt:lpstr>
      <vt:lpstr>PowerPoint Presentation</vt:lpstr>
      <vt:lpstr>SQL RIGHT JOIN</vt:lpstr>
      <vt:lpstr>PowerPoint Presentation</vt:lpstr>
      <vt:lpstr>SQL FULL JOIN</vt:lpstr>
      <vt:lpstr>PowerPoint Presentation</vt:lpstr>
      <vt:lpstr>SQL UNION</vt:lpstr>
      <vt:lpstr>PowerPoint Presentation</vt:lpstr>
      <vt:lpstr>PowerPoint Presentation</vt:lpstr>
      <vt:lpstr>PowerPoint Presentation</vt:lpstr>
      <vt:lpstr>SQL SELECT INTO</vt:lpstr>
      <vt:lpstr>PowerPoint Presentation</vt:lpstr>
      <vt:lpstr>PowerPoint Presentation</vt:lpstr>
      <vt:lpstr>PowerPoint Presentation</vt:lpstr>
      <vt:lpstr>SQL 5</vt:lpstr>
      <vt:lpstr>SQL Aggregate Functions</vt:lpstr>
      <vt:lpstr>SQL Scalar functions</vt:lpstr>
      <vt:lpstr>AVG()</vt:lpstr>
      <vt:lpstr>PowerPoint Presentation</vt:lpstr>
      <vt:lpstr>COUNT()</vt:lpstr>
      <vt:lpstr>PowerPoint Presentation</vt:lpstr>
      <vt:lpstr>PowerPoint Presentation</vt:lpstr>
      <vt:lpstr>PowerPoint Presentation</vt:lpstr>
      <vt:lpstr>FIRST()</vt:lpstr>
      <vt:lpstr>LAST()</vt:lpstr>
      <vt:lpstr>Max() / min()</vt:lpstr>
      <vt:lpstr>SUM()</vt:lpstr>
      <vt:lpstr>GROUP BY</vt:lpstr>
      <vt:lpstr>PowerPoint Presentation</vt:lpstr>
      <vt:lpstr>PowerPoint Presentation</vt:lpstr>
      <vt:lpstr>HAVING </vt:lpstr>
      <vt:lpstr>PowerPoint Presentation</vt:lpstr>
      <vt:lpstr>UCASE()</vt:lpstr>
      <vt:lpstr>PowerPoint Presentation</vt:lpstr>
      <vt:lpstr>LCASE()</vt:lpstr>
      <vt:lpstr>PowerPoint Presentation</vt:lpstr>
      <vt:lpstr>MID()</vt:lpstr>
      <vt:lpstr>LEN()</vt:lpstr>
      <vt:lpstr>ROUND()</vt:lpstr>
      <vt:lpstr>NOW()</vt:lpstr>
      <vt:lpstr>PowerPoint Presentation</vt:lpstr>
      <vt:lpstr>FORMAT()</vt:lpstr>
      <vt:lpstr>Обмеження</vt:lpstr>
      <vt:lpstr>not null</vt:lpstr>
      <vt:lpstr>UNIQUE </vt:lpstr>
      <vt:lpstr>PowerPoint Presentation</vt:lpstr>
      <vt:lpstr>To allow naming of a UNIQUE constraint, and for defining a UNIQUE constraint on multiple columns, use the following SQL syntax: </vt:lpstr>
      <vt:lpstr>PowerPoint Presentation</vt:lpstr>
      <vt:lpstr>PowerPoint Presentation</vt:lpstr>
      <vt:lpstr>PRIMARY KEY</vt:lpstr>
      <vt:lpstr>PowerPoint Presentation</vt:lpstr>
      <vt:lpstr>PowerPoint Presentation</vt:lpstr>
      <vt:lpstr>FOREIGN KEY</vt:lpstr>
      <vt:lpstr>PowerPoint Presentation</vt:lpstr>
      <vt:lpstr>CHECK </vt:lpstr>
      <vt:lpstr>PowerPoint Presentation</vt:lpstr>
      <vt:lpstr>PowerPoint Presentation</vt:lpstr>
      <vt:lpstr>Question? ;)</vt:lpstr>
    </vt:vector>
  </TitlesOfParts>
  <Company>ss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Roman Mashchak</dc:creator>
  <cp:lastModifiedBy>Schastja</cp:lastModifiedBy>
  <cp:revision>90</cp:revision>
  <dcterms:created xsi:type="dcterms:W3CDTF">2011-09-23T10:13:30Z</dcterms:created>
  <dcterms:modified xsi:type="dcterms:W3CDTF">2013-04-22T13:30:40Z</dcterms:modified>
</cp:coreProperties>
</file>